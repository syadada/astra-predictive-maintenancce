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2545"/>
                </a:solidFill>
                <a:latin typeface="Arial"/>
              </a:defRPr>
            </a:pPr>
            <a:r>
              <a:rPr sz="1100" b="0" i="0" u="none" strike="noStrike">
                <a:solidFill>
                  <a:srgbClr val="0B2545"/>
                </a:solidFill>
                <a:latin typeface="Arial"/>
              </a:rPr>
              <a:t>Ilustrasi Penurunan RUL</a:t>
            </a:r>
          </a:p>
        </c:rich>
      </c:tx>
      <c:layout/>
      <c:overlay val="0"/>
    </c:title>
    <c:autoTitleDeleted val="0"/>
    <c:plotArea>
      <c:layout/>
      <c:lineChart>
        <c:varyColors val="0"/>
        <c:ser>
          <c:idx val="0"/>
          <c:order val="0"/>
          <c:tx>
            <c:strRef>
              <c:f>Sheet1!$B$1</c:f>
              <c:strCache>
                <c:ptCount val="1"/>
                <c:pt idx="0">
                  <c:v>RUL (hari)</c:v>
                </c:pt>
              </c:strCache>
            </c:strRef>
          </c:tx>
          <c:spPr>
            <a:solidFill>
              <a:srgbClr val="E63946"/>
            </a:solidFill>
            <a:ln w="31750" cap="flat">
              <a:solidFill>
                <a:srgbClr val="E639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63946"/>
              </a:solidFill>
              <a:ln w="9525" cap="flat">
                <a:solidFill>
                  <a:srgbClr val="E63946"/>
                </a:solidFill>
                <a:prstDash val="solid"/>
                <a:round/>
              </a:ln>
              <a:effectLst/>
            </c:spPr>
          </c:marker>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Sheet1!$B$2:$B$9</c:f>
              <c:numCache>
                <c:formatCode>General</c:formatCode>
                <c:ptCount val="8"/>
                <c:pt idx="0">
                  <c:v>125</c:v>
                </c:pt>
                <c:pt idx="1">
                  <c:v>118</c:v>
                </c:pt>
                <c:pt idx="2">
                  <c:v>100</c:v>
                </c:pt>
                <c:pt idx="3">
                  <c:v>78</c:v>
                </c:pt>
                <c:pt idx="4">
                  <c:v>55</c:v>
                </c:pt>
                <c:pt idx="5">
                  <c:v>30</c:v>
                </c:pt>
                <c:pt idx="6">
                  <c:v>14</c:v>
                </c:pt>
                <c:pt idx="7">
                  <c:v>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67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7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692640" y="-1188720"/>
            <a:ext cx="4206240" cy="4206240"/>
          </a:xfrm>
          <a:prstGeom prst="ellipse">
            <a:avLst/>
          </a:prstGeom>
          <a:solidFill>
            <a:srgbClr val="13315C"/>
          </a:solidFill>
          <a:ln/>
        </p:spPr>
        <p:txBody>
          <a:bodyPr/>
          <a:p/>
        </p:txBody>
      </p:sp>
      <p:sp>
        <p:nvSpPr>
          <p:cNvPr id="3" name="Shape 1"/>
          <p:cNvSpPr/>
          <p:nvPr/>
        </p:nvSpPr>
        <p:spPr>
          <a:xfrm>
            <a:off x="10881360" y="4297680"/>
            <a:ext cx="2743200" cy="2743200"/>
          </a:xfrm>
          <a:prstGeom prst="ellipse">
            <a:avLst/>
          </a:prstGeom>
          <a:solidFill>
            <a:srgbClr val="00B4A6"/>
          </a:solidFill>
          <a:ln/>
        </p:spPr>
        <p:txBody>
          <a:bodyPr/>
          <a:p/>
        </p:txBody>
      </p:sp>
      <p:sp>
        <p:nvSpPr>
          <p:cNvPr id="4" name="Shape 2"/>
          <p:cNvSpPr/>
          <p:nvPr/>
        </p:nvSpPr>
        <p:spPr>
          <a:xfrm>
            <a:off x="-1280160" y="5120640"/>
            <a:ext cx="3108960" cy="3108960"/>
          </a:xfrm>
          <a:prstGeom prst="ellipse">
            <a:avLst/>
          </a:prstGeom>
          <a:solidFill>
            <a:srgbClr val="00B4A6"/>
          </a:solidFill>
          <a:ln/>
        </p:spPr>
        <p:txBody>
          <a:bodyPr/>
          <a:p/>
        </p:txBody>
      </p:sp>
      <p:sp>
        <p:nvSpPr>
          <p:cNvPr id="5" name="Text 3"/>
          <p:cNvSpPr/>
          <p:nvPr/>
        </p:nvSpPr>
        <p:spPr>
          <a:xfrm>
            <a:off x="822960" y="1965960"/>
            <a:ext cx="8229600" cy="365760"/>
          </a:xfrm>
          <a:prstGeom prst="rect">
            <a:avLst/>
          </a:prstGeom>
          <a:noFill/>
          <a:ln/>
        </p:spPr>
        <p:txBody>
          <a:bodyPr wrap="square" rtlCol="0" anchor="ctr"/>
          <a:lstStyle/>
          <a:p>
            <a:pPr indent="0" marL="0">
              <a:buNone/>
            </a:pPr>
            <a:r>
              <a:rPr lang="en-US" sz="1300" b="1" spc="300" kern="0" dirty="0">
                <a:solidFill>
                  <a:srgbClr val="00B4A6"/>
                </a:solidFill>
                <a:latin typeface="Calibri" pitchFamily="34" charset="0"/>
                <a:ea typeface="Calibri" pitchFamily="34" charset="-122"/>
                <a:cs typeface="Calibri" pitchFamily="34" charset="-120"/>
              </a:rPr>
              <a:t>PROJECT ASTRA  ·  TECHNICAL PRESENTATION</a:t>
            </a:r>
            <a:endParaRPr lang="en-US" sz="1300" dirty="0"/>
          </a:p>
        </p:txBody>
      </p:sp>
      <p:sp>
        <p:nvSpPr>
          <p:cNvPr id="6" name="Text 4"/>
          <p:cNvSpPr/>
          <p:nvPr/>
        </p:nvSpPr>
        <p:spPr>
          <a:xfrm>
            <a:off x="822960" y="2331720"/>
            <a:ext cx="9601200" cy="118872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PredictaGuard</a:t>
            </a:r>
            <a:endParaRPr lang="en-US" sz="6000" dirty="0"/>
          </a:p>
        </p:txBody>
      </p:sp>
      <p:sp>
        <p:nvSpPr>
          <p:cNvPr id="7" name="Text 5"/>
          <p:cNvSpPr/>
          <p:nvPr/>
        </p:nvSpPr>
        <p:spPr>
          <a:xfrm>
            <a:off x="822960" y="3520440"/>
            <a:ext cx="8686800" cy="502920"/>
          </a:xfrm>
          <a:prstGeom prst="rect">
            <a:avLst/>
          </a:prstGeom>
          <a:noFill/>
          <a:ln/>
        </p:spPr>
        <p:txBody>
          <a:bodyPr wrap="square" rtlCol="0" anchor="ctr"/>
          <a:lstStyle/>
          <a:p>
            <a:pPr indent="0" marL="0">
              <a:buNone/>
            </a:pPr>
            <a:r>
              <a:rPr lang="en-US" sz="1800" dirty="0">
                <a:solidFill>
                  <a:srgbClr val="C9D6E3"/>
                </a:solidFill>
                <a:latin typeface="Calibri" pitchFamily="34" charset="0"/>
                <a:ea typeface="Calibri" pitchFamily="34" charset="-122"/>
                <a:cs typeface="Calibri" pitchFamily="34" charset="-120"/>
              </a:rPr>
              <a:t>Predictive Maintenance System for 6 Critical ASTRA Machines</a:t>
            </a:r>
            <a:endParaRPr lang="en-US" sz="1800" dirty="0"/>
          </a:p>
        </p:txBody>
      </p:sp>
      <p:sp>
        <p:nvSpPr>
          <p:cNvPr id="8" name="Shape 6"/>
          <p:cNvSpPr/>
          <p:nvPr/>
        </p:nvSpPr>
        <p:spPr>
          <a:xfrm>
            <a:off x="822960" y="4160520"/>
            <a:ext cx="1188720" cy="0"/>
          </a:xfrm>
          <a:prstGeom prst="line">
            <a:avLst/>
          </a:prstGeom>
          <a:noFill/>
          <a:ln w="38100">
            <a:solidFill>
              <a:srgbClr val="00B4A6"/>
            </a:solidFill>
            <a:prstDash val="solid"/>
          </a:ln>
        </p:spPr>
        <p:txBody>
          <a:bodyPr/>
          <a:p/>
        </p:txBody>
      </p:sp>
      <p:sp>
        <p:nvSpPr>
          <p:cNvPr id="9" name="Text 7"/>
          <p:cNvSpPr/>
          <p:nvPr/>
        </p:nvSpPr>
        <p:spPr>
          <a:xfrm>
            <a:off x="822960" y="4343400"/>
            <a:ext cx="8229600" cy="365760"/>
          </a:xfrm>
          <a:prstGeom prst="rect">
            <a:avLst/>
          </a:prstGeom>
          <a:noFill/>
          <a:ln/>
        </p:spPr>
        <p:txBody>
          <a:bodyPr wrap="square" rtlCol="0" anchor="ctr"/>
          <a:lstStyle/>
          <a:p>
            <a:pPr indent="0" marL="0">
              <a:buNone/>
            </a:pPr>
            <a:r>
              <a:rPr lang="en-US" sz="1300" i="1" dirty="0">
                <a:solidFill>
                  <a:srgbClr val="9FB1C6"/>
                </a:solidFill>
                <a:latin typeface="Calibri" pitchFamily="34" charset="0"/>
                <a:ea typeface="Calibri" pitchFamily="34" charset="-122"/>
                <a:cs typeface="Calibri" pitchFamily="34" charset="-120"/>
              </a:rPr>
              <a:t>Anomaly Detection  ·  Fault Classification  ·  Remaining Useful Life (RUL) Prediction</a:t>
            </a:r>
            <a:endParaRPr lang="en-US" sz="1300" dirty="0"/>
          </a:p>
        </p:txBody>
      </p:sp>
      <p:sp>
        <p:nvSpPr>
          <p:cNvPr id="10" name="Text 8"/>
          <p:cNvSpPr/>
          <p:nvPr/>
        </p:nvSpPr>
        <p:spPr>
          <a:xfrm>
            <a:off x="822960" y="6080760"/>
            <a:ext cx="8229600" cy="365760"/>
          </a:xfrm>
          <a:prstGeom prst="rect">
            <a:avLst/>
          </a:prstGeom>
          <a:noFill/>
          <a:ln/>
        </p:spPr>
        <p:txBody>
          <a:bodyPr wrap="square" rtlCol="0" anchor="ctr"/>
          <a:lstStyle/>
          <a:p>
            <a:pPr indent="0" marL="0">
              <a:buNone/>
            </a:pPr>
            <a:r>
              <a:rPr lang="en-US" sz="1100" i="1" dirty="0">
                <a:solidFill>
                  <a:srgbClr val="7C8FA6"/>
                </a:solidFill>
                <a:latin typeface="Calibri" pitchFamily="34" charset="0"/>
                <a:ea typeface="Calibri" pitchFamily="34" charset="-122"/>
                <a:cs typeface="Calibri" pitchFamily="34" charset="-120"/>
              </a:rPr>
              <a:t>Turning Reactive Maintenance into Resilient Operations.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01 · OPENING</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Background &amp; Urgency</a:t>
            </a:r>
            <a:endParaRPr lang="en-US" sz="2900" dirty="0"/>
          </a:p>
        </p:txBody>
      </p:sp>
      <p:sp>
        <p:nvSpPr>
          <p:cNvPr id="4" name="Text 2"/>
          <p:cNvSpPr/>
          <p:nvPr/>
        </p:nvSpPr>
        <p:spPr>
          <a:xfrm>
            <a:off x="502920" y="1600200"/>
            <a:ext cx="6400800" cy="4206240"/>
          </a:xfrm>
          <a:prstGeom prst="rect">
            <a:avLst/>
          </a:prstGeom>
          <a:noFill/>
          <a:ln/>
        </p:spPr>
        <p:txBody>
          <a:bodyPr wrap="square" rtlCol="0" anchor="t"/>
          <a:lstStyle/>
          <a:p>
            <a:pPr marL="177800" indent="-177800">
              <a:spcAft>
                <a:spcPts val="1400"/>
              </a:spcAft>
              <a:buSzPct val="100000"/>
              <a:buChar char="•"/>
            </a:pPr>
            <a:r>
              <a:rPr lang="en-US" sz="1450" dirty="0">
                <a:solidFill>
                  <a:srgbClr val="1A2233"/>
                </a:solidFill>
                <a:latin typeface="Calibri" pitchFamily="34" charset="0"/>
                <a:ea typeface="Calibri" pitchFamily="34" charset="-122"/>
                <a:cs typeface="Calibri" pitchFamily="34" charset="-120"/>
              </a:rPr>
              <a:t>In large-scale manufacturing industries, machine reliability is everything — sudden production line stoppages interrupt the flow of time-sensitive raw materials.</a:t>
            </a:r>
            <a:endParaRPr lang="en-US" sz="1450" dirty="0"/>
          </a:p>
          <a:p>
            <a:pPr marL="177800" indent="-177800">
              <a:spcAft>
                <a:spcPts val="1400"/>
              </a:spcAft>
              <a:buSzPct val="100000"/>
              <a:buChar char="•"/>
            </a:pPr>
            <a:r>
              <a:rPr lang="en-US" sz="1450" dirty="0">
                <a:solidFill>
                  <a:srgbClr val="1A2233"/>
                </a:solidFill>
                <a:latin typeface="Calibri" pitchFamily="34" charset="0"/>
                <a:ea typeface="Calibri" pitchFamily="34" charset="-122"/>
                <a:cs typeface="Calibri" pitchFamily="34" charset="-120"/>
              </a:rPr>
              <a:t>Currently, maintenance is still reactive or based on calendar schedules, rather than the actual machine condition.</a:t>
            </a:r>
            <a:endParaRPr lang="en-US" sz="1450" dirty="0"/>
          </a:p>
          <a:p>
            <a:pPr marL="177800" indent="-177800">
              <a:spcAft>
                <a:spcPts val="1400"/>
              </a:spcAft>
              <a:buSzPct val="100000"/>
              <a:buChar char="•"/>
            </a:pPr>
            <a:r>
              <a:rPr lang="en-US" sz="1450" dirty="0">
                <a:solidFill>
                  <a:srgbClr val="1A2233"/>
                </a:solidFill>
                <a:latin typeface="Calibri" pitchFamily="34" charset="0"/>
                <a:ea typeface="Calibri" pitchFamily="34" charset="-122"/>
                <a:cs typeface="Calibri" pitchFamily="34" charset="-120"/>
              </a:rPr>
              <a:t>Emergency repair costs are much higher than planned preventive maintenance.</a:t>
            </a:r>
            <a:endParaRPr lang="en-US" sz="1450" dirty="0"/>
          </a:p>
          <a:p>
            <a:pPr marL="177800" indent="-177800">
              <a:spcAft>
                <a:spcPts val="1400"/>
              </a:spcAft>
              <a:buSzPct val="100000"/>
              <a:buChar char="•"/>
            </a:pPr>
            <a:r>
              <a:rPr lang="en-US" sz="1450" dirty="0">
                <a:solidFill>
                  <a:srgbClr val="1A2233"/>
                </a:solidFill>
                <a:latin typeface="Calibri" pitchFamily="34" charset="0"/>
                <a:ea typeface="Calibri" pitchFamily="34" charset="-122"/>
                <a:cs typeface="Calibri" pitchFamily="34" charset="-120"/>
              </a:rPr>
              <a:t>Losses from unplanned downtime are highly significant, especially on machines at critical control points (Critical Control Points).</a:t>
            </a:r>
            <a:endParaRPr lang="en-US" sz="1450" dirty="0"/>
          </a:p>
        </p:txBody>
      </p:sp>
      <p:sp>
        <p:nvSpPr>
          <p:cNvPr id="5" name="Shape 3"/>
          <p:cNvSpPr/>
          <p:nvPr/>
        </p:nvSpPr>
        <p:spPr>
          <a:xfrm>
            <a:off x="7315200" y="1691640"/>
            <a:ext cx="4370832" cy="1737360"/>
          </a:xfrm>
          <a:prstGeom prst="roundRect">
            <a:avLst>
              <a:gd name="adj" fmla="val 4211"/>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6" name="Text 4"/>
          <p:cNvSpPr/>
          <p:nvPr/>
        </p:nvSpPr>
        <p:spPr>
          <a:xfrm>
            <a:off x="7589520" y="1810512"/>
            <a:ext cx="2011680" cy="822960"/>
          </a:xfrm>
          <a:prstGeom prst="rect">
            <a:avLst/>
          </a:prstGeom>
          <a:noFill/>
          <a:ln/>
        </p:spPr>
        <p:txBody>
          <a:bodyPr wrap="square" rtlCol="0" anchor="ctr"/>
          <a:lstStyle/>
          <a:p>
            <a:pPr indent="0" marL="0">
              <a:buNone/>
            </a:pPr>
            <a:r>
              <a:rPr lang="en-US" sz="4600" b="1" dirty="0">
                <a:solidFill>
                  <a:srgbClr val="0B2545"/>
                </a:solidFill>
                <a:latin typeface="Cambria" pitchFamily="34" charset="0"/>
                <a:ea typeface="Cambria" pitchFamily="34" charset="-122"/>
                <a:cs typeface="Cambria" pitchFamily="34" charset="-120"/>
              </a:rPr>
              <a:t>3×</a:t>
            </a:r>
            <a:endParaRPr lang="en-US" sz="4600" dirty="0"/>
          </a:p>
        </p:txBody>
      </p:sp>
      <p:sp>
        <p:nvSpPr>
          <p:cNvPr id="7" name="Text 5"/>
          <p:cNvSpPr/>
          <p:nvPr/>
        </p:nvSpPr>
        <p:spPr>
          <a:xfrm>
            <a:off x="7589520" y="2606040"/>
            <a:ext cx="3822192" cy="73152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Emergency repair costs compared to planned preventive maintenance</a:t>
            </a:r>
            <a:endParaRPr lang="en-US" sz="1150" dirty="0"/>
          </a:p>
        </p:txBody>
      </p:sp>
      <p:sp>
        <p:nvSpPr>
          <p:cNvPr id="8" name="Shape 6"/>
          <p:cNvSpPr/>
          <p:nvPr/>
        </p:nvSpPr>
        <p:spPr>
          <a:xfrm>
            <a:off x="7315200" y="3611880"/>
            <a:ext cx="4370832" cy="1737360"/>
          </a:xfrm>
          <a:prstGeom prst="roundRect">
            <a:avLst>
              <a:gd name="adj" fmla="val 4211"/>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9" name="Text 7"/>
          <p:cNvSpPr/>
          <p:nvPr/>
        </p:nvSpPr>
        <p:spPr>
          <a:xfrm>
            <a:off x="7589520" y="3749040"/>
            <a:ext cx="4005072" cy="822960"/>
          </a:xfrm>
          <a:prstGeom prst="rect">
            <a:avLst/>
          </a:prstGeom>
          <a:noFill/>
          <a:ln/>
        </p:spPr>
        <p:txBody>
          <a:bodyPr wrap="square"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$100K–500K</a:t>
            </a:r>
            <a:endParaRPr lang="en-US" sz="3200" dirty="0"/>
          </a:p>
        </p:txBody>
      </p:sp>
      <p:sp>
        <p:nvSpPr>
          <p:cNvPr id="10" name="Text 8"/>
          <p:cNvSpPr/>
          <p:nvPr/>
        </p:nvSpPr>
        <p:spPr>
          <a:xfrm>
            <a:off x="7589520" y="4526280"/>
            <a:ext cx="3822192" cy="73152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Estimated loss per unplanned downtime incident on critical CCP machines</a:t>
            </a:r>
            <a:endParaRPr lang="en-US" sz="1150" dirty="0"/>
          </a:p>
        </p:txBody>
      </p:sp>
      <p:sp>
        <p:nvSpPr>
          <p:cNvPr id="11" name="Text 9"/>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01</a:t>
            </a:r>
            <a:endParaRPr lang="en-US" sz="1000" dirty="0"/>
          </a:p>
        </p:txBody>
      </p:sp>
      <p:sp>
        <p:nvSpPr>
          <p:cNvPr id="12" name="Text 10"/>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01 · OPENING</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Problem Statement</a:t>
            </a:r>
            <a:endParaRPr lang="en-US" sz="2900" dirty="0"/>
          </a:p>
        </p:txBody>
      </p:sp>
      <p:sp>
        <p:nvSpPr>
          <p:cNvPr id="4" name="Shape 2"/>
          <p:cNvSpPr/>
          <p:nvPr/>
        </p:nvSpPr>
        <p:spPr>
          <a:xfrm>
            <a:off x="502920" y="1783080"/>
            <a:ext cx="566928" cy="566928"/>
          </a:xfrm>
          <a:prstGeom prst="ellipse">
            <a:avLst/>
          </a:prstGeom>
          <a:solidFill>
            <a:srgbClr val="0B2545"/>
          </a:solidFill>
          <a:ln/>
        </p:spPr>
        <p:txBody>
          <a:bodyPr/>
          <a:p/>
        </p:txBody>
      </p:sp>
      <p:sp>
        <p:nvSpPr>
          <p:cNvPr id="5" name="Text 3"/>
          <p:cNvSpPr/>
          <p:nvPr/>
        </p:nvSpPr>
        <p:spPr>
          <a:xfrm>
            <a:off x="502920" y="1764792"/>
            <a:ext cx="566928" cy="56692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1280160" y="1709928"/>
            <a:ext cx="1005840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7" name="Text 5"/>
          <p:cNvSpPr/>
          <p:nvPr/>
        </p:nvSpPr>
        <p:spPr>
          <a:xfrm>
            <a:off x="1554480" y="1783080"/>
            <a:ext cx="9509760" cy="365760"/>
          </a:xfrm>
          <a:prstGeom prst="rect">
            <a:avLst/>
          </a:prstGeom>
          <a:noFill/>
          <a:ln/>
        </p:spPr>
        <p:txBody>
          <a:bodyPr wrap="square"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Zero Predictive Capability</a:t>
            </a:r>
            <a:endParaRPr lang="en-US" sz="1700" dirty="0"/>
          </a:p>
        </p:txBody>
      </p:sp>
      <p:sp>
        <p:nvSpPr>
          <p:cNvPr id="8" name="Text 6"/>
          <p:cNvSpPr/>
          <p:nvPr/>
        </p:nvSpPr>
        <p:spPr>
          <a:xfrm>
            <a:off x="1554480" y="2167128"/>
            <a:ext cx="9418320" cy="68580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6 critical ASTRA machines operate 24/7 without a predictive health monitoring system.</a:t>
            </a:r>
            <a:endParaRPr lang="en-US" sz="1300" dirty="0"/>
          </a:p>
        </p:txBody>
      </p:sp>
      <p:sp>
        <p:nvSpPr>
          <p:cNvPr id="9" name="Shape 7"/>
          <p:cNvSpPr/>
          <p:nvPr/>
        </p:nvSpPr>
        <p:spPr>
          <a:xfrm>
            <a:off x="502920" y="3246120"/>
            <a:ext cx="566928" cy="566928"/>
          </a:xfrm>
          <a:prstGeom prst="ellipse">
            <a:avLst/>
          </a:prstGeom>
          <a:solidFill>
            <a:srgbClr val="0B2545"/>
          </a:solidFill>
          <a:ln/>
        </p:spPr>
        <p:txBody>
          <a:bodyPr/>
          <a:p/>
        </p:txBody>
      </p:sp>
      <p:sp>
        <p:nvSpPr>
          <p:cNvPr id="10" name="Text 8"/>
          <p:cNvSpPr/>
          <p:nvPr/>
        </p:nvSpPr>
        <p:spPr>
          <a:xfrm>
            <a:off x="502920" y="3227832"/>
            <a:ext cx="566928" cy="56692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1280160" y="3172968"/>
            <a:ext cx="1005840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2" name="Text 10"/>
          <p:cNvSpPr/>
          <p:nvPr/>
        </p:nvSpPr>
        <p:spPr>
          <a:xfrm>
            <a:off x="1554480" y="3246120"/>
            <a:ext cx="9509760" cy="365760"/>
          </a:xfrm>
          <a:prstGeom prst="rect">
            <a:avLst/>
          </a:prstGeom>
          <a:noFill/>
          <a:ln/>
        </p:spPr>
        <p:txBody>
          <a:bodyPr wrap="square"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Silent Degradation</a:t>
            </a:r>
            <a:endParaRPr lang="en-US" sz="1700" dirty="0"/>
          </a:p>
        </p:txBody>
      </p:sp>
      <p:sp>
        <p:nvSpPr>
          <p:cNvPr id="13" name="Text 11"/>
          <p:cNvSpPr/>
          <p:nvPr/>
        </p:nvSpPr>
        <p:spPr>
          <a:xfrm>
            <a:off x="1554480" y="3630168"/>
            <a:ext cx="9418320" cy="68580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Bearings and electrical components wear out slowly without early detection until complete failure occurs.</a:t>
            </a:r>
            <a:endParaRPr lang="en-US" sz="1300" dirty="0"/>
          </a:p>
        </p:txBody>
      </p:sp>
      <p:sp>
        <p:nvSpPr>
          <p:cNvPr id="14" name="Shape 12"/>
          <p:cNvSpPr/>
          <p:nvPr/>
        </p:nvSpPr>
        <p:spPr>
          <a:xfrm>
            <a:off x="502920" y="4709160"/>
            <a:ext cx="566928" cy="566928"/>
          </a:xfrm>
          <a:prstGeom prst="ellipse">
            <a:avLst/>
          </a:prstGeom>
          <a:solidFill>
            <a:srgbClr val="0B2545"/>
          </a:solidFill>
          <a:ln/>
        </p:spPr>
        <p:txBody>
          <a:bodyPr/>
          <a:p/>
        </p:txBody>
      </p:sp>
      <p:sp>
        <p:nvSpPr>
          <p:cNvPr id="15" name="Text 13"/>
          <p:cNvSpPr/>
          <p:nvPr/>
        </p:nvSpPr>
        <p:spPr>
          <a:xfrm>
            <a:off x="502920" y="4690872"/>
            <a:ext cx="566928" cy="56692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1280160" y="4636008"/>
            <a:ext cx="1005840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7" name="Text 15"/>
          <p:cNvSpPr/>
          <p:nvPr/>
        </p:nvSpPr>
        <p:spPr>
          <a:xfrm>
            <a:off x="1554480" y="4709160"/>
            <a:ext cx="9509760" cy="365760"/>
          </a:xfrm>
          <a:prstGeom prst="rect">
            <a:avLst/>
          </a:prstGeom>
          <a:noFill/>
          <a:ln/>
        </p:spPr>
        <p:txBody>
          <a:bodyPr wrap="square"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Data Silo</a:t>
            </a:r>
            <a:endParaRPr lang="en-US" sz="1700" dirty="0"/>
          </a:p>
        </p:txBody>
      </p:sp>
      <p:sp>
        <p:nvSpPr>
          <p:cNvPr id="18" name="Text 16"/>
          <p:cNvSpPr/>
          <p:nvPr/>
        </p:nvSpPr>
        <p:spPr>
          <a:xfrm>
            <a:off x="1554480" y="5093208"/>
            <a:ext cx="9418320" cy="68580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Telemetry data (temperature, vibration, current) is already flowing, but is only stored locally without being processed into predictive insights that technicians can trust.</a:t>
            </a:r>
            <a:endParaRPr lang="en-US" sz="1300" dirty="0"/>
          </a:p>
        </p:txBody>
      </p:sp>
      <p:sp>
        <p:nvSpPr>
          <p:cNvPr id="19" name="Text 17"/>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02</a:t>
            </a:r>
            <a:endParaRPr lang="en-US" sz="1000" dirty="0"/>
          </a:p>
        </p:txBody>
      </p:sp>
      <p:sp>
        <p:nvSpPr>
          <p:cNvPr id="20" name="Text 18"/>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01 · OPENING</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Objective &amp; Scope</a:t>
            </a:r>
            <a:endParaRPr lang="en-US" sz="2900" dirty="0"/>
          </a:p>
        </p:txBody>
      </p:sp>
      <p:sp>
        <p:nvSpPr>
          <p:cNvPr id="4" name="Text 2"/>
          <p:cNvSpPr/>
          <p:nvPr/>
        </p:nvSpPr>
        <p:spPr>
          <a:xfrm>
            <a:off x="502920" y="1508760"/>
            <a:ext cx="6583680" cy="502920"/>
          </a:xfrm>
          <a:prstGeom prst="rect">
            <a:avLst/>
          </a:prstGeom>
          <a:noFill/>
          <a:ln/>
        </p:spPr>
        <p:txBody>
          <a:bodyPr wrap="square" rtlCol="0" anchor="ctr"/>
          <a:lstStyle/>
          <a:p>
            <a:pPr indent="0" marL="0">
              <a:buNone/>
            </a:pPr>
            <a:r>
              <a:rPr lang="en-US" sz="1350" i="1" dirty="0">
                <a:solidFill>
                  <a:srgbClr val="5C6773"/>
                </a:solidFill>
                <a:latin typeface="Calibri" pitchFamily="34" charset="0"/>
                <a:ea typeface="Calibri" pitchFamily="34" charset="-122"/>
                <a:cs typeface="Calibri" pitchFamily="34" charset="-120"/>
              </a:rPr>
              <a:t>Build PredictaGuard, an on-premise monitoring system with 3 main capabilities:</a:t>
            </a:r>
            <a:endParaRPr lang="en-US" sz="1350" dirty="0"/>
          </a:p>
        </p:txBody>
      </p:sp>
      <p:sp>
        <p:nvSpPr>
          <p:cNvPr id="5" name="Shape 3"/>
          <p:cNvSpPr/>
          <p:nvPr/>
        </p:nvSpPr>
        <p:spPr>
          <a:xfrm>
            <a:off x="502920" y="2148840"/>
            <a:ext cx="420624" cy="420624"/>
          </a:xfrm>
          <a:prstGeom prst="ellipse">
            <a:avLst/>
          </a:prstGeom>
          <a:solidFill>
            <a:srgbClr val="00B4A6"/>
          </a:solidFill>
          <a:ln/>
        </p:spPr>
        <p:txBody>
          <a:bodyPr/>
          <a:p/>
        </p:txBody>
      </p:sp>
      <p:sp>
        <p:nvSpPr>
          <p:cNvPr id="6" name="Text 4"/>
          <p:cNvSpPr/>
          <p:nvPr/>
        </p:nvSpPr>
        <p:spPr>
          <a:xfrm>
            <a:off x="502920" y="2130552"/>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097280" y="2093976"/>
            <a:ext cx="5852160" cy="320040"/>
          </a:xfrm>
          <a:prstGeom prst="rect">
            <a:avLst/>
          </a:prstGeom>
          <a:noFill/>
          <a:ln/>
        </p:spPr>
        <p:txBody>
          <a:bodyPr wrap="square"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Real-Time Anomaly Detection</a:t>
            </a:r>
            <a:endParaRPr lang="en-US" sz="1450" dirty="0"/>
          </a:p>
        </p:txBody>
      </p:sp>
      <p:sp>
        <p:nvSpPr>
          <p:cNvPr id="8" name="Text 6"/>
          <p:cNvSpPr/>
          <p:nvPr/>
        </p:nvSpPr>
        <p:spPr>
          <a:xfrm>
            <a:off x="1097280" y="2404872"/>
            <a:ext cx="5852160" cy="548640"/>
          </a:xfrm>
          <a:prstGeom prst="rect">
            <a:avLst/>
          </a:prstGeom>
          <a:noFill/>
          <a:ln/>
        </p:spPr>
        <p:txBody>
          <a:bodyPr wrap="square" rtlCol="0" anchor="ctr"/>
          <a:lstStyle/>
          <a:p>
            <a:pPr indent="0" marL="0">
              <a:buNone/>
            </a:pPr>
            <a:r>
              <a:rPr lang="en-US" sz="1200" dirty="0">
                <a:solidFill>
                  <a:srgbClr val="5C6773"/>
                </a:solidFill>
                <a:latin typeface="Calibri" pitchFamily="34" charset="0"/>
                <a:ea typeface="Calibri" pitchFamily="34" charset="-122"/>
                <a:cs typeface="Calibri" pitchFamily="34" charset="-120"/>
              </a:rPr>
              <a:t>Identifying machine behavior that deviates from historical healthy patterns.</a:t>
            </a:r>
            <a:endParaRPr lang="en-US" sz="1200" dirty="0"/>
          </a:p>
        </p:txBody>
      </p:sp>
      <p:sp>
        <p:nvSpPr>
          <p:cNvPr id="9" name="Shape 7"/>
          <p:cNvSpPr/>
          <p:nvPr/>
        </p:nvSpPr>
        <p:spPr>
          <a:xfrm>
            <a:off x="502920" y="3081528"/>
            <a:ext cx="420624" cy="420624"/>
          </a:xfrm>
          <a:prstGeom prst="ellipse">
            <a:avLst/>
          </a:prstGeom>
          <a:solidFill>
            <a:srgbClr val="00B4A6"/>
          </a:solidFill>
          <a:ln/>
        </p:spPr>
        <p:txBody>
          <a:bodyPr/>
          <a:p/>
        </p:txBody>
      </p:sp>
      <p:sp>
        <p:nvSpPr>
          <p:cNvPr id="10" name="Text 8"/>
          <p:cNvSpPr/>
          <p:nvPr/>
        </p:nvSpPr>
        <p:spPr>
          <a:xfrm>
            <a:off x="502920" y="3063240"/>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1097280" y="3026664"/>
            <a:ext cx="5852160" cy="320040"/>
          </a:xfrm>
          <a:prstGeom prst="rect">
            <a:avLst/>
          </a:prstGeom>
          <a:noFill/>
          <a:ln/>
        </p:spPr>
        <p:txBody>
          <a:bodyPr wrap="square"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Fault Classification</a:t>
            </a:r>
            <a:endParaRPr lang="en-US" sz="1450" dirty="0"/>
          </a:p>
        </p:txBody>
      </p:sp>
      <p:sp>
        <p:nvSpPr>
          <p:cNvPr id="12" name="Text 10"/>
          <p:cNvSpPr/>
          <p:nvPr/>
        </p:nvSpPr>
        <p:spPr>
          <a:xfrm>
            <a:off x="1097280" y="3337560"/>
            <a:ext cx="5852160" cy="548640"/>
          </a:xfrm>
          <a:prstGeom prst="rect">
            <a:avLst/>
          </a:prstGeom>
          <a:noFill/>
          <a:ln/>
        </p:spPr>
        <p:txBody>
          <a:bodyPr wrap="square" rtlCol="0" anchor="ctr"/>
          <a:lstStyle/>
          <a:p>
            <a:pPr indent="0" marL="0">
              <a:buNone/>
            </a:pPr>
            <a:r>
              <a:rPr lang="en-US" sz="1200" dirty="0">
                <a:solidFill>
                  <a:srgbClr val="5C6773"/>
                </a:solidFill>
                <a:latin typeface="Calibri" pitchFamily="34" charset="0"/>
                <a:ea typeface="Calibri" pitchFamily="34" charset="-122"/>
                <a:cs typeface="Calibri" pitchFamily="34" charset="-120"/>
              </a:rPr>
              <a:t>Determining specific failure types: inner/outer race defect, roller fault, overload, etc.</a:t>
            </a:r>
            <a:endParaRPr lang="en-US" sz="1200" dirty="0"/>
          </a:p>
        </p:txBody>
      </p:sp>
      <p:sp>
        <p:nvSpPr>
          <p:cNvPr id="13" name="Shape 11"/>
          <p:cNvSpPr/>
          <p:nvPr/>
        </p:nvSpPr>
        <p:spPr>
          <a:xfrm>
            <a:off x="502920" y="4014216"/>
            <a:ext cx="420624" cy="420624"/>
          </a:xfrm>
          <a:prstGeom prst="ellipse">
            <a:avLst/>
          </a:prstGeom>
          <a:solidFill>
            <a:srgbClr val="00B4A6"/>
          </a:solidFill>
          <a:ln/>
        </p:spPr>
        <p:txBody>
          <a:bodyPr/>
          <a:p/>
        </p:txBody>
      </p:sp>
      <p:sp>
        <p:nvSpPr>
          <p:cNvPr id="14" name="Text 12"/>
          <p:cNvSpPr/>
          <p:nvPr/>
        </p:nvSpPr>
        <p:spPr>
          <a:xfrm>
            <a:off x="502920" y="3995928"/>
            <a:ext cx="420624" cy="42062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1097280" y="3959352"/>
            <a:ext cx="5852160" cy="320040"/>
          </a:xfrm>
          <a:prstGeom prst="rect">
            <a:avLst/>
          </a:prstGeom>
          <a:noFill/>
          <a:ln/>
        </p:spPr>
        <p:txBody>
          <a:bodyPr wrap="square"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Remaining Useful Life (RUL) Prediction</a:t>
            </a:r>
            <a:endParaRPr lang="en-US" sz="1450" dirty="0"/>
          </a:p>
        </p:txBody>
      </p:sp>
      <p:sp>
        <p:nvSpPr>
          <p:cNvPr id="16" name="Text 14"/>
          <p:cNvSpPr/>
          <p:nvPr/>
        </p:nvSpPr>
        <p:spPr>
          <a:xfrm>
            <a:off x="1097280" y="4270248"/>
            <a:ext cx="5852160" cy="548640"/>
          </a:xfrm>
          <a:prstGeom prst="rect">
            <a:avLst/>
          </a:prstGeom>
          <a:noFill/>
          <a:ln/>
        </p:spPr>
        <p:txBody>
          <a:bodyPr wrap="square" rtlCol="0" anchor="ctr"/>
          <a:lstStyle/>
          <a:p>
            <a:pPr indent="0" marL="0">
              <a:buNone/>
            </a:pPr>
            <a:r>
              <a:rPr lang="en-US" sz="1200" dirty="0">
                <a:solidFill>
                  <a:srgbClr val="5C6773"/>
                </a:solidFill>
                <a:latin typeface="Calibri" pitchFamily="34" charset="0"/>
                <a:ea typeface="Calibri" pitchFamily="34" charset="-122"/>
                <a:cs typeface="Calibri" pitchFamily="34" charset="-120"/>
              </a:rPr>
              <a:t>Estimating the machine's remaining safe operating time along with severity &amp; action recommendations.</a:t>
            </a:r>
            <a:endParaRPr lang="en-US" sz="1200" dirty="0"/>
          </a:p>
        </p:txBody>
      </p:sp>
      <p:sp>
        <p:nvSpPr>
          <p:cNvPr id="17" name="Shape 15"/>
          <p:cNvSpPr/>
          <p:nvPr/>
        </p:nvSpPr>
        <p:spPr>
          <a:xfrm>
            <a:off x="7452360" y="1691640"/>
            <a:ext cx="4251960" cy="4206240"/>
          </a:xfrm>
          <a:prstGeom prst="roundRect">
            <a:avLst>
              <a:gd name="adj" fmla="val 1739"/>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18" name="Text 16"/>
          <p:cNvSpPr/>
          <p:nvPr/>
        </p:nvSpPr>
        <p:spPr>
          <a:xfrm>
            <a:off x="7772400" y="1920240"/>
            <a:ext cx="347472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SCOPE</a:t>
            </a:r>
            <a:endParaRPr lang="en-US" sz="1200" dirty="0"/>
          </a:p>
        </p:txBody>
      </p:sp>
      <p:sp>
        <p:nvSpPr>
          <p:cNvPr id="19" name="Text 17"/>
          <p:cNvSpPr/>
          <p:nvPr/>
        </p:nvSpPr>
        <p:spPr>
          <a:xfrm>
            <a:off x="7772400" y="2194560"/>
            <a:ext cx="1828800" cy="8229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6</a:t>
            </a:r>
            <a:endParaRPr lang="en-US" sz="4400" dirty="0"/>
          </a:p>
        </p:txBody>
      </p:sp>
      <p:sp>
        <p:nvSpPr>
          <p:cNvPr id="20" name="Text 18"/>
          <p:cNvSpPr/>
          <p:nvPr/>
        </p:nvSpPr>
        <p:spPr>
          <a:xfrm>
            <a:off x="7772400" y="2926080"/>
            <a:ext cx="3611880" cy="685800"/>
          </a:xfrm>
          <a:prstGeom prst="rect">
            <a:avLst/>
          </a:prstGeom>
          <a:noFill/>
          <a:ln/>
        </p:spPr>
        <p:txBody>
          <a:bodyPr wrap="square" rtlCol="0" anchor="ctr"/>
          <a:lstStyle/>
          <a:p>
            <a:pPr indent="0" marL="0">
              <a:buNone/>
            </a:pPr>
            <a:r>
              <a:rPr lang="en-US" sz="1250" dirty="0">
                <a:solidFill>
                  <a:srgbClr val="C9D6E3"/>
                </a:solidFill>
                <a:latin typeface="Calibri" pitchFamily="34" charset="0"/>
                <a:ea typeface="Calibri" pitchFamily="34" charset="-122"/>
                <a:cs typeface="Calibri" pitchFamily="34" charset="-120"/>
              </a:rPr>
              <a:t>Critical machines monitored</a:t>
            </a:r>
            <a:endParaRPr lang="en-US" sz="1250" dirty="0"/>
          </a:p>
          <a:p>
            <a:pPr indent="0" marL="0">
              <a:buNone/>
            </a:pPr>
            <a:r>
              <a:rPr lang="en-US" sz="1250" dirty="0">
                <a:solidFill>
                  <a:srgbClr val="C9D6E3"/>
                </a:solidFill>
                <a:latin typeface="Calibri" pitchFamily="34" charset="0"/>
                <a:ea typeface="Calibri" pitchFamily="34" charset="-122"/>
                <a:cs typeface="Calibri" pitchFamily="34" charset="-120"/>
              </a:rPr>
              <a:t>(MTR-01 to MTR-06)</a:t>
            </a:r>
            <a:endParaRPr lang="en-US" sz="1250" dirty="0"/>
          </a:p>
        </p:txBody>
      </p:sp>
      <p:sp>
        <p:nvSpPr>
          <p:cNvPr id="21" name="Shape 19"/>
          <p:cNvSpPr/>
          <p:nvPr/>
        </p:nvSpPr>
        <p:spPr>
          <a:xfrm>
            <a:off x="7772400" y="3703320"/>
            <a:ext cx="3611880" cy="0"/>
          </a:xfrm>
          <a:prstGeom prst="line">
            <a:avLst/>
          </a:prstGeom>
          <a:noFill/>
          <a:ln w="12700">
            <a:solidFill>
              <a:srgbClr val="2C4A73"/>
            </a:solidFill>
            <a:prstDash val="solid"/>
          </a:ln>
        </p:spPr>
        <p:txBody>
          <a:bodyPr/>
          <a:p/>
        </p:txBody>
      </p:sp>
      <p:sp>
        <p:nvSpPr>
          <p:cNvPr id="22" name="Text 20"/>
          <p:cNvSpPr/>
          <p:nvPr/>
        </p:nvSpPr>
        <p:spPr>
          <a:xfrm>
            <a:off x="7772400" y="3840480"/>
            <a:ext cx="1828800" cy="8229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3</a:t>
            </a:r>
            <a:endParaRPr lang="en-US" sz="4400" dirty="0"/>
          </a:p>
        </p:txBody>
      </p:sp>
      <p:sp>
        <p:nvSpPr>
          <p:cNvPr id="23" name="Text 21"/>
          <p:cNvSpPr/>
          <p:nvPr/>
        </p:nvSpPr>
        <p:spPr>
          <a:xfrm>
            <a:off x="7772400" y="4572000"/>
            <a:ext cx="3611880" cy="1005840"/>
          </a:xfrm>
          <a:prstGeom prst="rect">
            <a:avLst/>
          </a:prstGeom>
          <a:noFill/>
          <a:ln/>
        </p:spPr>
        <p:txBody>
          <a:bodyPr wrap="square" rtlCol="0" anchor="ctr"/>
          <a:lstStyle/>
          <a:p>
            <a:pPr indent="0" marL="0">
              <a:buNone/>
            </a:pPr>
            <a:r>
              <a:rPr lang="en-US" sz="1250" dirty="0">
                <a:solidFill>
                  <a:srgbClr val="C9D6E3"/>
                </a:solidFill>
                <a:latin typeface="Calibri" pitchFamily="34" charset="0"/>
                <a:ea typeface="Calibri" pitchFamily="34" charset="-122"/>
                <a:cs typeface="Calibri" pitchFamily="34" charset="-120"/>
              </a:rPr>
              <a:t>Public datasets for simulation:</a:t>
            </a:r>
            <a:endParaRPr lang="en-US" sz="1250" dirty="0"/>
          </a:p>
          <a:p>
            <a:pPr indent="0" marL="0">
              <a:buNone/>
            </a:pPr>
            <a:r>
              <a:rPr lang="en-US" sz="1250" dirty="0">
                <a:solidFill>
                  <a:srgbClr val="C9D6E3"/>
                </a:solidFill>
                <a:latin typeface="Calibri" pitchFamily="34" charset="0"/>
                <a:ea typeface="Calibri" pitchFamily="34" charset="-122"/>
                <a:cs typeface="Calibri" pitchFamily="34" charset="-120"/>
              </a:rPr>
              <a:t>Paderborn, NASA IMS, NASA CMAPSS</a:t>
            </a:r>
            <a:endParaRPr lang="en-US" sz="1250" dirty="0"/>
          </a:p>
        </p:txBody>
      </p:sp>
      <p:sp>
        <p:nvSpPr>
          <p:cNvPr id="24" name="Text 22"/>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03</a:t>
            </a:r>
            <a:endParaRPr lang="en-US" sz="1000" dirty="0"/>
          </a:p>
        </p:txBody>
      </p:sp>
      <p:sp>
        <p:nvSpPr>
          <p:cNvPr id="25" name="Text 23"/>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02 · DATA ARCHITECTURE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Mapping 6 Machines to 3 Public Datasets</a:t>
            </a:r>
            <a:endParaRPr lang="en-US" sz="2900" dirty="0"/>
          </a:p>
        </p:txBody>
      </p:sp>
      <p:sp>
        <p:nvSpPr>
          <p:cNvPr id="4" name="Shape 2"/>
          <p:cNvSpPr/>
          <p:nvPr/>
        </p:nvSpPr>
        <p:spPr>
          <a:xfrm>
            <a:off x="502920" y="1691640"/>
            <a:ext cx="11201400" cy="1371600"/>
          </a:xfrm>
          <a:prstGeom prst="roundRect">
            <a:avLst>
              <a:gd name="adj" fmla="val 5333"/>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Shape 3"/>
          <p:cNvSpPr/>
          <p:nvPr/>
        </p:nvSpPr>
        <p:spPr>
          <a:xfrm>
            <a:off x="502920" y="1691640"/>
            <a:ext cx="82296" cy="1371600"/>
          </a:xfrm>
          <a:prstGeom prst="rect">
            <a:avLst/>
          </a:prstGeom>
          <a:solidFill>
            <a:srgbClr val="00B4A6"/>
          </a:solidFill>
          <a:ln/>
        </p:spPr>
        <p:txBody>
          <a:bodyPr/>
          <a:p/>
        </p:txBody>
      </p:sp>
      <p:sp>
        <p:nvSpPr>
          <p:cNvPr id="6" name="Text 4"/>
          <p:cNvSpPr/>
          <p:nvPr/>
        </p:nvSpPr>
        <p:spPr>
          <a:xfrm>
            <a:off x="822960" y="1801368"/>
            <a:ext cx="3200400" cy="64008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Paderborn Bearing Dataset</a:t>
            </a:r>
            <a:endParaRPr lang="en-US" sz="1450" dirty="0"/>
          </a:p>
        </p:txBody>
      </p:sp>
      <p:sp>
        <p:nvSpPr>
          <p:cNvPr id="7" name="Text 5"/>
          <p:cNvSpPr/>
          <p:nvPr/>
        </p:nvSpPr>
        <p:spPr>
          <a:xfrm>
            <a:off x="4114800" y="1801368"/>
            <a:ext cx="3017520" cy="640080"/>
          </a:xfrm>
          <a:prstGeom prst="rect">
            <a:avLst/>
          </a:prstGeom>
          <a:noFill/>
          <a:ln/>
        </p:spPr>
        <p:txBody>
          <a:bodyPr wrap="square" rtlCol="0" anchor="ctr"/>
          <a:lstStyle/>
          <a:p>
            <a:pPr indent="0" marL="0">
              <a:buNone/>
            </a:pPr>
            <a:r>
              <a:rPr lang="en-US" sz="1200" b="1" dirty="0">
                <a:solidFill>
                  <a:srgbClr val="00B4A6"/>
                </a:solidFill>
                <a:latin typeface="Calibri" pitchFamily="34" charset="0"/>
                <a:ea typeface="Calibri" pitchFamily="34" charset="-122"/>
                <a:cs typeface="Calibri" pitchFamily="34" charset="-120"/>
              </a:rPr>
              <a:t>Conveyor · Compressor · Fan · Spindle</a:t>
            </a:r>
            <a:endParaRPr lang="en-US" sz="1200" dirty="0"/>
          </a:p>
        </p:txBody>
      </p:sp>
      <p:sp>
        <p:nvSpPr>
          <p:cNvPr id="8" name="Text 6"/>
          <p:cNvSpPr/>
          <p:nvPr/>
        </p:nvSpPr>
        <p:spPr>
          <a:xfrm>
            <a:off x="7223760" y="1828800"/>
            <a:ext cx="4343400" cy="109728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High-frequency vibration + motor current (MCSA) — suitable for machines with high mechanical load variations.</a:t>
            </a:r>
            <a:endParaRPr lang="en-US" sz="1150" dirty="0"/>
          </a:p>
        </p:txBody>
      </p:sp>
      <p:sp>
        <p:nvSpPr>
          <p:cNvPr id="9" name="Shape 7"/>
          <p:cNvSpPr/>
          <p:nvPr/>
        </p:nvSpPr>
        <p:spPr>
          <a:xfrm>
            <a:off x="502920" y="3200400"/>
            <a:ext cx="11201400" cy="1371600"/>
          </a:xfrm>
          <a:prstGeom prst="roundRect">
            <a:avLst>
              <a:gd name="adj" fmla="val 5333"/>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0" name="Shape 8"/>
          <p:cNvSpPr/>
          <p:nvPr/>
        </p:nvSpPr>
        <p:spPr>
          <a:xfrm>
            <a:off x="502920" y="3200400"/>
            <a:ext cx="82296" cy="1371600"/>
          </a:xfrm>
          <a:prstGeom prst="rect">
            <a:avLst/>
          </a:prstGeom>
          <a:solidFill>
            <a:srgbClr val="13315C"/>
          </a:solidFill>
          <a:ln/>
        </p:spPr>
        <p:txBody>
          <a:bodyPr/>
          <a:p/>
        </p:txBody>
      </p:sp>
      <p:sp>
        <p:nvSpPr>
          <p:cNvPr id="11" name="Text 9"/>
          <p:cNvSpPr/>
          <p:nvPr/>
        </p:nvSpPr>
        <p:spPr>
          <a:xfrm>
            <a:off x="822960" y="3310128"/>
            <a:ext cx="3200400" cy="64008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NASA IMS Bearing Dataset</a:t>
            </a:r>
            <a:endParaRPr lang="en-US" sz="1450" dirty="0"/>
          </a:p>
        </p:txBody>
      </p:sp>
      <p:sp>
        <p:nvSpPr>
          <p:cNvPr id="12" name="Text 10"/>
          <p:cNvSpPr/>
          <p:nvPr/>
        </p:nvSpPr>
        <p:spPr>
          <a:xfrm>
            <a:off x="4114800" y="3310128"/>
            <a:ext cx="3017520" cy="640080"/>
          </a:xfrm>
          <a:prstGeom prst="rect">
            <a:avLst/>
          </a:prstGeom>
          <a:noFill/>
          <a:ln/>
        </p:spPr>
        <p:txBody>
          <a:bodyPr wrap="square" rtlCol="0" anchor="ctr"/>
          <a:lstStyle/>
          <a:p>
            <a:pPr indent="0" marL="0">
              <a:buNone/>
            </a:pPr>
            <a:r>
              <a:rPr lang="en-US" sz="1200" b="1" dirty="0">
                <a:solidFill>
                  <a:srgbClr val="13315C"/>
                </a:solidFill>
                <a:latin typeface="Calibri" pitchFamily="34" charset="0"/>
                <a:ea typeface="Calibri" pitchFamily="34" charset="-122"/>
                <a:cs typeface="Calibri" pitchFamily="34" charset="-120"/>
              </a:rPr>
              <a:t>Water Pump (MTR-04)</a:t>
            </a:r>
            <a:endParaRPr lang="en-US" sz="1200" dirty="0"/>
          </a:p>
        </p:txBody>
      </p:sp>
      <p:sp>
        <p:nvSpPr>
          <p:cNvPr id="13" name="Text 11"/>
          <p:cNvSpPr/>
          <p:nvPr/>
        </p:nvSpPr>
        <p:spPr>
          <a:xfrm>
            <a:off x="7223760" y="3337560"/>
            <a:ext cx="4343400" cy="109728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Gradual bearing degradation run-to-failure over weeks — ideal for slow pump wear.</a:t>
            </a:r>
            <a:endParaRPr lang="en-US" sz="1150" dirty="0"/>
          </a:p>
        </p:txBody>
      </p:sp>
      <p:sp>
        <p:nvSpPr>
          <p:cNvPr id="14" name="Shape 12"/>
          <p:cNvSpPr/>
          <p:nvPr/>
        </p:nvSpPr>
        <p:spPr>
          <a:xfrm>
            <a:off x="502920" y="4709160"/>
            <a:ext cx="11201400" cy="1371600"/>
          </a:xfrm>
          <a:prstGeom prst="roundRect">
            <a:avLst>
              <a:gd name="adj" fmla="val 5333"/>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5" name="Shape 13"/>
          <p:cNvSpPr/>
          <p:nvPr/>
        </p:nvSpPr>
        <p:spPr>
          <a:xfrm>
            <a:off x="502920" y="4709160"/>
            <a:ext cx="82296" cy="1371600"/>
          </a:xfrm>
          <a:prstGeom prst="rect">
            <a:avLst/>
          </a:prstGeom>
          <a:solidFill>
            <a:srgbClr val="F4A527"/>
          </a:solidFill>
          <a:ln/>
        </p:spPr>
        <p:txBody>
          <a:bodyPr/>
          <a:p/>
        </p:txBody>
      </p:sp>
      <p:sp>
        <p:nvSpPr>
          <p:cNvPr id="16" name="Text 14"/>
          <p:cNvSpPr/>
          <p:nvPr/>
        </p:nvSpPr>
        <p:spPr>
          <a:xfrm>
            <a:off x="822960" y="4818888"/>
            <a:ext cx="3200400" cy="64008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NASA CMAPSS Turbofan</a:t>
            </a:r>
            <a:endParaRPr lang="en-US" sz="1450" dirty="0"/>
          </a:p>
        </p:txBody>
      </p:sp>
      <p:sp>
        <p:nvSpPr>
          <p:cNvPr id="17" name="Text 15"/>
          <p:cNvSpPr/>
          <p:nvPr/>
        </p:nvSpPr>
        <p:spPr>
          <a:xfrm>
            <a:off x="4114800" y="4818888"/>
            <a:ext cx="3017520" cy="640080"/>
          </a:xfrm>
          <a:prstGeom prst="rect">
            <a:avLst/>
          </a:prstGeom>
          <a:noFill/>
          <a:ln/>
        </p:spPr>
        <p:txBody>
          <a:bodyPr wrap="square" rtlCol="0" anchor="ctr"/>
          <a:lstStyle/>
          <a:p>
            <a:pPr indent="0" marL="0">
              <a:buNone/>
            </a:pPr>
            <a:r>
              <a:rPr lang="en-US" sz="1200" b="1" dirty="0">
                <a:solidFill>
                  <a:srgbClr val="F4A527"/>
                </a:solidFill>
                <a:latin typeface="Calibri" pitchFamily="34" charset="0"/>
                <a:ea typeface="Calibri" pitchFamily="34" charset="-122"/>
                <a:cs typeface="Calibri" pitchFamily="34" charset="-120"/>
              </a:rPr>
              <a:t>Mixer (MTR-05)</a:t>
            </a:r>
            <a:endParaRPr lang="en-US" sz="1200" dirty="0"/>
          </a:p>
        </p:txBody>
      </p:sp>
      <p:sp>
        <p:nvSpPr>
          <p:cNvPr id="18" name="Text 16"/>
          <p:cNvSpPr/>
          <p:nvPr/>
        </p:nvSpPr>
        <p:spPr>
          <a:xfrm>
            <a:off x="7223760" y="4846320"/>
            <a:ext cx="4343400" cy="109728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Multi-sensor thermal &amp; operational cycle data, modeled as a proxy for mixer efficiency degradation.</a:t>
            </a:r>
            <a:endParaRPr lang="en-US" sz="1150" dirty="0"/>
          </a:p>
        </p:txBody>
      </p:sp>
      <p:sp>
        <p:nvSpPr>
          <p:cNvPr id="19" name="Text 17"/>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04</a:t>
            </a:r>
            <a:endParaRPr lang="en-US" sz="1000" dirty="0"/>
          </a:p>
        </p:txBody>
      </p:sp>
      <p:sp>
        <p:nvSpPr>
          <p:cNvPr id="20" name="Text 18"/>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02 · DATA ARCHITECTURE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PostgreSQL Database Structure</a:t>
            </a:r>
            <a:endParaRPr lang="en-US" sz="2900" dirty="0"/>
          </a:p>
        </p:txBody>
      </p:sp>
      <p:sp>
        <p:nvSpPr>
          <p:cNvPr id="4" name="Shape 2"/>
          <p:cNvSpPr/>
          <p:nvPr/>
        </p:nvSpPr>
        <p:spPr>
          <a:xfrm>
            <a:off x="502920" y="1737360"/>
            <a:ext cx="2121408" cy="2286000"/>
          </a:xfrm>
          <a:prstGeom prst="roundRect">
            <a:avLst>
              <a:gd name="adj" fmla="val 3448"/>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Text 3"/>
          <p:cNvSpPr/>
          <p:nvPr/>
        </p:nvSpPr>
        <p:spPr>
          <a:xfrm>
            <a:off x="640080" y="1874520"/>
            <a:ext cx="1847088" cy="45720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motors</a:t>
            </a:r>
            <a:endParaRPr lang="en-US" sz="1300" dirty="0"/>
          </a:p>
        </p:txBody>
      </p:sp>
      <p:sp>
        <p:nvSpPr>
          <p:cNvPr id="6" name="Text 4"/>
          <p:cNvSpPr/>
          <p:nvPr/>
        </p:nvSpPr>
        <p:spPr>
          <a:xfrm>
            <a:off x="640080" y="2331720"/>
            <a:ext cx="1847088" cy="155448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Basic specifications of 6 motors, safe physical limits, data sources</a:t>
            </a:r>
            <a:endParaRPr lang="en-US" sz="1050" dirty="0"/>
          </a:p>
        </p:txBody>
      </p:sp>
      <p:sp>
        <p:nvSpPr>
          <p:cNvPr id="7" name="Shape 5"/>
          <p:cNvSpPr/>
          <p:nvPr/>
        </p:nvSpPr>
        <p:spPr>
          <a:xfrm>
            <a:off x="2761488" y="1737360"/>
            <a:ext cx="2121408" cy="2286000"/>
          </a:xfrm>
          <a:prstGeom prst="roundRect">
            <a:avLst>
              <a:gd name="adj" fmla="val 3448"/>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8" name="Text 6"/>
          <p:cNvSpPr/>
          <p:nvPr/>
        </p:nvSpPr>
        <p:spPr>
          <a:xfrm>
            <a:off x="2898648" y="1874520"/>
            <a:ext cx="1847088" cy="457200"/>
          </a:xfrm>
          <a:prstGeom prst="rect">
            <a:avLst/>
          </a:prstGeom>
          <a:noFill/>
          <a:ln/>
        </p:spPr>
        <p:txBody>
          <a:bodyPr wrap="square" rtlCol="0" anchor="ctr"/>
          <a:lstStyle/>
          <a:p>
            <a:pPr indent="0" marL="0">
              <a:buNone/>
            </a:pPr>
            <a:r>
              <a:rPr lang="en-US" sz="1300" b="1" dirty="0">
                <a:solidFill>
                  <a:srgbClr val="00B4A6"/>
                </a:solidFill>
                <a:latin typeface="Calibri" pitchFamily="34" charset="0"/>
                <a:ea typeface="Calibri" pitchFamily="34" charset="-122"/>
                <a:cs typeface="Calibri" pitchFamily="34" charset="-120"/>
              </a:rPr>
              <a:t>raw_sensor_data</a:t>
            </a:r>
            <a:endParaRPr lang="en-US" sz="1300" dirty="0"/>
          </a:p>
        </p:txBody>
      </p:sp>
      <p:sp>
        <p:nvSpPr>
          <p:cNvPr id="9" name="Text 7"/>
          <p:cNvSpPr/>
          <p:nvPr/>
        </p:nvSpPr>
        <p:spPr>
          <a:xfrm>
            <a:off x="2898648" y="2331720"/>
            <a:ext cx="1847088" cy="1554480"/>
          </a:xfrm>
          <a:prstGeom prst="rect">
            <a:avLst/>
          </a:prstGeom>
          <a:noFill/>
          <a:ln/>
        </p:spPr>
        <p:txBody>
          <a:bodyPr wrap="square" rtlCol="0" anchor="ctr"/>
          <a:lstStyle/>
          <a:p>
            <a:pPr indent="0" marL="0">
              <a:buNone/>
            </a:pPr>
            <a:r>
              <a:rPr lang="en-US" sz="1050" dirty="0">
                <a:solidFill>
                  <a:srgbClr val="C9D6E3"/>
                </a:solidFill>
                <a:latin typeface="Calibri" pitchFamily="34" charset="0"/>
                <a:ea typeface="Calibri" pitchFamily="34" charset="-122"/>
                <a:cs typeface="Calibri" pitchFamily="34" charset="-120"/>
              </a:rPr>
              <a:t>Raw sensor data — without cleaning</a:t>
            </a:r>
            <a:endParaRPr lang="en-US" sz="1050" dirty="0"/>
          </a:p>
        </p:txBody>
      </p:sp>
      <p:sp>
        <p:nvSpPr>
          <p:cNvPr id="10" name="Shape 8"/>
          <p:cNvSpPr/>
          <p:nvPr/>
        </p:nvSpPr>
        <p:spPr>
          <a:xfrm>
            <a:off x="5020056" y="1737360"/>
            <a:ext cx="2121408" cy="2286000"/>
          </a:xfrm>
          <a:prstGeom prst="roundRect">
            <a:avLst>
              <a:gd name="adj" fmla="val 3448"/>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1" name="Text 9"/>
          <p:cNvSpPr/>
          <p:nvPr/>
        </p:nvSpPr>
        <p:spPr>
          <a:xfrm>
            <a:off x="5157216" y="1874520"/>
            <a:ext cx="1847088" cy="45720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production_context</a:t>
            </a:r>
            <a:endParaRPr lang="en-US" sz="1300" dirty="0"/>
          </a:p>
        </p:txBody>
      </p:sp>
      <p:sp>
        <p:nvSpPr>
          <p:cNvPr id="12" name="Text 10"/>
          <p:cNvSpPr/>
          <p:nvPr/>
        </p:nvSpPr>
        <p:spPr>
          <a:xfrm>
            <a:off x="5157216" y="2331720"/>
            <a:ext cx="1847088" cy="155448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Work shift, load level, ambient temperature</a:t>
            </a:r>
            <a:endParaRPr lang="en-US" sz="1050" dirty="0"/>
          </a:p>
        </p:txBody>
      </p:sp>
      <p:sp>
        <p:nvSpPr>
          <p:cNvPr id="13" name="Shape 11"/>
          <p:cNvSpPr/>
          <p:nvPr/>
        </p:nvSpPr>
        <p:spPr>
          <a:xfrm>
            <a:off x="7278624" y="1737360"/>
            <a:ext cx="2121408" cy="2286000"/>
          </a:xfrm>
          <a:prstGeom prst="roundRect">
            <a:avLst>
              <a:gd name="adj" fmla="val 3448"/>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14" name="Text 12"/>
          <p:cNvSpPr/>
          <p:nvPr/>
        </p:nvSpPr>
        <p:spPr>
          <a:xfrm>
            <a:off x="7415784" y="1874520"/>
            <a:ext cx="1847088" cy="457200"/>
          </a:xfrm>
          <a:prstGeom prst="rect">
            <a:avLst/>
          </a:prstGeom>
          <a:noFill/>
          <a:ln/>
        </p:spPr>
        <p:txBody>
          <a:bodyPr wrap="square" rtlCol="0" anchor="ctr"/>
          <a:lstStyle/>
          <a:p>
            <a:pPr indent="0" marL="0">
              <a:buNone/>
            </a:pPr>
            <a:r>
              <a:rPr lang="en-US" sz="1300" b="1" dirty="0">
                <a:solidFill>
                  <a:srgbClr val="00B4A6"/>
                </a:solidFill>
                <a:latin typeface="Calibri" pitchFamily="34" charset="0"/>
                <a:ea typeface="Calibri" pitchFamily="34" charset="-122"/>
                <a:cs typeface="Calibri" pitchFamily="34" charset="-120"/>
              </a:rPr>
              <a:t>feature_windows</a:t>
            </a:r>
            <a:endParaRPr lang="en-US" sz="1300" dirty="0"/>
          </a:p>
        </p:txBody>
      </p:sp>
      <p:sp>
        <p:nvSpPr>
          <p:cNvPr id="15" name="Text 13"/>
          <p:cNvSpPr/>
          <p:nvPr/>
        </p:nvSpPr>
        <p:spPr>
          <a:xfrm>
            <a:off x="7415784" y="2331720"/>
            <a:ext cx="1847088" cy="1554480"/>
          </a:xfrm>
          <a:prstGeom prst="rect">
            <a:avLst/>
          </a:prstGeom>
          <a:noFill/>
          <a:ln/>
        </p:spPr>
        <p:txBody>
          <a:bodyPr wrap="square" rtlCol="0" anchor="ctr"/>
          <a:lstStyle/>
          <a:p>
            <a:pPr indent="0" marL="0">
              <a:buNone/>
            </a:pPr>
            <a:r>
              <a:rPr lang="en-US" sz="1050" dirty="0">
                <a:solidFill>
                  <a:srgbClr val="C9D6E3"/>
                </a:solidFill>
                <a:latin typeface="Calibri" pitchFamily="34" charset="0"/>
                <a:ea typeface="Calibri" pitchFamily="34" charset="-122"/>
                <a:cs typeface="Calibri" pitchFamily="34" charset="-120"/>
              </a:rPr>
              <a:t>Statistical &amp; spectral features per 30-second window</a:t>
            </a:r>
            <a:endParaRPr lang="en-US" sz="1050" dirty="0"/>
          </a:p>
        </p:txBody>
      </p:sp>
      <p:sp>
        <p:nvSpPr>
          <p:cNvPr id="16" name="Shape 14"/>
          <p:cNvSpPr/>
          <p:nvPr/>
        </p:nvSpPr>
        <p:spPr>
          <a:xfrm>
            <a:off x="9537192" y="1737360"/>
            <a:ext cx="2121408" cy="2286000"/>
          </a:xfrm>
          <a:prstGeom prst="roundRect">
            <a:avLst>
              <a:gd name="adj" fmla="val 3448"/>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17" name="Text 15"/>
          <p:cNvSpPr/>
          <p:nvPr/>
        </p:nvSpPr>
        <p:spPr>
          <a:xfrm>
            <a:off x="9674352" y="1874520"/>
            <a:ext cx="1847088" cy="457200"/>
          </a:xfrm>
          <a:prstGeom prst="rect">
            <a:avLst/>
          </a:prstGeom>
          <a:noFill/>
          <a:ln/>
        </p:spPr>
        <p:txBody>
          <a:bodyPr wrap="square" rtlCol="0" anchor="ctr"/>
          <a:lstStyle/>
          <a:p>
            <a:pPr indent="0" marL="0">
              <a:buNone/>
            </a:pPr>
            <a:r>
              <a:rPr lang="en-US" sz="1300" b="1" dirty="0">
                <a:solidFill>
                  <a:srgbClr val="00B4A6"/>
                </a:solidFill>
                <a:latin typeface="Calibri" pitchFamily="34" charset="0"/>
                <a:ea typeface="Calibri" pitchFamily="34" charset="-122"/>
                <a:cs typeface="Calibri" pitchFamily="34" charset="-120"/>
              </a:rPr>
              <a:t>prediction_results</a:t>
            </a:r>
            <a:endParaRPr lang="en-US" sz="1300" dirty="0"/>
          </a:p>
        </p:txBody>
      </p:sp>
      <p:sp>
        <p:nvSpPr>
          <p:cNvPr id="18" name="Text 16"/>
          <p:cNvSpPr/>
          <p:nvPr/>
        </p:nvSpPr>
        <p:spPr>
          <a:xfrm>
            <a:off x="9674352" y="2331720"/>
            <a:ext cx="1847088" cy="1554480"/>
          </a:xfrm>
          <a:prstGeom prst="rect">
            <a:avLst/>
          </a:prstGeom>
          <a:noFill/>
          <a:ln/>
        </p:spPr>
        <p:txBody>
          <a:bodyPr wrap="square" rtlCol="0" anchor="ctr"/>
          <a:lstStyle/>
          <a:p>
            <a:pPr indent="0" marL="0">
              <a:buNone/>
            </a:pPr>
            <a:r>
              <a:rPr lang="en-US" sz="1050" dirty="0">
                <a:solidFill>
                  <a:srgbClr val="C9D6E3"/>
                </a:solidFill>
                <a:latin typeface="Calibri" pitchFamily="34" charset="0"/>
                <a:ea typeface="Calibri" pitchFamily="34" charset="-122"/>
                <a:cs typeface="Calibri" pitchFamily="34" charset="-120"/>
              </a:rPr>
              <a:t>Output of 3 models + severity + SHAP explanation</a:t>
            </a:r>
            <a:endParaRPr lang="en-US" sz="1050" dirty="0"/>
          </a:p>
        </p:txBody>
      </p:sp>
      <p:sp>
        <p:nvSpPr>
          <p:cNvPr id="19" name="Shape 17"/>
          <p:cNvSpPr/>
          <p:nvPr/>
        </p:nvSpPr>
        <p:spPr>
          <a:xfrm>
            <a:off x="502920" y="4343400"/>
            <a:ext cx="11201400" cy="1417320"/>
          </a:xfrm>
          <a:prstGeom prst="roundRect">
            <a:avLst>
              <a:gd name="adj" fmla="val 5161"/>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20" name="Text 18"/>
          <p:cNvSpPr/>
          <p:nvPr/>
        </p:nvSpPr>
        <p:spPr>
          <a:xfrm>
            <a:off x="777240" y="4480560"/>
            <a:ext cx="10607040" cy="274320"/>
          </a:xfrm>
          <a:prstGeom prst="rect">
            <a:avLst/>
          </a:prstGeom>
          <a:noFill/>
          <a:ln/>
        </p:spPr>
        <p:txBody>
          <a:bodyPr wrap="square" rtlCol="0" anchor="ctr"/>
          <a:lstStyle/>
          <a:p>
            <a:pPr indent="0" marL="0">
              <a:buNone/>
            </a:pPr>
            <a:r>
              <a:rPr lang="en-US" sz="1100" b="1" spc="100" kern="0" dirty="0">
                <a:solidFill>
                  <a:srgbClr val="0B2545"/>
                </a:solidFill>
                <a:latin typeface="Calibri" pitchFamily="34" charset="0"/>
                <a:ea typeface="Calibri" pitchFamily="34" charset="-122"/>
                <a:cs typeface="Calibri" pitchFamily="34" charset="-120"/>
              </a:rPr>
              <a:t>WHY DOES RAW DATA ENTER WITHOUT CLEANING?</a:t>
            </a:r>
            <a:endParaRPr lang="en-US" sz="1100" dirty="0"/>
          </a:p>
        </p:txBody>
      </p:sp>
      <p:sp>
        <p:nvSpPr>
          <p:cNvPr id="21" name="Text 19"/>
          <p:cNvSpPr/>
          <p:nvPr/>
        </p:nvSpPr>
        <p:spPr>
          <a:xfrm>
            <a:off x="777240" y="4773168"/>
            <a:ext cx="10607040" cy="868680"/>
          </a:xfrm>
          <a:prstGeom prst="rect">
            <a:avLst/>
          </a:prstGeom>
          <a:noFill/>
          <a:ln/>
        </p:spPr>
        <p:txBody>
          <a:bodyPr wrap="square" rtlCol="0" anchor="ctr"/>
          <a:lstStyle/>
          <a:p>
            <a:pPr indent="0" marL="0">
              <a:buNone/>
            </a:pPr>
            <a:r>
              <a:rPr lang="en-US" sz="1200" dirty="0">
                <a:solidFill>
                  <a:srgbClr val="1A2233"/>
                </a:solidFill>
                <a:latin typeface="Calibri" pitchFamily="34" charset="0"/>
                <a:ea typeface="Calibri" pitchFamily="34" charset="-122"/>
                <a:cs typeface="Calibri" pitchFamily="34" charset="-120"/>
              </a:rPr>
              <a:t>This is intentional to simulate real factory floor conditions — sensors often experience dropouts, packet loss, and noise. This approach preserves the historical audit trail while testing the robustness of the automated cleaning pipeline.</a:t>
            </a:r>
            <a:endParaRPr lang="en-US" sz="1200" dirty="0"/>
          </a:p>
        </p:txBody>
      </p:sp>
      <p:sp>
        <p:nvSpPr>
          <p:cNvPr id="22" name="Text 20"/>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05</a:t>
            </a:r>
            <a:endParaRPr lang="en-US" sz="1000" dirty="0"/>
          </a:p>
        </p:txBody>
      </p:sp>
      <p:sp>
        <p:nvSpPr>
          <p:cNvPr id="23" name="Text 21"/>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03 · DATA PIPELINE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Multi-Format Ingestion (ETL)</a:t>
            </a:r>
            <a:endParaRPr lang="en-US" sz="2900" dirty="0"/>
          </a:p>
        </p:txBody>
      </p:sp>
      <p:sp>
        <p:nvSpPr>
          <p:cNvPr id="4" name="Shape 2"/>
          <p:cNvSpPr/>
          <p:nvPr/>
        </p:nvSpPr>
        <p:spPr>
          <a:xfrm>
            <a:off x="502920" y="1783080"/>
            <a:ext cx="3291840" cy="2103120"/>
          </a:xfrm>
          <a:prstGeom prst="roundRect">
            <a:avLst>
              <a:gd name="adj" fmla="val 3478"/>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Shape 3"/>
          <p:cNvSpPr/>
          <p:nvPr/>
        </p:nvSpPr>
        <p:spPr>
          <a:xfrm>
            <a:off x="731520" y="2011680"/>
            <a:ext cx="457200" cy="457200"/>
          </a:xfrm>
          <a:prstGeom prst="ellipse">
            <a:avLst/>
          </a:prstGeom>
          <a:solidFill>
            <a:srgbClr val="00B4A6"/>
          </a:solidFill>
          <a:ln/>
        </p:spPr>
        <p:txBody>
          <a:bodyPr/>
          <a:p/>
        </p:txBody>
      </p:sp>
      <p:sp>
        <p:nvSpPr>
          <p:cNvPr id="6" name="Text 4"/>
          <p:cNvSpPr/>
          <p:nvPr/>
        </p:nvSpPr>
        <p:spPr>
          <a:xfrm>
            <a:off x="731520" y="199339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731520" y="2606040"/>
            <a:ext cx="2834640" cy="32004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Paderborn</a:t>
            </a:r>
            <a:endParaRPr lang="en-US" sz="1500" dirty="0"/>
          </a:p>
        </p:txBody>
      </p:sp>
      <p:sp>
        <p:nvSpPr>
          <p:cNvPr id="8" name="Text 6"/>
          <p:cNvSpPr/>
          <p:nvPr/>
        </p:nvSpPr>
        <p:spPr>
          <a:xfrm>
            <a:off x="731520" y="2907792"/>
            <a:ext cx="2834640" cy="274320"/>
          </a:xfrm>
          <a:prstGeom prst="rect">
            <a:avLst/>
          </a:prstGeom>
          <a:noFill/>
          <a:ln/>
        </p:spPr>
        <p:txBody>
          <a:bodyPr wrap="square" rtlCol="0" anchor="ctr"/>
          <a:lstStyle/>
          <a:p>
            <a:pPr indent="0" marL="0">
              <a:buNone/>
            </a:pPr>
            <a:r>
              <a:rPr lang="en-US" sz="1100" i="1" dirty="0">
                <a:solidFill>
                  <a:srgbClr val="00B4A6"/>
                </a:solidFill>
                <a:latin typeface="Calibri" pitchFamily="34" charset="0"/>
                <a:ea typeface="Calibri" pitchFamily="34" charset="-122"/>
                <a:cs typeface="Calibri" pitchFamily="34" charset="-120"/>
              </a:rPr>
              <a:t>.mat (MATLAB)</a:t>
            </a:r>
            <a:endParaRPr lang="en-US" sz="1100" dirty="0"/>
          </a:p>
        </p:txBody>
      </p:sp>
      <p:sp>
        <p:nvSpPr>
          <p:cNvPr id="9" name="Text 7"/>
          <p:cNvSpPr/>
          <p:nvPr/>
        </p:nvSpPr>
        <p:spPr>
          <a:xfrm>
            <a:off x="731520" y="3218688"/>
            <a:ext cx="2834640" cy="64008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High-frequency vibration array (up to 64kHz) + electrical current</a:t>
            </a:r>
            <a:endParaRPr lang="en-US" sz="1050" dirty="0"/>
          </a:p>
        </p:txBody>
      </p:sp>
      <p:sp>
        <p:nvSpPr>
          <p:cNvPr id="10" name="Shape 8"/>
          <p:cNvSpPr/>
          <p:nvPr/>
        </p:nvSpPr>
        <p:spPr>
          <a:xfrm>
            <a:off x="4023360" y="1783080"/>
            <a:ext cx="3291840" cy="2103120"/>
          </a:xfrm>
          <a:prstGeom prst="roundRect">
            <a:avLst>
              <a:gd name="adj" fmla="val 3478"/>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1" name="Shape 9"/>
          <p:cNvSpPr/>
          <p:nvPr/>
        </p:nvSpPr>
        <p:spPr>
          <a:xfrm>
            <a:off x="4251960" y="2011680"/>
            <a:ext cx="457200" cy="457200"/>
          </a:xfrm>
          <a:prstGeom prst="ellipse">
            <a:avLst/>
          </a:prstGeom>
          <a:solidFill>
            <a:srgbClr val="00B4A6"/>
          </a:solidFill>
          <a:ln/>
        </p:spPr>
        <p:txBody>
          <a:bodyPr/>
          <a:p/>
        </p:txBody>
      </p:sp>
      <p:sp>
        <p:nvSpPr>
          <p:cNvPr id="12" name="Text 10"/>
          <p:cNvSpPr/>
          <p:nvPr/>
        </p:nvSpPr>
        <p:spPr>
          <a:xfrm>
            <a:off x="4251960" y="199339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251960" y="2606040"/>
            <a:ext cx="2834640" cy="32004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NASA IMS</a:t>
            </a:r>
            <a:endParaRPr lang="en-US" sz="1500" dirty="0"/>
          </a:p>
        </p:txBody>
      </p:sp>
      <p:sp>
        <p:nvSpPr>
          <p:cNvPr id="14" name="Text 12"/>
          <p:cNvSpPr/>
          <p:nvPr/>
        </p:nvSpPr>
        <p:spPr>
          <a:xfrm>
            <a:off x="4251960" y="2907792"/>
            <a:ext cx="2834640" cy="274320"/>
          </a:xfrm>
          <a:prstGeom prst="rect">
            <a:avLst/>
          </a:prstGeom>
          <a:noFill/>
          <a:ln/>
        </p:spPr>
        <p:txBody>
          <a:bodyPr wrap="square" rtlCol="0" anchor="ctr"/>
          <a:lstStyle/>
          <a:p>
            <a:pPr indent="0" marL="0">
              <a:buNone/>
            </a:pPr>
            <a:r>
              <a:rPr lang="en-US" sz="1100" i="1" dirty="0">
                <a:solidFill>
                  <a:srgbClr val="00B4A6"/>
                </a:solidFill>
                <a:latin typeface="Calibri" pitchFamily="34" charset="0"/>
                <a:ea typeface="Calibri" pitchFamily="34" charset="-122"/>
                <a:cs typeface="Calibri" pitchFamily="34" charset="-120"/>
              </a:rPr>
              <a:t>.txt tab-separated</a:t>
            </a:r>
            <a:endParaRPr lang="en-US" sz="1100" dirty="0"/>
          </a:p>
        </p:txBody>
      </p:sp>
      <p:sp>
        <p:nvSpPr>
          <p:cNvPr id="15" name="Text 13"/>
          <p:cNvSpPr/>
          <p:nvPr/>
        </p:nvSpPr>
        <p:spPr>
          <a:xfrm>
            <a:off x="4251960" y="3218688"/>
            <a:ext cx="2834640" cy="64008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File without headers, written every 10 minutes, 20,480 vibration rows/file</a:t>
            </a:r>
            <a:endParaRPr lang="en-US" sz="1050" dirty="0"/>
          </a:p>
        </p:txBody>
      </p:sp>
      <p:sp>
        <p:nvSpPr>
          <p:cNvPr id="16" name="Shape 14"/>
          <p:cNvSpPr/>
          <p:nvPr/>
        </p:nvSpPr>
        <p:spPr>
          <a:xfrm>
            <a:off x="7543800" y="1783080"/>
            <a:ext cx="3291840" cy="2103120"/>
          </a:xfrm>
          <a:prstGeom prst="roundRect">
            <a:avLst>
              <a:gd name="adj" fmla="val 3478"/>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7" name="Shape 15"/>
          <p:cNvSpPr/>
          <p:nvPr/>
        </p:nvSpPr>
        <p:spPr>
          <a:xfrm>
            <a:off x="7772400" y="2011680"/>
            <a:ext cx="457200" cy="457200"/>
          </a:xfrm>
          <a:prstGeom prst="ellipse">
            <a:avLst/>
          </a:prstGeom>
          <a:solidFill>
            <a:srgbClr val="00B4A6"/>
          </a:solidFill>
          <a:ln/>
        </p:spPr>
        <p:txBody>
          <a:bodyPr/>
          <a:p/>
        </p:txBody>
      </p:sp>
      <p:sp>
        <p:nvSpPr>
          <p:cNvPr id="18" name="Text 16"/>
          <p:cNvSpPr/>
          <p:nvPr/>
        </p:nvSpPr>
        <p:spPr>
          <a:xfrm>
            <a:off x="7772400" y="199339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7772400" y="2606040"/>
            <a:ext cx="2834640" cy="32004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NASA CMAPSS</a:t>
            </a:r>
            <a:endParaRPr lang="en-US" sz="1500" dirty="0"/>
          </a:p>
        </p:txBody>
      </p:sp>
      <p:sp>
        <p:nvSpPr>
          <p:cNvPr id="20" name="Text 18"/>
          <p:cNvSpPr/>
          <p:nvPr/>
        </p:nvSpPr>
        <p:spPr>
          <a:xfrm>
            <a:off x="7772400" y="2907792"/>
            <a:ext cx="2834640" cy="274320"/>
          </a:xfrm>
          <a:prstGeom prst="rect">
            <a:avLst/>
          </a:prstGeom>
          <a:noFill/>
          <a:ln/>
        </p:spPr>
        <p:txBody>
          <a:bodyPr wrap="square" rtlCol="0" anchor="ctr"/>
          <a:lstStyle/>
          <a:p>
            <a:pPr indent="0" marL="0">
              <a:buNone/>
            </a:pPr>
            <a:r>
              <a:rPr lang="en-US" sz="1100" i="1" dirty="0">
                <a:solidFill>
                  <a:srgbClr val="00B4A6"/>
                </a:solidFill>
                <a:latin typeface="Calibri" pitchFamily="34" charset="0"/>
                <a:ea typeface="Calibri" pitchFamily="34" charset="-122"/>
                <a:cs typeface="Calibri" pitchFamily="34" charset="-120"/>
              </a:rPr>
              <a:t>.txt space-separated</a:t>
            </a:r>
            <a:endParaRPr lang="en-US" sz="1100" dirty="0"/>
          </a:p>
        </p:txBody>
      </p:sp>
      <p:sp>
        <p:nvSpPr>
          <p:cNvPr id="21" name="Text 19"/>
          <p:cNvSpPr/>
          <p:nvPr/>
        </p:nvSpPr>
        <p:spPr>
          <a:xfrm>
            <a:off x="7772400" y="3218688"/>
            <a:ext cx="2834640" cy="64008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26 headerless sensor columns, run-to-failure cycle</a:t>
            </a:r>
            <a:endParaRPr lang="en-US" sz="1050" dirty="0"/>
          </a:p>
        </p:txBody>
      </p:sp>
      <p:sp>
        <p:nvSpPr>
          <p:cNvPr id="22" name="Text 20"/>
          <p:cNvSpPr/>
          <p:nvPr/>
        </p:nvSpPr>
        <p:spPr>
          <a:xfrm>
            <a:off x="502920" y="4069080"/>
            <a:ext cx="11201400" cy="365760"/>
          </a:xfrm>
          <a:prstGeom prst="rect">
            <a:avLst/>
          </a:prstGeom>
          <a:noFill/>
          <a:ln/>
        </p:spPr>
        <p:txBody>
          <a:bodyPr wrap="square" rtlCol="0" anchor="ctr"/>
          <a:lstStyle/>
          <a:p>
            <a:pPr algn="ctr" indent="0" marL="0">
              <a:buNone/>
            </a:pPr>
            <a:r>
              <a:rPr lang="en-US" sz="2000" b="1" dirty="0">
                <a:solidFill>
                  <a:srgbClr val="00B4A6"/>
                </a:solidFill>
                <a:latin typeface="Cambria" pitchFamily="34" charset="0"/>
                <a:ea typeface="Cambria" pitchFamily="34" charset="-122"/>
                <a:cs typeface="Cambria" pitchFamily="34" charset="-120"/>
              </a:rPr>
              <a:t>›  ›  ›</a:t>
            </a:r>
            <a:endParaRPr lang="en-US" sz="2000" dirty="0"/>
          </a:p>
        </p:txBody>
      </p:sp>
      <p:sp>
        <p:nvSpPr>
          <p:cNvPr id="23" name="Shape 21"/>
          <p:cNvSpPr/>
          <p:nvPr/>
        </p:nvSpPr>
        <p:spPr>
          <a:xfrm>
            <a:off x="3246120" y="4526280"/>
            <a:ext cx="5715000" cy="1097280"/>
          </a:xfrm>
          <a:prstGeom prst="roundRect">
            <a:avLst>
              <a:gd name="adj" fmla="val 6667"/>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24" name="Text 22"/>
          <p:cNvSpPr/>
          <p:nvPr/>
        </p:nvSpPr>
        <p:spPr>
          <a:xfrm>
            <a:off x="3429000" y="4709160"/>
            <a:ext cx="5394960" cy="7315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Normalize to Table Schema  →  raw_sensor_data</a:t>
            </a:r>
            <a:endParaRPr lang="en-US" sz="1400" dirty="0"/>
          </a:p>
        </p:txBody>
      </p:sp>
      <p:sp>
        <p:nvSpPr>
          <p:cNvPr id="25" name="Text 23"/>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06</a:t>
            </a:r>
            <a:endParaRPr lang="en-US" sz="1000" dirty="0"/>
          </a:p>
        </p:txBody>
      </p:sp>
      <p:sp>
        <p:nvSpPr>
          <p:cNvPr id="26" name="Text 24"/>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04 · CLEANING &amp; FEATURE PIPELINE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Cleaning Pipeline — 5 Automated Stages / 30 Seconds</a:t>
            </a:r>
            <a:endParaRPr lang="en-US" sz="2900" dirty="0"/>
          </a:p>
        </p:txBody>
      </p:sp>
      <p:sp>
        <p:nvSpPr>
          <p:cNvPr id="4" name="Shape 2"/>
          <p:cNvSpPr/>
          <p:nvPr/>
        </p:nvSpPr>
        <p:spPr>
          <a:xfrm>
            <a:off x="502920" y="1783080"/>
            <a:ext cx="2084832" cy="1554480"/>
          </a:xfrm>
          <a:prstGeom prst="roundRect">
            <a:avLst>
              <a:gd name="adj" fmla="val 4706"/>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5" name="Shape 3"/>
          <p:cNvSpPr/>
          <p:nvPr/>
        </p:nvSpPr>
        <p:spPr>
          <a:xfrm>
            <a:off x="1316736" y="1920240"/>
            <a:ext cx="457200" cy="457200"/>
          </a:xfrm>
          <a:prstGeom prst="ellipse">
            <a:avLst/>
          </a:prstGeom>
          <a:solidFill>
            <a:srgbClr val="00B4A6"/>
          </a:solidFill>
          <a:ln/>
        </p:spPr>
        <p:txBody>
          <a:bodyPr/>
          <a:p/>
        </p:txBody>
      </p:sp>
      <p:sp>
        <p:nvSpPr>
          <p:cNvPr id="6" name="Text 4"/>
          <p:cNvSpPr/>
          <p:nvPr/>
        </p:nvSpPr>
        <p:spPr>
          <a:xfrm>
            <a:off x="1316736" y="1901952"/>
            <a:ext cx="457200" cy="457200"/>
          </a:xfrm>
          <a:prstGeom prst="rect">
            <a:avLst/>
          </a:prstGeom>
          <a:noFill/>
          <a:ln/>
        </p:spPr>
        <p:txBody>
          <a:bodyPr wrap="square" rtlCol="0" anchor="ctr"/>
          <a:lstStyle/>
          <a:p>
            <a:pPr algn="ctr" indent="0" marL="0">
              <a:buNone/>
            </a:pPr>
            <a:r>
              <a:rPr lang="en-US" sz="1600" b="1" dirty="0">
                <a:solidFill>
                  <a:srgbClr val="0B2545"/>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612648" y="2468880"/>
            <a:ext cx="1865376" cy="7772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Remove Timestamp</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Duplications</a:t>
            </a:r>
            <a:endParaRPr lang="en-US" sz="1150" dirty="0"/>
          </a:p>
        </p:txBody>
      </p:sp>
      <p:sp>
        <p:nvSpPr>
          <p:cNvPr id="8" name="Text 6"/>
          <p:cNvSpPr/>
          <p:nvPr/>
        </p:nvSpPr>
        <p:spPr>
          <a:xfrm>
            <a:off x="2587752" y="2148840"/>
            <a:ext cx="146304" cy="457200"/>
          </a:xfrm>
          <a:prstGeom prst="rect">
            <a:avLst/>
          </a:prstGeom>
          <a:noFill/>
          <a:ln/>
        </p:spPr>
        <p:txBody>
          <a:bodyPr wrap="square" rtlCol="0" anchor="ctr"/>
          <a:lstStyle/>
          <a:p>
            <a:pPr algn="ctr" indent="0" marL="0">
              <a:buNone/>
            </a:pPr>
            <a:r>
              <a:rPr lang="en-US" sz="2000" b="1" dirty="0">
                <a:solidFill>
                  <a:srgbClr val="00B4A6"/>
                </a:solidFill>
                <a:latin typeface="Cambria" pitchFamily="34" charset="0"/>
                <a:ea typeface="Cambria" pitchFamily="34" charset="-122"/>
                <a:cs typeface="Cambria" pitchFamily="34" charset="-120"/>
              </a:rPr>
              <a:t>›</a:t>
            </a:r>
            <a:endParaRPr lang="en-US" sz="2000" dirty="0"/>
          </a:p>
        </p:txBody>
      </p:sp>
      <p:sp>
        <p:nvSpPr>
          <p:cNvPr id="9" name="Shape 7"/>
          <p:cNvSpPr/>
          <p:nvPr/>
        </p:nvSpPr>
        <p:spPr>
          <a:xfrm>
            <a:off x="2715768" y="1783080"/>
            <a:ext cx="2084832" cy="1554480"/>
          </a:xfrm>
          <a:prstGeom prst="roundRect">
            <a:avLst>
              <a:gd name="adj" fmla="val 4706"/>
            </a:avLst>
          </a:prstGeom>
          <a:solidFill>
            <a:srgbClr val="13315C"/>
          </a:solidFill>
          <a:ln/>
          <a:effectLst>
            <a:outerShdw sx="100000" sy="100000" kx="0" ky="0" algn="bl" rotWithShape="0" blurRad="76200" dist="25400" dir="5400000">
              <a:srgbClr val="9AA5B1">
                <a:alpha val="25000"/>
              </a:srgbClr>
            </a:outerShdw>
          </a:effectLst>
        </p:spPr>
        <p:txBody>
          <a:bodyPr/>
          <a:p/>
        </p:txBody>
      </p:sp>
      <p:sp>
        <p:nvSpPr>
          <p:cNvPr id="10" name="Shape 8"/>
          <p:cNvSpPr/>
          <p:nvPr/>
        </p:nvSpPr>
        <p:spPr>
          <a:xfrm>
            <a:off x="3529584" y="1920240"/>
            <a:ext cx="457200" cy="457200"/>
          </a:xfrm>
          <a:prstGeom prst="ellipse">
            <a:avLst/>
          </a:prstGeom>
          <a:solidFill>
            <a:srgbClr val="00B4A6"/>
          </a:solidFill>
          <a:ln/>
        </p:spPr>
        <p:txBody>
          <a:bodyPr/>
          <a:p/>
        </p:txBody>
      </p:sp>
      <p:sp>
        <p:nvSpPr>
          <p:cNvPr id="11" name="Text 9"/>
          <p:cNvSpPr/>
          <p:nvPr/>
        </p:nvSpPr>
        <p:spPr>
          <a:xfrm>
            <a:off x="3529584" y="1901952"/>
            <a:ext cx="457200" cy="457200"/>
          </a:xfrm>
          <a:prstGeom prst="rect">
            <a:avLst/>
          </a:prstGeom>
          <a:noFill/>
          <a:ln/>
        </p:spPr>
        <p:txBody>
          <a:bodyPr wrap="square" rtlCol="0" anchor="ctr"/>
          <a:lstStyle/>
          <a:p>
            <a:pPr algn="ctr" indent="0" marL="0">
              <a:buNone/>
            </a:pPr>
            <a:r>
              <a:rPr lang="en-US" sz="1600" b="1" dirty="0">
                <a:solidFill>
                  <a:srgbClr val="0B2545"/>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2825496" y="2468880"/>
            <a:ext cx="1865376" cy="7772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Physical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Clipping → NULL</a:t>
            </a:r>
            <a:endParaRPr lang="en-US" sz="1150" dirty="0"/>
          </a:p>
        </p:txBody>
      </p:sp>
      <p:sp>
        <p:nvSpPr>
          <p:cNvPr id="13" name="Text 11"/>
          <p:cNvSpPr/>
          <p:nvPr/>
        </p:nvSpPr>
        <p:spPr>
          <a:xfrm>
            <a:off x="4800600" y="2148840"/>
            <a:ext cx="146304" cy="457200"/>
          </a:xfrm>
          <a:prstGeom prst="rect">
            <a:avLst/>
          </a:prstGeom>
          <a:noFill/>
          <a:ln/>
        </p:spPr>
        <p:txBody>
          <a:bodyPr wrap="square" rtlCol="0" anchor="ctr"/>
          <a:lstStyle/>
          <a:p>
            <a:pPr algn="ctr" indent="0" marL="0">
              <a:buNone/>
            </a:pPr>
            <a:r>
              <a:rPr lang="en-US" sz="2000" b="1" dirty="0">
                <a:solidFill>
                  <a:srgbClr val="00B4A6"/>
                </a:solidFill>
                <a:latin typeface="Cambria" pitchFamily="34" charset="0"/>
                <a:ea typeface="Cambria" pitchFamily="34" charset="-122"/>
                <a:cs typeface="Cambria" pitchFamily="34" charset="-120"/>
              </a:rPr>
              <a:t>›</a:t>
            </a:r>
            <a:endParaRPr lang="en-US" sz="2000" dirty="0"/>
          </a:p>
        </p:txBody>
      </p:sp>
      <p:sp>
        <p:nvSpPr>
          <p:cNvPr id="14" name="Shape 12"/>
          <p:cNvSpPr/>
          <p:nvPr/>
        </p:nvSpPr>
        <p:spPr>
          <a:xfrm>
            <a:off x="4928616" y="1783080"/>
            <a:ext cx="2084832" cy="1554480"/>
          </a:xfrm>
          <a:prstGeom prst="roundRect">
            <a:avLst>
              <a:gd name="adj" fmla="val 4706"/>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15" name="Shape 13"/>
          <p:cNvSpPr/>
          <p:nvPr/>
        </p:nvSpPr>
        <p:spPr>
          <a:xfrm>
            <a:off x="5742432" y="1920240"/>
            <a:ext cx="457200" cy="457200"/>
          </a:xfrm>
          <a:prstGeom prst="ellipse">
            <a:avLst/>
          </a:prstGeom>
          <a:solidFill>
            <a:srgbClr val="00B4A6"/>
          </a:solidFill>
          <a:ln/>
        </p:spPr>
        <p:txBody>
          <a:bodyPr/>
          <a:p/>
        </p:txBody>
      </p:sp>
      <p:sp>
        <p:nvSpPr>
          <p:cNvPr id="16" name="Text 14"/>
          <p:cNvSpPr/>
          <p:nvPr/>
        </p:nvSpPr>
        <p:spPr>
          <a:xfrm>
            <a:off x="5742432" y="1901952"/>
            <a:ext cx="457200" cy="457200"/>
          </a:xfrm>
          <a:prstGeom prst="rect">
            <a:avLst/>
          </a:prstGeom>
          <a:noFill/>
          <a:ln/>
        </p:spPr>
        <p:txBody>
          <a:bodyPr wrap="square" rtlCol="0" anchor="ctr"/>
          <a:lstStyle/>
          <a:p>
            <a:pPr algn="ctr" indent="0" marL="0">
              <a:buNone/>
            </a:pPr>
            <a:r>
              <a:rPr lang="en-US" sz="1600" b="1" dirty="0">
                <a:solidFill>
                  <a:srgbClr val="0B2545"/>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5038344" y="2468880"/>
            <a:ext cx="1865376" cy="7772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Adaptive Imputation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(interpolate/ffill)</a:t>
            </a:r>
            <a:endParaRPr lang="en-US" sz="1150" dirty="0"/>
          </a:p>
        </p:txBody>
      </p:sp>
      <p:sp>
        <p:nvSpPr>
          <p:cNvPr id="18" name="Text 16"/>
          <p:cNvSpPr/>
          <p:nvPr/>
        </p:nvSpPr>
        <p:spPr>
          <a:xfrm>
            <a:off x="7013448" y="2148840"/>
            <a:ext cx="146304" cy="457200"/>
          </a:xfrm>
          <a:prstGeom prst="rect">
            <a:avLst/>
          </a:prstGeom>
          <a:noFill/>
          <a:ln/>
        </p:spPr>
        <p:txBody>
          <a:bodyPr wrap="square" rtlCol="0" anchor="ctr"/>
          <a:lstStyle/>
          <a:p>
            <a:pPr algn="ctr" indent="0" marL="0">
              <a:buNone/>
            </a:pPr>
            <a:r>
              <a:rPr lang="en-US" sz="2000" b="1" dirty="0">
                <a:solidFill>
                  <a:srgbClr val="00B4A6"/>
                </a:solidFill>
                <a:latin typeface="Cambria" pitchFamily="34" charset="0"/>
                <a:ea typeface="Cambria" pitchFamily="34" charset="-122"/>
                <a:cs typeface="Cambria" pitchFamily="34" charset="-120"/>
              </a:rPr>
              <a:t>›</a:t>
            </a:r>
            <a:endParaRPr lang="en-US" sz="2000" dirty="0"/>
          </a:p>
        </p:txBody>
      </p:sp>
      <p:sp>
        <p:nvSpPr>
          <p:cNvPr id="19" name="Shape 17"/>
          <p:cNvSpPr/>
          <p:nvPr/>
        </p:nvSpPr>
        <p:spPr>
          <a:xfrm>
            <a:off x="7141464" y="1783080"/>
            <a:ext cx="2084832" cy="1554480"/>
          </a:xfrm>
          <a:prstGeom prst="roundRect">
            <a:avLst>
              <a:gd name="adj" fmla="val 4706"/>
            </a:avLst>
          </a:prstGeom>
          <a:solidFill>
            <a:srgbClr val="13315C"/>
          </a:solidFill>
          <a:ln/>
          <a:effectLst>
            <a:outerShdw sx="100000" sy="100000" kx="0" ky="0" algn="bl" rotWithShape="0" blurRad="76200" dist="25400" dir="5400000">
              <a:srgbClr val="9AA5B1">
                <a:alpha val="25000"/>
              </a:srgbClr>
            </a:outerShdw>
          </a:effectLst>
        </p:spPr>
        <p:txBody>
          <a:bodyPr/>
          <a:p/>
        </p:txBody>
      </p:sp>
      <p:sp>
        <p:nvSpPr>
          <p:cNvPr id="20" name="Shape 18"/>
          <p:cNvSpPr/>
          <p:nvPr/>
        </p:nvSpPr>
        <p:spPr>
          <a:xfrm>
            <a:off x="7955280" y="1920240"/>
            <a:ext cx="457200" cy="457200"/>
          </a:xfrm>
          <a:prstGeom prst="ellipse">
            <a:avLst/>
          </a:prstGeom>
          <a:solidFill>
            <a:srgbClr val="00B4A6"/>
          </a:solidFill>
          <a:ln/>
        </p:spPr>
        <p:txBody>
          <a:bodyPr/>
          <a:p/>
        </p:txBody>
      </p:sp>
      <p:sp>
        <p:nvSpPr>
          <p:cNvPr id="21" name="Text 19"/>
          <p:cNvSpPr/>
          <p:nvPr/>
        </p:nvSpPr>
        <p:spPr>
          <a:xfrm>
            <a:off x="7955280" y="1901952"/>
            <a:ext cx="457200" cy="457200"/>
          </a:xfrm>
          <a:prstGeom prst="rect">
            <a:avLst/>
          </a:prstGeom>
          <a:noFill/>
          <a:ln/>
        </p:spPr>
        <p:txBody>
          <a:bodyPr wrap="square" rtlCol="0" anchor="ctr"/>
          <a:lstStyle/>
          <a:p>
            <a:pPr algn="ctr" indent="0" marL="0">
              <a:buNone/>
            </a:pPr>
            <a:r>
              <a:rPr lang="en-US" sz="1600" b="1" dirty="0">
                <a:solidFill>
                  <a:srgbClr val="0B2545"/>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251192" y="2468880"/>
            <a:ext cx="1865376" cy="7772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Time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Synchronization (round 1s)</a:t>
            </a:r>
            <a:endParaRPr lang="en-US" sz="1150" dirty="0"/>
          </a:p>
        </p:txBody>
      </p:sp>
      <p:sp>
        <p:nvSpPr>
          <p:cNvPr id="23" name="Text 21"/>
          <p:cNvSpPr/>
          <p:nvPr/>
        </p:nvSpPr>
        <p:spPr>
          <a:xfrm>
            <a:off x="9226296" y="2148840"/>
            <a:ext cx="146304" cy="457200"/>
          </a:xfrm>
          <a:prstGeom prst="rect">
            <a:avLst/>
          </a:prstGeom>
          <a:noFill/>
          <a:ln/>
        </p:spPr>
        <p:txBody>
          <a:bodyPr wrap="square" rtlCol="0" anchor="ctr"/>
          <a:lstStyle/>
          <a:p>
            <a:pPr algn="ctr" indent="0" marL="0">
              <a:buNone/>
            </a:pPr>
            <a:r>
              <a:rPr lang="en-US" sz="2000" b="1" dirty="0">
                <a:solidFill>
                  <a:srgbClr val="00B4A6"/>
                </a:solidFill>
                <a:latin typeface="Cambria" pitchFamily="34" charset="0"/>
                <a:ea typeface="Cambria" pitchFamily="34" charset="-122"/>
                <a:cs typeface="Cambria" pitchFamily="34" charset="-120"/>
              </a:rPr>
              <a:t>›</a:t>
            </a:r>
            <a:endParaRPr lang="en-US" sz="2000" dirty="0"/>
          </a:p>
        </p:txBody>
      </p:sp>
      <p:sp>
        <p:nvSpPr>
          <p:cNvPr id="24" name="Shape 22"/>
          <p:cNvSpPr/>
          <p:nvPr/>
        </p:nvSpPr>
        <p:spPr>
          <a:xfrm>
            <a:off x="9354312" y="1783080"/>
            <a:ext cx="2084832" cy="1554480"/>
          </a:xfrm>
          <a:prstGeom prst="roundRect">
            <a:avLst>
              <a:gd name="adj" fmla="val 4706"/>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25" name="Shape 23"/>
          <p:cNvSpPr/>
          <p:nvPr/>
        </p:nvSpPr>
        <p:spPr>
          <a:xfrm>
            <a:off x="10168128" y="1920240"/>
            <a:ext cx="457200" cy="457200"/>
          </a:xfrm>
          <a:prstGeom prst="ellipse">
            <a:avLst/>
          </a:prstGeom>
          <a:solidFill>
            <a:srgbClr val="00B4A6"/>
          </a:solidFill>
          <a:ln/>
        </p:spPr>
        <p:txBody>
          <a:bodyPr/>
          <a:p/>
        </p:txBody>
      </p:sp>
      <p:sp>
        <p:nvSpPr>
          <p:cNvPr id="26" name="Text 24"/>
          <p:cNvSpPr/>
          <p:nvPr/>
        </p:nvSpPr>
        <p:spPr>
          <a:xfrm>
            <a:off x="10168128" y="1901952"/>
            <a:ext cx="457200" cy="457200"/>
          </a:xfrm>
          <a:prstGeom prst="rect">
            <a:avLst/>
          </a:prstGeom>
          <a:noFill/>
          <a:ln/>
        </p:spPr>
        <p:txBody>
          <a:bodyPr wrap="square" rtlCol="0" anchor="ctr"/>
          <a:lstStyle/>
          <a:p>
            <a:pPr algn="ctr" indent="0" marL="0">
              <a:buNone/>
            </a:pPr>
            <a:r>
              <a:rPr lang="en-US" sz="1600" b="1" dirty="0">
                <a:solidFill>
                  <a:srgbClr val="0B2545"/>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9464040" y="2468880"/>
            <a:ext cx="1865376" cy="7772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Butterworth</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Low-Pass Filter</a:t>
            </a:r>
            <a:endParaRPr lang="en-US" sz="1150" dirty="0"/>
          </a:p>
        </p:txBody>
      </p:sp>
      <p:sp>
        <p:nvSpPr>
          <p:cNvPr id="28" name="Text 26"/>
          <p:cNvSpPr/>
          <p:nvPr/>
        </p:nvSpPr>
        <p:spPr>
          <a:xfrm>
            <a:off x="502920" y="3703320"/>
            <a:ext cx="5486400" cy="32004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Physical Limit Thresholds</a:t>
            </a:r>
            <a:endParaRPr lang="en-US" sz="1500" dirty="0"/>
          </a:p>
        </p:txBody>
      </p:sp>
      <p:sp>
        <p:nvSpPr>
          <p:cNvPr id="29" name="Shape 27"/>
          <p:cNvSpPr/>
          <p:nvPr/>
        </p:nvSpPr>
        <p:spPr>
          <a:xfrm>
            <a:off x="502920" y="4114800"/>
            <a:ext cx="2377440" cy="960120"/>
          </a:xfrm>
          <a:prstGeom prst="roundRect">
            <a:avLst>
              <a:gd name="adj" fmla="val 7619"/>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30" name="Text 28"/>
          <p:cNvSpPr/>
          <p:nvPr/>
        </p:nvSpPr>
        <p:spPr>
          <a:xfrm>
            <a:off x="685800" y="4206240"/>
            <a:ext cx="2011680" cy="27432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Temperature</a:t>
            </a:r>
            <a:endParaRPr lang="en-US" sz="1100" dirty="0"/>
          </a:p>
        </p:txBody>
      </p:sp>
      <p:sp>
        <p:nvSpPr>
          <p:cNvPr id="31" name="Text 29"/>
          <p:cNvSpPr/>
          <p:nvPr/>
        </p:nvSpPr>
        <p:spPr>
          <a:xfrm>
            <a:off x="685800" y="4480560"/>
            <a:ext cx="2103120" cy="457200"/>
          </a:xfrm>
          <a:prstGeom prst="rect">
            <a:avLst/>
          </a:prstGeom>
          <a:noFill/>
          <a:ln/>
        </p:spPr>
        <p:txBody>
          <a:bodyPr wrap="square"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0°C – 200°C</a:t>
            </a:r>
            <a:endParaRPr lang="en-US" sz="1700" dirty="0"/>
          </a:p>
        </p:txBody>
      </p:sp>
      <p:sp>
        <p:nvSpPr>
          <p:cNvPr id="32" name="Shape 30"/>
          <p:cNvSpPr/>
          <p:nvPr/>
        </p:nvSpPr>
        <p:spPr>
          <a:xfrm>
            <a:off x="3108960" y="4114800"/>
            <a:ext cx="2377440" cy="960120"/>
          </a:xfrm>
          <a:prstGeom prst="roundRect">
            <a:avLst>
              <a:gd name="adj" fmla="val 7619"/>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33" name="Text 31"/>
          <p:cNvSpPr/>
          <p:nvPr/>
        </p:nvSpPr>
        <p:spPr>
          <a:xfrm>
            <a:off x="3291840" y="4206240"/>
            <a:ext cx="2011680" cy="27432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Vibration</a:t>
            </a:r>
            <a:endParaRPr lang="en-US" sz="1100" dirty="0"/>
          </a:p>
        </p:txBody>
      </p:sp>
      <p:sp>
        <p:nvSpPr>
          <p:cNvPr id="34" name="Text 32"/>
          <p:cNvSpPr/>
          <p:nvPr/>
        </p:nvSpPr>
        <p:spPr>
          <a:xfrm>
            <a:off x="3291840" y="4480560"/>
            <a:ext cx="2103120" cy="457200"/>
          </a:xfrm>
          <a:prstGeom prst="rect">
            <a:avLst/>
          </a:prstGeom>
          <a:noFill/>
          <a:ln/>
        </p:spPr>
        <p:txBody>
          <a:bodyPr wrap="square"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-50 – 50 mm/s</a:t>
            </a:r>
            <a:endParaRPr lang="en-US" sz="1700" dirty="0"/>
          </a:p>
        </p:txBody>
      </p:sp>
      <p:sp>
        <p:nvSpPr>
          <p:cNvPr id="35" name="Shape 33"/>
          <p:cNvSpPr/>
          <p:nvPr/>
        </p:nvSpPr>
        <p:spPr>
          <a:xfrm>
            <a:off x="5715000" y="4114800"/>
            <a:ext cx="2377440" cy="960120"/>
          </a:xfrm>
          <a:prstGeom prst="roundRect">
            <a:avLst>
              <a:gd name="adj" fmla="val 7619"/>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36" name="Text 34"/>
          <p:cNvSpPr/>
          <p:nvPr/>
        </p:nvSpPr>
        <p:spPr>
          <a:xfrm>
            <a:off x="5897880" y="4206240"/>
            <a:ext cx="2011680" cy="27432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Motor Current</a:t>
            </a:r>
            <a:endParaRPr lang="en-US" sz="1100" dirty="0"/>
          </a:p>
        </p:txBody>
      </p:sp>
      <p:sp>
        <p:nvSpPr>
          <p:cNvPr id="37" name="Text 35"/>
          <p:cNvSpPr/>
          <p:nvPr/>
        </p:nvSpPr>
        <p:spPr>
          <a:xfrm>
            <a:off x="5897880" y="4480560"/>
            <a:ext cx="2103120" cy="457200"/>
          </a:xfrm>
          <a:prstGeom prst="rect">
            <a:avLst/>
          </a:prstGeom>
          <a:noFill/>
          <a:ln/>
        </p:spPr>
        <p:txBody>
          <a:bodyPr wrap="square"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0 – 100 A</a:t>
            </a:r>
            <a:endParaRPr lang="en-US" sz="1700" dirty="0"/>
          </a:p>
        </p:txBody>
      </p:sp>
      <p:sp>
        <p:nvSpPr>
          <p:cNvPr id="38" name="Shape 36"/>
          <p:cNvSpPr/>
          <p:nvPr/>
        </p:nvSpPr>
        <p:spPr>
          <a:xfrm>
            <a:off x="8229600" y="4114800"/>
            <a:ext cx="3017520" cy="960120"/>
          </a:xfrm>
          <a:prstGeom prst="roundRect">
            <a:avLst>
              <a:gd name="adj" fmla="val 7619"/>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39" name="Text 37"/>
          <p:cNvSpPr/>
          <p:nvPr/>
        </p:nvSpPr>
        <p:spPr>
          <a:xfrm>
            <a:off x="8412480" y="4206240"/>
            <a:ext cx="2697480" cy="822960"/>
          </a:xfrm>
          <a:prstGeom prst="rect">
            <a:avLst/>
          </a:prstGeom>
          <a:noFill/>
          <a:ln/>
        </p:spPr>
        <p:txBody>
          <a:bodyPr wrap="square" rtlCol="0" anchor="ctr"/>
          <a:lstStyle/>
          <a:p>
            <a:pPr indent="0" marL="0">
              <a:buNone/>
            </a:pPr>
            <a:r>
              <a:rPr lang="en-US" sz="1000" dirty="0">
                <a:solidFill>
                  <a:srgbClr val="1A2233"/>
                </a:solidFill>
                <a:latin typeface="Calibri" pitchFamily="34" charset="0"/>
                <a:ea typeface="Calibri" pitchFamily="34" charset="-122"/>
                <a:cs typeface="Calibri" pitchFamily="34" charset="-120"/>
              </a:rPr>
              <a:t>Imputation based on % missing data: &lt;30% interpolation, 30–70% forward-fill, &gt;70% left as NULL (sensor disconnected).</a:t>
            </a:r>
            <a:endParaRPr lang="en-US" sz="1000" dirty="0"/>
          </a:p>
        </p:txBody>
      </p:sp>
      <p:sp>
        <p:nvSpPr>
          <p:cNvPr id="40" name="Text 38"/>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07</a:t>
            </a:r>
            <a:endParaRPr lang="en-US" sz="1000" dirty="0"/>
          </a:p>
        </p:txBody>
      </p:sp>
      <p:sp>
        <p:nvSpPr>
          <p:cNvPr id="41" name="Text 39"/>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04 · CLEANING &amp; FEATURE PIPELINE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Feature Engineering — 25 Features / 30-Second Window</a:t>
            </a:r>
            <a:endParaRPr lang="en-US" sz="2900" dirty="0"/>
          </a:p>
        </p:txBody>
      </p:sp>
      <p:sp>
        <p:nvSpPr>
          <p:cNvPr id="4" name="Shape 2"/>
          <p:cNvSpPr/>
          <p:nvPr/>
        </p:nvSpPr>
        <p:spPr>
          <a:xfrm>
            <a:off x="502920" y="1783080"/>
            <a:ext cx="3611880" cy="3977640"/>
          </a:xfrm>
          <a:prstGeom prst="roundRect">
            <a:avLst>
              <a:gd name="adj" fmla="val 2025"/>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Shape 3"/>
          <p:cNvSpPr/>
          <p:nvPr/>
        </p:nvSpPr>
        <p:spPr>
          <a:xfrm>
            <a:off x="502920" y="1783080"/>
            <a:ext cx="3611880" cy="82296"/>
          </a:xfrm>
          <a:prstGeom prst="rect">
            <a:avLst/>
          </a:prstGeom>
          <a:solidFill>
            <a:srgbClr val="00B4A6"/>
          </a:solidFill>
          <a:ln/>
        </p:spPr>
        <p:txBody>
          <a:bodyPr/>
          <a:p/>
        </p:txBody>
      </p:sp>
      <p:sp>
        <p:nvSpPr>
          <p:cNvPr id="6" name="Text 4"/>
          <p:cNvSpPr/>
          <p:nvPr/>
        </p:nvSpPr>
        <p:spPr>
          <a:xfrm>
            <a:off x="731520" y="2011680"/>
            <a:ext cx="3154680" cy="502920"/>
          </a:xfrm>
          <a:prstGeom prst="rect">
            <a:avLst/>
          </a:prstGeom>
          <a:noFill/>
          <a:ln/>
        </p:spPr>
        <p:txBody>
          <a:bodyPr wrap="square"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Statistical Features</a:t>
            </a:r>
            <a:endParaRPr lang="en-US" sz="1550" dirty="0"/>
          </a:p>
        </p:txBody>
      </p:sp>
      <p:sp>
        <p:nvSpPr>
          <p:cNvPr id="7" name="Text 5"/>
          <p:cNvSpPr/>
          <p:nvPr/>
        </p:nvSpPr>
        <p:spPr>
          <a:xfrm>
            <a:off x="731520" y="2560320"/>
            <a:ext cx="3154680" cy="822960"/>
          </a:xfrm>
          <a:prstGeom prst="rect">
            <a:avLst/>
          </a:prstGeom>
          <a:noFill/>
          <a:ln/>
        </p:spPr>
        <p:txBody>
          <a:bodyPr wrap="square" rtlCol="0" anchor="ctr"/>
          <a:lstStyle/>
          <a:p>
            <a:pPr indent="0" marL="0">
              <a:buNone/>
            </a:pPr>
            <a:r>
              <a:rPr lang="en-US" sz="1050" i="1" dirty="0">
                <a:solidFill>
                  <a:srgbClr val="00B4A6"/>
                </a:solidFill>
                <a:latin typeface="Calibri" pitchFamily="34" charset="0"/>
                <a:ea typeface="Calibri" pitchFamily="34" charset="-122"/>
                <a:cs typeface="Calibri" pitchFamily="34" charset="-120"/>
              </a:rPr>
              <a:t>temp_mean, temp_slope, current_mean, rpm_mean, torque_mean, etc.</a:t>
            </a:r>
            <a:endParaRPr lang="en-US" sz="1050" dirty="0"/>
          </a:p>
        </p:txBody>
      </p:sp>
      <p:sp>
        <p:nvSpPr>
          <p:cNvPr id="8" name="Text 6"/>
          <p:cNvSpPr/>
          <p:nvPr/>
        </p:nvSpPr>
        <p:spPr>
          <a:xfrm>
            <a:off x="731520" y="3429000"/>
            <a:ext cx="3154680" cy="2194560"/>
          </a:xfrm>
          <a:prstGeom prst="rect">
            <a:avLst/>
          </a:prstGeom>
          <a:noFill/>
          <a:ln/>
        </p:spPr>
        <p:txBody>
          <a:bodyPr wrap="square" rtlCol="0" anchor="ctr"/>
          <a:lstStyle/>
          <a:p>
            <a:pPr indent="0" marL="0">
              <a:buNone/>
            </a:pPr>
            <a:r>
              <a:rPr lang="en-US" sz="1150" dirty="0">
                <a:solidFill>
                  <a:srgbClr val="1A2233"/>
                </a:solidFill>
                <a:latin typeface="Calibri" pitchFamily="34" charset="0"/>
                <a:ea typeface="Calibri" pitchFamily="34" charset="-122"/>
                <a:cs typeface="Calibri" pitchFamily="34" charset="-120"/>
              </a:rPr>
              <a:t>Mean/std indicate shifts in baseline load; slope captures the linear heating trend.</a:t>
            </a:r>
            <a:endParaRPr lang="en-US" sz="1150" dirty="0"/>
          </a:p>
        </p:txBody>
      </p:sp>
      <p:sp>
        <p:nvSpPr>
          <p:cNvPr id="9" name="Shape 7"/>
          <p:cNvSpPr/>
          <p:nvPr/>
        </p:nvSpPr>
        <p:spPr>
          <a:xfrm>
            <a:off x="4297680" y="1783080"/>
            <a:ext cx="3611880" cy="3977640"/>
          </a:xfrm>
          <a:prstGeom prst="roundRect">
            <a:avLst>
              <a:gd name="adj" fmla="val 2025"/>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0" name="Shape 8"/>
          <p:cNvSpPr/>
          <p:nvPr/>
        </p:nvSpPr>
        <p:spPr>
          <a:xfrm>
            <a:off x="4297680" y="1783080"/>
            <a:ext cx="3611880" cy="82296"/>
          </a:xfrm>
          <a:prstGeom prst="rect">
            <a:avLst/>
          </a:prstGeom>
          <a:solidFill>
            <a:srgbClr val="F4A527"/>
          </a:solidFill>
          <a:ln/>
        </p:spPr>
        <p:txBody>
          <a:bodyPr/>
          <a:p/>
        </p:txBody>
      </p:sp>
      <p:sp>
        <p:nvSpPr>
          <p:cNvPr id="11" name="Text 9"/>
          <p:cNvSpPr/>
          <p:nvPr/>
        </p:nvSpPr>
        <p:spPr>
          <a:xfrm>
            <a:off x="4526280" y="2011680"/>
            <a:ext cx="3154680" cy="502920"/>
          </a:xfrm>
          <a:prstGeom prst="rect">
            <a:avLst/>
          </a:prstGeom>
          <a:noFill/>
          <a:ln/>
        </p:spPr>
        <p:txBody>
          <a:bodyPr wrap="square"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Signal-based Features</a:t>
            </a:r>
            <a:endParaRPr lang="en-US" sz="1550" dirty="0"/>
          </a:p>
        </p:txBody>
      </p:sp>
      <p:sp>
        <p:nvSpPr>
          <p:cNvPr id="12" name="Text 10"/>
          <p:cNvSpPr/>
          <p:nvPr/>
        </p:nvSpPr>
        <p:spPr>
          <a:xfrm>
            <a:off x="4526280" y="2560320"/>
            <a:ext cx="3154680" cy="822960"/>
          </a:xfrm>
          <a:prstGeom prst="rect">
            <a:avLst/>
          </a:prstGeom>
          <a:noFill/>
          <a:ln/>
        </p:spPr>
        <p:txBody>
          <a:bodyPr wrap="square" rtlCol="0" anchor="ctr"/>
          <a:lstStyle/>
          <a:p>
            <a:pPr indent="0" marL="0">
              <a:buNone/>
            </a:pPr>
            <a:r>
              <a:rPr lang="en-US" sz="1050" i="1" dirty="0">
                <a:solidFill>
                  <a:srgbClr val="F4A527"/>
                </a:solidFill>
                <a:latin typeface="Calibri" pitchFamily="34" charset="0"/>
                <a:ea typeface="Calibri" pitchFamily="34" charset="-122"/>
                <a:cs typeface="Calibri" pitchFamily="34" charset="-120"/>
              </a:rPr>
              <a:t>vib_rms, vib_kurtosis, vib_crest, vib_fft_low/high, current_thd</a:t>
            </a:r>
            <a:endParaRPr lang="en-US" sz="1050" dirty="0"/>
          </a:p>
        </p:txBody>
      </p:sp>
      <p:sp>
        <p:nvSpPr>
          <p:cNvPr id="13" name="Text 11"/>
          <p:cNvSpPr/>
          <p:nvPr/>
        </p:nvSpPr>
        <p:spPr>
          <a:xfrm>
            <a:off x="4526280" y="3429000"/>
            <a:ext cx="3154680" cy="2194560"/>
          </a:xfrm>
          <a:prstGeom prst="rect">
            <a:avLst/>
          </a:prstGeom>
          <a:noFill/>
          <a:ln/>
        </p:spPr>
        <p:txBody>
          <a:bodyPr wrap="square" rtlCol="0" anchor="ctr"/>
          <a:lstStyle/>
          <a:p>
            <a:pPr indent="0" marL="0">
              <a:buNone/>
            </a:pPr>
            <a:r>
              <a:rPr lang="en-US" sz="1150" dirty="0">
                <a:solidFill>
                  <a:srgbClr val="1A2233"/>
                </a:solidFill>
                <a:latin typeface="Calibri" pitchFamily="34" charset="0"/>
                <a:ea typeface="Calibri" pitchFamily="34" charset="-122"/>
                <a:cs typeface="Calibri" pitchFamily="34" charset="-120"/>
              </a:rPr>
              <a:t>Kurtosis is sensitive to impulsive spikes from bearing cracks; FFT separates low vs high-frequency patterns.</a:t>
            </a:r>
            <a:endParaRPr lang="en-US" sz="1150" dirty="0"/>
          </a:p>
        </p:txBody>
      </p:sp>
      <p:sp>
        <p:nvSpPr>
          <p:cNvPr id="14" name="Shape 12"/>
          <p:cNvSpPr/>
          <p:nvPr/>
        </p:nvSpPr>
        <p:spPr>
          <a:xfrm>
            <a:off x="8092440" y="1783080"/>
            <a:ext cx="3611880" cy="3977640"/>
          </a:xfrm>
          <a:prstGeom prst="roundRect">
            <a:avLst>
              <a:gd name="adj" fmla="val 2025"/>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5" name="Shape 13"/>
          <p:cNvSpPr/>
          <p:nvPr/>
        </p:nvSpPr>
        <p:spPr>
          <a:xfrm>
            <a:off x="8092440" y="1783080"/>
            <a:ext cx="3611880" cy="82296"/>
          </a:xfrm>
          <a:prstGeom prst="rect">
            <a:avLst/>
          </a:prstGeom>
          <a:solidFill>
            <a:srgbClr val="13315C"/>
          </a:solidFill>
          <a:ln/>
        </p:spPr>
        <p:txBody>
          <a:bodyPr/>
          <a:p/>
        </p:txBody>
      </p:sp>
      <p:sp>
        <p:nvSpPr>
          <p:cNvPr id="16" name="Text 14"/>
          <p:cNvSpPr/>
          <p:nvPr/>
        </p:nvSpPr>
        <p:spPr>
          <a:xfrm>
            <a:off x="8321040" y="2011680"/>
            <a:ext cx="3154680" cy="502920"/>
          </a:xfrm>
          <a:prstGeom prst="rect">
            <a:avLst/>
          </a:prstGeom>
          <a:noFill/>
          <a:ln/>
        </p:spPr>
        <p:txBody>
          <a:bodyPr wrap="square"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Cross-parameter Features</a:t>
            </a:r>
            <a:endParaRPr lang="en-US" sz="1550" dirty="0"/>
          </a:p>
        </p:txBody>
      </p:sp>
      <p:sp>
        <p:nvSpPr>
          <p:cNvPr id="17" name="Text 15"/>
          <p:cNvSpPr/>
          <p:nvPr/>
        </p:nvSpPr>
        <p:spPr>
          <a:xfrm>
            <a:off x="8321040" y="2560320"/>
            <a:ext cx="3154680" cy="822960"/>
          </a:xfrm>
          <a:prstGeom prst="rect">
            <a:avLst/>
          </a:prstGeom>
          <a:noFill/>
          <a:ln/>
        </p:spPr>
        <p:txBody>
          <a:bodyPr wrap="square" rtlCol="0" anchor="ctr"/>
          <a:lstStyle/>
          <a:p>
            <a:pPr indent="0" marL="0">
              <a:buNone/>
            </a:pPr>
            <a:r>
              <a:rPr lang="en-US" sz="1050" i="1" dirty="0">
                <a:solidFill>
                  <a:srgbClr val="13315C"/>
                </a:solidFill>
                <a:latin typeface="Calibri" pitchFamily="34" charset="0"/>
                <a:ea typeface="Calibri" pitchFamily="34" charset="-122"/>
                <a:cs typeface="Calibri" pitchFamily="34" charset="-120"/>
              </a:rPr>
              <a:t>load_ratio, temp_per_load, power_estimate</a:t>
            </a:r>
            <a:endParaRPr lang="en-US" sz="1050" dirty="0"/>
          </a:p>
        </p:txBody>
      </p:sp>
      <p:sp>
        <p:nvSpPr>
          <p:cNvPr id="18" name="Text 16"/>
          <p:cNvSpPr/>
          <p:nvPr/>
        </p:nvSpPr>
        <p:spPr>
          <a:xfrm>
            <a:off x="8321040" y="3429000"/>
            <a:ext cx="3154680" cy="2194560"/>
          </a:xfrm>
          <a:prstGeom prst="rect">
            <a:avLst/>
          </a:prstGeom>
          <a:noFill/>
          <a:ln/>
        </p:spPr>
        <p:txBody>
          <a:bodyPr wrap="square"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Combines mechanical &amp; electrical parameters to monitor motor efficiency anomalies.</a:t>
            </a:r>
            <a:endParaRPr lang="en-US" sz="1150" dirty="0"/>
          </a:p>
        </p:txBody>
      </p:sp>
      <p:sp>
        <p:nvSpPr>
          <p:cNvPr id="19" name="Text 17"/>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08</a:t>
            </a:r>
            <a:endParaRPr lang="en-US" sz="1000" dirty="0"/>
          </a:p>
        </p:txBody>
      </p:sp>
      <p:sp>
        <p:nvSpPr>
          <p:cNvPr id="20" name="Text 18"/>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04 · CLEANING &amp; FEATURE PIPELINE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Domain Knowledge Highlights</a:t>
            </a:r>
            <a:endParaRPr lang="en-US" sz="2900" dirty="0"/>
          </a:p>
        </p:txBody>
      </p:sp>
      <p:sp>
        <p:nvSpPr>
          <p:cNvPr id="4" name="Shape 2"/>
          <p:cNvSpPr/>
          <p:nvPr/>
        </p:nvSpPr>
        <p:spPr>
          <a:xfrm>
            <a:off x="502920" y="1783080"/>
            <a:ext cx="11201400" cy="1965960"/>
          </a:xfrm>
          <a:prstGeom prst="roundRect">
            <a:avLst>
              <a:gd name="adj" fmla="val 3721"/>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5" name="Text 3"/>
          <p:cNvSpPr/>
          <p:nvPr/>
        </p:nvSpPr>
        <p:spPr>
          <a:xfrm>
            <a:off x="777240" y="2011680"/>
            <a:ext cx="548640" cy="548640"/>
          </a:xfrm>
          <a:prstGeom prst="rect">
            <a:avLst/>
          </a:prstGeom>
          <a:noFill/>
          <a:ln/>
        </p:spPr>
        <p:txBody>
          <a:bodyPr wrap="square" rtlCol="0" anchor="ctr"/>
          <a:lstStyle/>
          <a:p>
            <a:pPr indent="0" marL="0">
              <a:buNone/>
            </a:pPr>
            <a:r>
              <a:rPr lang="en-US" sz="2600" b="1" dirty="0">
                <a:solidFill>
                  <a:srgbClr val="00B4A6"/>
                </a:solidFill>
                <a:latin typeface="Cambria" pitchFamily="34" charset="0"/>
                <a:ea typeface="Cambria" pitchFamily="34" charset="-122"/>
                <a:cs typeface="Cambria" pitchFamily="34" charset="-120"/>
              </a:rPr>
              <a:t>Q</a:t>
            </a:r>
            <a:endParaRPr lang="en-US" sz="2600" dirty="0"/>
          </a:p>
        </p:txBody>
      </p:sp>
      <p:sp>
        <p:nvSpPr>
          <p:cNvPr id="6" name="Text 4"/>
          <p:cNvSpPr/>
          <p:nvPr/>
        </p:nvSpPr>
        <p:spPr>
          <a:xfrm>
            <a:off x="1371600" y="1984248"/>
            <a:ext cx="9966960" cy="457200"/>
          </a:xfrm>
          <a:prstGeom prst="rect">
            <a:avLst/>
          </a:prstGeom>
          <a:noFill/>
          <a:ln/>
        </p:spPr>
        <p:txBody>
          <a:bodyPr wrap="square"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Why is Kurtosis important for Bearing Faults?</a:t>
            </a:r>
            <a:endParaRPr lang="en-US" sz="1550" dirty="0"/>
          </a:p>
        </p:txBody>
      </p:sp>
      <p:sp>
        <p:nvSpPr>
          <p:cNvPr id="7" name="Text 5"/>
          <p:cNvSpPr/>
          <p:nvPr/>
        </p:nvSpPr>
        <p:spPr>
          <a:xfrm>
            <a:off x="1371600" y="2441448"/>
            <a:ext cx="9966960" cy="1188720"/>
          </a:xfrm>
          <a:prstGeom prst="rect">
            <a:avLst/>
          </a:prstGeom>
          <a:noFill/>
          <a:ln/>
        </p:spPr>
        <p:txBody>
          <a:bodyPr wrap="square" rtlCol="0" anchor="ctr"/>
          <a:lstStyle/>
          <a:p>
            <a:pPr indent="0" marL="0">
              <a:buNone/>
            </a:pPr>
            <a:r>
              <a:rPr lang="en-US" sz="1250" dirty="0">
                <a:solidFill>
                  <a:srgbClr val="C9D6E3"/>
                </a:solidFill>
                <a:latin typeface="Calibri" pitchFamily="34" charset="0"/>
                <a:ea typeface="Calibri" pitchFamily="34" charset="-122"/>
                <a:cs typeface="Calibri" pitchFamily="34" charset="-120"/>
              </a:rPr>
              <a:t>In the early stages of bearing degradation, the vibration signal is dominated by short-duration sharp impact impulses. RMS has not changed much, but Kurtosis spikes sharply (&gt; 3) — providing early warning weeks before failure.</a:t>
            </a:r>
            <a:endParaRPr lang="en-US" sz="1250" dirty="0"/>
          </a:p>
        </p:txBody>
      </p:sp>
      <p:sp>
        <p:nvSpPr>
          <p:cNvPr id="8" name="Shape 6"/>
          <p:cNvSpPr/>
          <p:nvPr/>
        </p:nvSpPr>
        <p:spPr>
          <a:xfrm>
            <a:off x="502920" y="3931920"/>
            <a:ext cx="11201400" cy="1965960"/>
          </a:xfrm>
          <a:prstGeom prst="roundRect">
            <a:avLst>
              <a:gd name="adj" fmla="val 3721"/>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9" name="Text 7"/>
          <p:cNvSpPr/>
          <p:nvPr/>
        </p:nvSpPr>
        <p:spPr>
          <a:xfrm>
            <a:off x="777240" y="4160520"/>
            <a:ext cx="548640" cy="548640"/>
          </a:xfrm>
          <a:prstGeom prst="rect">
            <a:avLst/>
          </a:prstGeom>
          <a:noFill/>
          <a:ln/>
        </p:spPr>
        <p:txBody>
          <a:bodyPr wrap="square"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Q</a:t>
            </a:r>
            <a:endParaRPr lang="en-US" sz="2600" dirty="0"/>
          </a:p>
        </p:txBody>
      </p:sp>
      <p:sp>
        <p:nvSpPr>
          <p:cNvPr id="10" name="Text 8"/>
          <p:cNvSpPr/>
          <p:nvPr/>
        </p:nvSpPr>
        <p:spPr>
          <a:xfrm>
            <a:off x="1371600" y="4133088"/>
            <a:ext cx="9966960" cy="457200"/>
          </a:xfrm>
          <a:prstGeom prst="rect">
            <a:avLst/>
          </a:prstGeom>
          <a:noFill/>
          <a:ln/>
        </p:spPr>
        <p:txBody>
          <a:bodyPr wrap="square"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Why are Cross-Parameter Features important?</a:t>
            </a:r>
            <a:endParaRPr lang="en-US" sz="1550" dirty="0"/>
          </a:p>
        </p:txBody>
      </p:sp>
      <p:sp>
        <p:nvSpPr>
          <p:cNvPr id="11" name="Text 9"/>
          <p:cNvSpPr/>
          <p:nvPr/>
        </p:nvSpPr>
        <p:spPr>
          <a:xfrm>
            <a:off x="1371600" y="4590288"/>
            <a:ext cx="9966960" cy="1188720"/>
          </a:xfrm>
          <a:prstGeom prst="rect">
            <a:avLst/>
          </a:prstGeom>
          <a:noFill/>
          <a:ln/>
        </p:spPr>
        <p:txBody>
          <a:bodyPr wrap="square" rtlCol="0" anchor="ctr"/>
          <a:lstStyle/>
          <a:p>
            <a:pPr indent="0" marL="0">
              <a:buNone/>
            </a:pPr>
            <a:r>
              <a:rPr lang="en-US" sz="1250" dirty="0">
                <a:solidFill>
                  <a:srgbClr val="1A2233"/>
                </a:solidFill>
                <a:latin typeface="Calibri" pitchFamily="34" charset="0"/>
                <a:ea typeface="Calibri" pitchFamily="34" charset="-122"/>
                <a:cs typeface="Calibri" pitchFamily="34" charset="-120"/>
              </a:rPr>
              <a:t>Temperature rise can be caused by increasing production loads, not damage. With the temperature-to-current ratio (temp_per_load), we can distinguish natural temperature rises from those indicating cooling issues or bearing friction.</a:t>
            </a:r>
            <a:endParaRPr lang="en-US" sz="1250" dirty="0"/>
          </a:p>
        </p:txBody>
      </p:sp>
      <p:sp>
        <p:nvSpPr>
          <p:cNvPr id="12" name="Text 10"/>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09</a:t>
            </a:r>
            <a:endParaRPr lang="en-US" sz="1000" dirty="0"/>
          </a:p>
        </p:txBody>
      </p:sp>
      <p:sp>
        <p:nvSpPr>
          <p:cNvPr id="13" name="Text 11"/>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05 · MODEL ARCHITECTURE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3 Parallel Machine Learning Models</a:t>
            </a:r>
            <a:endParaRPr lang="en-US" sz="2900" dirty="0"/>
          </a:p>
        </p:txBody>
      </p:sp>
      <p:sp>
        <p:nvSpPr>
          <p:cNvPr id="4" name="Shape 2"/>
          <p:cNvSpPr/>
          <p:nvPr/>
        </p:nvSpPr>
        <p:spPr>
          <a:xfrm>
            <a:off x="502920" y="1828800"/>
            <a:ext cx="2331720" cy="777240"/>
          </a:xfrm>
          <a:prstGeom prst="roundRect">
            <a:avLst>
              <a:gd name="adj" fmla="val 9412"/>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Text 3"/>
          <p:cNvSpPr/>
          <p:nvPr/>
        </p:nvSpPr>
        <p:spPr>
          <a:xfrm>
            <a:off x="502920" y="1874520"/>
            <a:ext cx="2331720" cy="68580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Feature Windows</a:t>
            </a:r>
            <a:endParaRPr lang="en-US" sz="1100" dirty="0"/>
          </a:p>
          <a:p>
            <a:pPr algn="ctr" indent="0" marL="0">
              <a:buNone/>
            </a:pPr>
            <a:r>
              <a:rPr lang="en-US" sz="1100" b="1" dirty="0">
                <a:solidFill>
                  <a:srgbClr val="0B2545"/>
                </a:solidFill>
                <a:latin typeface="Calibri" pitchFamily="34" charset="0"/>
                <a:ea typeface="Calibri" pitchFamily="34" charset="-122"/>
                <a:cs typeface="Calibri" pitchFamily="34" charset="-120"/>
              </a:rPr>
              <a:t>(120 × 25 sequence)</a:t>
            </a:r>
            <a:endParaRPr lang="en-US" sz="1100" dirty="0"/>
          </a:p>
        </p:txBody>
      </p:sp>
      <p:sp>
        <p:nvSpPr>
          <p:cNvPr id="6" name="Text 4"/>
          <p:cNvSpPr/>
          <p:nvPr/>
        </p:nvSpPr>
        <p:spPr>
          <a:xfrm>
            <a:off x="2880360" y="1920240"/>
            <a:ext cx="457200" cy="548640"/>
          </a:xfrm>
          <a:prstGeom prst="rect">
            <a:avLst/>
          </a:prstGeom>
          <a:noFill/>
          <a:ln/>
        </p:spPr>
        <p:txBody>
          <a:bodyPr wrap="square" rtlCol="0" anchor="ctr"/>
          <a:lstStyle/>
          <a:p>
            <a:pPr algn="ctr" indent="0" marL="0">
              <a:buNone/>
            </a:pPr>
            <a:r>
              <a:rPr lang="en-US" sz="2200" b="1" dirty="0">
                <a:solidFill>
                  <a:srgbClr val="00B4A6"/>
                </a:solidFill>
                <a:latin typeface="Cambria" pitchFamily="34" charset="0"/>
                <a:ea typeface="Cambria" pitchFamily="34" charset="-122"/>
                <a:cs typeface="Cambria" pitchFamily="34" charset="-120"/>
              </a:rPr>
              <a:t>›</a:t>
            </a:r>
            <a:endParaRPr lang="en-US" sz="2200" dirty="0"/>
          </a:p>
        </p:txBody>
      </p:sp>
      <p:sp>
        <p:nvSpPr>
          <p:cNvPr id="7" name="Shape 5"/>
          <p:cNvSpPr/>
          <p:nvPr/>
        </p:nvSpPr>
        <p:spPr>
          <a:xfrm>
            <a:off x="3246120" y="1417320"/>
            <a:ext cx="3291840" cy="1051560"/>
          </a:xfrm>
          <a:prstGeom prst="roundRect">
            <a:avLst>
              <a:gd name="adj" fmla="val 6957"/>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8" name="Shape 6"/>
          <p:cNvSpPr/>
          <p:nvPr/>
        </p:nvSpPr>
        <p:spPr>
          <a:xfrm>
            <a:off x="3246120" y="1417320"/>
            <a:ext cx="82296" cy="1051560"/>
          </a:xfrm>
          <a:prstGeom prst="rect">
            <a:avLst/>
          </a:prstGeom>
          <a:solidFill>
            <a:srgbClr val="00B4A6"/>
          </a:solidFill>
          <a:ln/>
        </p:spPr>
        <p:txBody>
          <a:bodyPr/>
          <a:p/>
        </p:txBody>
      </p:sp>
      <p:sp>
        <p:nvSpPr>
          <p:cNvPr id="9" name="Text 7"/>
          <p:cNvSpPr/>
          <p:nvPr/>
        </p:nvSpPr>
        <p:spPr>
          <a:xfrm>
            <a:off x="3474720" y="1527048"/>
            <a:ext cx="29260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Model A1 — Anomaly Detection</a:t>
            </a:r>
            <a:endParaRPr lang="en-US" sz="1250" dirty="0"/>
          </a:p>
        </p:txBody>
      </p:sp>
      <p:sp>
        <p:nvSpPr>
          <p:cNvPr id="10" name="Text 8"/>
          <p:cNvSpPr/>
          <p:nvPr/>
        </p:nvSpPr>
        <p:spPr>
          <a:xfrm>
            <a:off x="3474720" y="1920240"/>
            <a:ext cx="2926080" cy="365760"/>
          </a:xfrm>
          <a:prstGeom prst="rect">
            <a:avLst/>
          </a:prstGeom>
          <a:noFill/>
          <a:ln/>
        </p:spPr>
        <p:txBody>
          <a:bodyPr wrap="square" rtlCol="0" anchor="ctr"/>
          <a:lstStyle/>
          <a:p>
            <a:pPr indent="0" marL="0">
              <a:buNone/>
            </a:pPr>
            <a:r>
              <a:rPr lang="en-US" sz="1050" dirty="0">
                <a:solidFill>
                  <a:srgbClr val="AFC1D6"/>
                </a:solidFill>
                <a:latin typeface="Calibri" pitchFamily="34" charset="0"/>
                <a:ea typeface="Calibri" pitchFamily="34" charset="-122"/>
                <a:cs typeface="Calibri" pitchFamily="34" charset="-120"/>
              </a:rPr>
              <a:t>LSTM Autoencoder — Unsupervised</a:t>
            </a:r>
            <a:endParaRPr lang="en-US" sz="1050" dirty="0"/>
          </a:p>
        </p:txBody>
      </p:sp>
      <p:sp>
        <p:nvSpPr>
          <p:cNvPr id="11" name="Shape 9"/>
          <p:cNvSpPr/>
          <p:nvPr/>
        </p:nvSpPr>
        <p:spPr>
          <a:xfrm>
            <a:off x="3246120" y="2651760"/>
            <a:ext cx="3291840" cy="1051560"/>
          </a:xfrm>
          <a:prstGeom prst="roundRect">
            <a:avLst>
              <a:gd name="adj" fmla="val 6957"/>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12" name="Shape 10"/>
          <p:cNvSpPr/>
          <p:nvPr/>
        </p:nvSpPr>
        <p:spPr>
          <a:xfrm>
            <a:off x="3246120" y="2651760"/>
            <a:ext cx="82296" cy="1051560"/>
          </a:xfrm>
          <a:prstGeom prst="rect">
            <a:avLst/>
          </a:prstGeom>
          <a:solidFill>
            <a:srgbClr val="F4A527"/>
          </a:solidFill>
          <a:ln/>
        </p:spPr>
        <p:txBody>
          <a:bodyPr/>
          <a:p/>
        </p:txBody>
      </p:sp>
      <p:sp>
        <p:nvSpPr>
          <p:cNvPr id="13" name="Text 11"/>
          <p:cNvSpPr/>
          <p:nvPr/>
        </p:nvSpPr>
        <p:spPr>
          <a:xfrm>
            <a:off x="3474720" y="2761488"/>
            <a:ext cx="29260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Model A2 — Fault Classification</a:t>
            </a:r>
            <a:endParaRPr lang="en-US" sz="1250" dirty="0"/>
          </a:p>
        </p:txBody>
      </p:sp>
      <p:sp>
        <p:nvSpPr>
          <p:cNvPr id="14" name="Text 12"/>
          <p:cNvSpPr/>
          <p:nvPr/>
        </p:nvSpPr>
        <p:spPr>
          <a:xfrm>
            <a:off x="3474720" y="3154680"/>
            <a:ext cx="2926080" cy="365760"/>
          </a:xfrm>
          <a:prstGeom prst="rect">
            <a:avLst/>
          </a:prstGeom>
          <a:noFill/>
          <a:ln/>
        </p:spPr>
        <p:txBody>
          <a:bodyPr wrap="square" rtlCol="0" anchor="ctr"/>
          <a:lstStyle/>
          <a:p>
            <a:pPr indent="0" marL="0">
              <a:buNone/>
            </a:pPr>
            <a:r>
              <a:rPr lang="en-US" sz="1050" dirty="0">
                <a:solidFill>
                  <a:srgbClr val="AFC1D6"/>
                </a:solidFill>
                <a:latin typeface="Calibri" pitchFamily="34" charset="0"/>
                <a:ea typeface="Calibri" pitchFamily="34" charset="-122"/>
                <a:cs typeface="Calibri" pitchFamily="34" charset="-120"/>
              </a:rPr>
              <a:t>Gradient Boosting — Supervised</a:t>
            </a:r>
            <a:endParaRPr lang="en-US" sz="1050" dirty="0"/>
          </a:p>
        </p:txBody>
      </p:sp>
      <p:sp>
        <p:nvSpPr>
          <p:cNvPr id="15" name="Shape 13"/>
          <p:cNvSpPr/>
          <p:nvPr/>
        </p:nvSpPr>
        <p:spPr>
          <a:xfrm>
            <a:off x="3246120" y="3886200"/>
            <a:ext cx="3291840" cy="1051560"/>
          </a:xfrm>
          <a:prstGeom prst="roundRect">
            <a:avLst>
              <a:gd name="adj" fmla="val 6957"/>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16" name="Shape 14"/>
          <p:cNvSpPr/>
          <p:nvPr/>
        </p:nvSpPr>
        <p:spPr>
          <a:xfrm>
            <a:off x="3246120" y="3886200"/>
            <a:ext cx="82296" cy="1051560"/>
          </a:xfrm>
          <a:prstGeom prst="rect">
            <a:avLst/>
          </a:prstGeom>
          <a:solidFill>
            <a:srgbClr val="13315C"/>
          </a:solidFill>
          <a:ln/>
        </p:spPr>
        <p:txBody>
          <a:bodyPr/>
          <a:p/>
        </p:txBody>
      </p:sp>
      <p:sp>
        <p:nvSpPr>
          <p:cNvPr id="17" name="Text 15"/>
          <p:cNvSpPr/>
          <p:nvPr/>
        </p:nvSpPr>
        <p:spPr>
          <a:xfrm>
            <a:off x="3474720" y="3995928"/>
            <a:ext cx="29260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Model B — RUL Prediction</a:t>
            </a:r>
            <a:endParaRPr lang="en-US" sz="1250" dirty="0"/>
          </a:p>
        </p:txBody>
      </p:sp>
      <p:sp>
        <p:nvSpPr>
          <p:cNvPr id="18" name="Text 16"/>
          <p:cNvSpPr/>
          <p:nvPr/>
        </p:nvSpPr>
        <p:spPr>
          <a:xfrm>
            <a:off x="3474720" y="4389120"/>
            <a:ext cx="2926080" cy="365760"/>
          </a:xfrm>
          <a:prstGeom prst="rect">
            <a:avLst/>
          </a:prstGeom>
          <a:noFill/>
          <a:ln/>
        </p:spPr>
        <p:txBody>
          <a:bodyPr wrap="square" rtlCol="0" anchor="ctr"/>
          <a:lstStyle/>
          <a:p>
            <a:pPr indent="0" marL="0">
              <a:buNone/>
            </a:pPr>
            <a:r>
              <a:rPr lang="en-US" sz="1050" dirty="0">
                <a:solidFill>
                  <a:srgbClr val="AFC1D6"/>
                </a:solidFill>
                <a:latin typeface="Calibri" pitchFamily="34" charset="0"/>
                <a:ea typeface="Calibri" pitchFamily="34" charset="-122"/>
                <a:cs typeface="Calibri" pitchFamily="34" charset="-120"/>
              </a:rPr>
              <a:t>LSTM Regressor — Supervised</a:t>
            </a:r>
            <a:endParaRPr lang="en-US" sz="1050" dirty="0"/>
          </a:p>
        </p:txBody>
      </p:sp>
      <p:sp>
        <p:nvSpPr>
          <p:cNvPr id="19" name="Text 17"/>
          <p:cNvSpPr/>
          <p:nvPr/>
        </p:nvSpPr>
        <p:spPr>
          <a:xfrm>
            <a:off x="6675120" y="2788920"/>
            <a:ext cx="457200" cy="548640"/>
          </a:xfrm>
          <a:prstGeom prst="rect">
            <a:avLst/>
          </a:prstGeom>
          <a:noFill/>
          <a:ln/>
        </p:spPr>
        <p:txBody>
          <a:bodyPr wrap="square" rtlCol="0" anchor="ctr"/>
          <a:lstStyle/>
          <a:p>
            <a:pPr algn="ctr" indent="0" marL="0">
              <a:buNone/>
            </a:pPr>
            <a:r>
              <a:rPr lang="en-US" sz="2200" b="1" dirty="0">
                <a:solidFill>
                  <a:srgbClr val="00B4A6"/>
                </a:solidFill>
                <a:latin typeface="Cambria" pitchFamily="34" charset="0"/>
                <a:ea typeface="Cambria" pitchFamily="34" charset="-122"/>
                <a:cs typeface="Cambria" pitchFamily="34" charset="-120"/>
              </a:rPr>
              <a:t>›</a:t>
            </a:r>
            <a:endParaRPr lang="en-US" sz="2200" dirty="0"/>
          </a:p>
        </p:txBody>
      </p:sp>
      <p:sp>
        <p:nvSpPr>
          <p:cNvPr id="20" name="Shape 18"/>
          <p:cNvSpPr/>
          <p:nvPr/>
        </p:nvSpPr>
        <p:spPr>
          <a:xfrm>
            <a:off x="7269480" y="2377440"/>
            <a:ext cx="1965960" cy="914400"/>
          </a:xfrm>
          <a:prstGeom prst="roundRect">
            <a:avLst>
              <a:gd name="adj" fmla="val 8000"/>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21" name="Text 19"/>
          <p:cNvSpPr/>
          <p:nvPr/>
        </p:nvSpPr>
        <p:spPr>
          <a:xfrm>
            <a:off x="7269480" y="2423160"/>
            <a:ext cx="1965960" cy="822960"/>
          </a:xfrm>
          <a:prstGeom prst="rect">
            <a:avLst/>
          </a:prstGeom>
          <a:noFill/>
          <a:ln/>
        </p:spPr>
        <p:txBody>
          <a:bodyPr wrap="square" rtlCol="0" anchor="ctr"/>
          <a:lstStyle/>
          <a:p>
            <a:pPr algn="ctr" indent="0" marL="0">
              <a:buNone/>
            </a:pPr>
            <a:r>
              <a:rPr lang="en-US" sz="1400" b="1" dirty="0">
                <a:solidFill>
                  <a:srgbClr val="0B2545"/>
                </a:solidFill>
                <a:latin typeface="Cambria" pitchFamily="34" charset="0"/>
                <a:ea typeface="Cambria" pitchFamily="34" charset="-122"/>
                <a:cs typeface="Cambria" pitchFamily="34" charset="-120"/>
              </a:rPr>
              <a:t>Decision</a:t>
            </a:r>
            <a:endParaRPr lang="en-US" sz="1400" dirty="0"/>
          </a:p>
          <a:p>
            <a:pPr algn="ctr" indent="0" marL="0">
              <a:buNone/>
            </a:pPr>
            <a:r>
              <a:rPr lang="en-US" sz="1400" b="1" dirty="0">
                <a:solidFill>
                  <a:srgbClr val="0B2545"/>
                </a:solidFill>
                <a:latin typeface="Cambria" pitchFamily="34" charset="0"/>
                <a:ea typeface="Cambria" pitchFamily="34" charset="-122"/>
                <a:cs typeface="Cambria" pitchFamily="34" charset="-120"/>
              </a:rPr>
              <a:t>Engine</a:t>
            </a:r>
            <a:endParaRPr lang="en-US" sz="1400" dirty="0"/>
          </a:p>
        </p:txBody>
      </p:sp>
      <p:sp>
        <p:nvSpPr>
          <p:cNvPr id="22" name="Text 20"/>
          <p:cNvSpPr/>
          <p:nvPr/>
        </p:nvSpPr>
        <p:spPr>
          <a:xfrm>
            <a:off x="9372600" y="2788920"/>
            <a:ext cx="365760" cy="548640"/>
          </a:xfrm>
          <a:prstGeom prst="rect">
            <a:avLst/>
          </a:prstGeom>
          <a:noFill/>
          <a:ln/>
        </p:spPr>
        <p:txBody>
          <a:bodyPr wrap="square" rtlCol="0" anchor="ctr"/>
          <a:lstStyle/>
          <a:p>
            <a:pPr algn="ctr" indent="0" marL="0">
              <a:buNone/>
            </a:pPr>
            <a:r>
              <a:rPr lang="en-US" sz="2200" b="1" dirty="0">
                <a:solidFill>
                  <a:srgbClr val="00B4A6"/>
                </a:solidFill>
                <a:latin typeface="Cambria" pitchFamily="34" charset="0"/>
                <a:ea typeface="Cambria" pitchFamily="34" charset="-122"/>
                <a:cs typeface="Cambria" pitchFamily="34" charset="-120"/>
              </a:rPr>
              <a:t>›</a:t>
            </a:r>
            <a:endParaRPr lang="en-US" sz="2200" dirty="0"/>
          </a:p>
        </p:txBody>
      </p:sp>
      <p:sp>
        <p:nvSpPr>
          <p:cNvPr id="23" name="Shape 21"/>
          <p:cNvSpPr/>
          <p:nvPr/>
        </p:nvSpPr>
        <p:spPr>
          <a:xfrm>
            <a:off x="9829800" y="2240280"/>
            <a:ext cx="1783080" cy="1188720"/>
          </a:xfrm>
          <a:prstGeom prst="roundRect">
            <a:avLst>
              <a:gd name="adj" fmla="val 6154"/>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24" name="Text 22"/>
          <p:cNvSpPr/>
          <p:nvPr/>
        </p:nvSpPr>
        <p:spPr>
          <a:xfrm>
            <a:off x="9829800" y="2286000"/>
            <a:ext cx="1783080" cy="10972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Dashboard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 API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Notifications</a:t>
            </a:r>
            <a:endParaRPr lang="en-US" sz="1150" dirty="0"/>
          </a:p>
        </p:txBody>
      </p:sp>
      <p:sp>
        <p:nvSpPr>
          <p:cNvPr id="25" name="Shape 23"/>
          <p:cNvSpPr/>
          <p:nvPr/>
        </p:nvSpPr>
        <p:spPr>
          <a:xfrm>
            <a:off x="502920" y="4114800"/>
            <a:ext cx="11201400" cy="1691640"/>
          </a:xfrm>
          <a:prstGeom prst="roundRect">
            <a:avLst>
              <a:gd name="adj" fmla="val 4324"/>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26" name="Text 24"/>
          <p:cNvSpPr/>
          <p:nvPr/>
        </p:nvSpPr>
        <p:spPr>
          <a:xfrm>
            <a:off x="777240" y="4297680"/>
            <a:ext cx="10607040" cy="1371600"/>
          </a:xfrm>
          <a:prstGeom prst="rect">
            <a:avLst/>
          </a:prstGeom>
          <a:noFill/>
          <a:ln/>
        </p:spPr>
        <p:txBody>
          <a:bodyPr wrap="square" rtlCol="0" anchor="ctr"/>
          <a:lstStyle/>
          <a:p>
            <a:pPr indent="0" marL="0">
              <a:buNone/>
            </a:pPr>
            <a:r>
              <a:rPr lang="en-US" sz="1250" dirty="0">
                <a:solidFill>
                  <a:srgbClr val="1A2233"/>
                </a:solidFill>
                <a:latin typeface="Calibri" pitchFamily="34" charset="0"/>
                <a:ea typeface="Calibri" pitchFamily="34" charset="-122"/>
                <a:cs typeface="Calibri" pitchFamily="34" charset="-120"/>
              </a:rPr>
              <a:t>Every 5 minutes, the scheduler fetches the last 120 rows from feature_windows (≈ 1 hour of history) per motor, builds them into a sequence, and runs all three models in parallel. The output of each model (anomaly score, fault type + confidence, RUL days) is combined by the Decision Engine into a single operational decision.</a:t>
            </a:r>
            <a:endParaRPr lang="en-US" sz="1250" dirty="0"/>
          </a:p>
        </p:txBody>
      </p:sp>
      <p:sp>
        <p:nvSpPr>
          <p:cNvPr id="27" name="Text 25"/>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10</a:t>
            </a:r>
            <a:endParaRPr lang="en-US" sz="1000" dirty="0"/>
          </a:p>
        </p:txBody>
      </p:sp>
      <p:sp>
        <p:nvSpPr>
          <p:cNvPr id="28" name="Text 26"/>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05 · MODEL ARCHITECTURE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Model A1 — Anomaly Detection</a:t>
            </a:r>
            <a:endParaRPr lang="en-US" sz="2900" dirty="0"/>
          </a:p>
        </p:txBody>
      </p:sp>
      <p:sp>
        <p:nvSpPr>
          <p:cNvPr id="4" name="Shape 2"/>
          <p:cNvSpPr/>
          <p:nvPr/>
        </p:nvSpPr>
        <p:spPr>
          <a:xfrm>
            <a:off x="502920" y="1691640"/>
            <a:ext cx="640080" cy="640080"/>
          </a:xfrm>
          <a:prstGeom prst="ellipse">
            <a:avLst/>
          </a:prstGeom>
          <a:solidFill>
            <a:srgbClr val="00B4A6"/>
          </a:solidFill>
          <a:ln/>
        </p:spPr>
        <p:txBody>
          <a:bodyPr/>
          <a:p/>
        </p:txBody>
      </p:sp>
      <p:sp>
        <p:nvSpPr>
          <p:cNvPr id="5" name="Text 3"/>
          <p:cNvSpPr/>
          <p:nvPr/>
        </p:nvSpPr>
        <p:spPr>
          <a:xfrm>
            <a:off x="502920" y="1673352"/>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A1</a:t>
            </a:r>
            <a:endParaRPr lang="en-US" sz="2000" dirty="0"/>
          </a:p>
        </p:txBody>
      </p:sp>
      <p:sp>
        <p:nvSpPr>
          <p:cNvPr id="6" name="Text 4"/>
          <p:cNvSpPr/>
          <p:nvPr/>
        </p:nvSpPr>
        <p:spPr>
          <a:xfrm>
            <a:off x="502920" y="2606040"/>
            <a:ext cx="6675120" cy="3657600"/>
          </a:xfrm>
          <a:prstGeom prst="rect">
            <a:avLst/>
          </a:prstGeom>
          <a:noFill/>
          <a:ln/>
        </p:spPr>
        <p:txBody>
          <a:bodyPr wrap="square" rtlCol="0" anchor="t"/>
          <a:lstStyle/>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LSTM Autoencoder — unsupervised learning.</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Trained solely on healthy machine data.</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Encoder compresses sequence (120,25) into a low-dimensional bottleneck, then Decoder reconstructs the original signal.</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If the machine begins to degrade, signals deviate from the healthy pattern → high reconstruction error (MSE).</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If error exceeds a dynamic threshold → status is flagged as Anomaly.</a:t>
            </a:r>
            <a:endParaRPr lang="en-US" sz="1350" dirty="0"/>
          </a:p>
        </p:txBody>
      </p:sp>
      <p:sp>
        <p:nvSpPr>
          <p:cNvPr id="7" name="Shape 5"/>
          <p:cNvSpPr/>
          <p:nvPr/>
        </p:nvSpPr>
        <p:spPr>
          <a:xfrm>
            <a:off x="7635240" y="1783080"/>
            <a:ext cx="4069080" cy="1188720"/>
          </a:xfrm>
          <a:prstGeom prst="roundRect">
            <a:avLst>
              <a:gd name="adj" fmla="val 6154"/>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8" name="Text 6"/>
          <p:cNvSpPr/>
          <p:nvPr/>
        </p:nvSpPr>
        <p:spPr>
          <a:xfrm>
            <a:off x="7909560" y="1920240"/>
            <a:ext cx="3520440" cy="64008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&gt; 95%</a:t>
            </a:r>
            <a:endParaRPr lang="en-US" sz="2800" dirty="0"/>
          </a:p>
        </p:txBody>
      </p:sp>
      <p:sp>
        <p:nvSpPr>
          <p:cNvPr id="9" name="Text 7"/>
          <p:cNvSpPr/>
          <p:nvPr/>
        </p:nvSpPr>
        <p:spPr>
          <a:xfrm>
            <a:off x="7909560" y="2532888"/>
            <a:ext cx="3520440" cy="3657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Target Recall — prevents missed faults</a:t>
            </a:r>
            <a:endParaRPr lang="en-US" sz="1100" dirty="0"/>
          </a:p>
        </p:txBody>
      </p:sp>
      <p:sp>
        <p:nvSpPr>
          <p:cNvPr id="10" name="Shape 8"/>
          <p:cNvSpPr/>
          <p:nvPr/>
        </p:nvSpPr>
        <p:spPr>
          <a:xfrm>
            <a:off x="7635240" y="3200400"/>
            <a:ext cx="4069080" cy="1188720"/>
          </a:xfrm>
          <a:prstGeom prst="roundRect">
            <a:avLst>
              <a:gd name="adj" fmla="val 6154"/>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11" name="Text 9"/>
          <p:cNvSpPr/>
          <p:nvPr/>
        </p:nvSpPr>
        <p:spPr>
          <a:xfrm>
            <a:off x="7909560" y="3337560"/>
            <a:ext cx="3520440" cy="64008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&gt; 90%</a:t>
            </a:r>
            <a:endParaRPr lang="en-US" sz="2800" dirty="0"/>
          </a:p>
        </p:txBody>
      </p:sp>
      <p:sp>
        <p:nvSpPr>
          <p:cNvPr id="12" name="Text 10"/>
          <p:cNvSpPr/>
          <p:nvPr/>
        </p:nvSpPr>
        <p:spPr>
          <a:xfrm>
            <a:off x="7909560" y="3950208"/>
            <a:ext cx="3520440" cy="3657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Target Precision — suppresses false alarms</a:t>
            </a:r>
            <a:endParaRPr lang="en-US" sz="1100" dirty="0"/>
          </a:p>
        </p:txBody>
      </p:sp>
      <p:sp>
        <p:nvSpPr>
          <p:cNvPr id="13" name="Text 11"/>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11</a:t>
            </a:r>
            <a:endParaRPr lang="en-US" sz="1000" dirty="0"/>
          </a:p>
        </p:txBody>
      </p:sp>
      <p:sp>
        <p:nvSpPr>
          <p:cNvPr id="14" name="Text 12"/>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05 · MODEL ARCHITECTURE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Model A2 — Fault Classification</a:t>
            </a:r>
            <a:endParaRPr lang="en-US" sz="2900" dirty="0"/>
          </a:p>
        </p:txBody>
      </p:sp>
      <p:sp>
        <p:nvSpPr>
          <p:cNvPr id="4" name="Shape 2"/>
          <p:cNvSpPr/>
          <p:nvPr/>
        </p:nvSpPr>
        <p:spPr>
          <a:xfrm>
            <a:off x="502920" y="1691640"/>
            <a:ext cx="640080" cy="640080"/>
          </a:xfrm>
          <a:prstGeom prst="ellipse">
            <a:avLst/>
          </a:prstGeom>
          <a:solidFill>
            <a:srgbClr val="F4A527"/>
          </a:solidFill>
          <a:ln/>
        </p:spPr>
        <p:txBody>
          <a:bodyPr/>
          <a:p/>
        </p:txBody>
      </p:sp>
      <p:sp>
        <p:nvSpPr>
          <p:cNvPr id="5" name="Text 3"/>
          <p:cNvSpPr/>
          <p:nvPr/>
        </p:nvSpPr>
        <p:spPr>
          <a:xfrm>
            <a:off x="502920" y="1673352"/>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A2</a:t>
            </a:r>
            <a:endParaRPr lang="en-US" sz="2000" dirty="0"/>
          </a:p>
        </p:txBody>
      </p:sp>
      <p:sp>
        <p:nvSpPr>
          <p:cNvPr id="6" name="Text 4"/>
          <p:cNvSpPr/>
          <p:nvPr/>
        </p:nvSpPr>
        <p:spPr>
          <a:xfrm>
            <a:off x="502920" y="2606040"/>
            <a:ext cx="6675120" cy="3657600"/>
          </a:xfrm>
          <a:prstGeom prst="rect">
            <a:avLst/>
          </a:prstGeom>
          <a:noFill/>
          <a:ln/>
        </p:spPr>
        <p:txBody>
          <a:bodyPr wrap="square" rtlCol="0" anchor="t"/>
          <a:lstStyle/>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Gradient Boosting Classifier — supervised learning.</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Runs conditionally (only invoked if Model A1 flags an anomaly).</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The model processes the last timestep data to classify the specific failure type.</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Categories: healthy, inner_race_fault, outer_race_fault, roller_fault, cavitation, overload, seal_leak, nozzle_blockage.</a:t>
            </a:r>
            <a:endParaRPr lang="en-US" sz="1350" dirty="0"/>
          </a:p>
        </p:txBody>
      </p:sp>
      <p:sp>
        <p:nvSpPr>
          <p:cNvPr id="7" name="Shape 5"/>
          <p:cNvSpPr/>
          <p:nvPr/>
        </p:nvSpPr>
        <p:spPr>
          <a:xfrm>
            <a:off x="7635240" y="1783080"/>
            <a:ext cx="4069080" cy="1188720"/>
          </a:xfrm>
          <a:prstGeom prst="roundRect">
            <a:avLst>
              <a:gd name="adj" fmla="val 6154"/>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8" name="Text 6"/>
          <p:cNvSpPr/>
          <p:nvPr/>
        </p:nvSpPr>
        <p:spPr>
          <a:xfrm>
            <a:off x="7909560" y="1920240"/>
            <a:ext cx="3520440" cy="64008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&gt; 92%</a:t>
            </a:r>
            <a:endParaRPr lang="en-US" sz="2800" dirty="0"/>
          </a:p>
        </p:txBody>
      </p:sp>
      <p:sp>
        <p:nvSpPr>
          <p:cNvPr id="9" name="Text 7"/>
          <p:cNvSpPr/>
          <p:nvPr/>
        </p:nvSpPr>
        <p:spPr>
          <a:xfrm>
            <a:off x="7909560" y="2532888"/>
            <a:ext cx="3520440" cy="3657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Target Accuracy on labeled test data</a:t>
            </a:r>
            <a:endParaRPr lang="en-US" sz="1100" dirty="0"/>
          </a:p>
        </p:txBody>
      </p:sp>
      <p:sp>
        <p:nvSpPr>
          <p:cNvPr id="10" name="Shape 8"/>
          <p:cNvSpPr/>
          <p:nvPr/>
        </p:nvSpPr>
        <p:spPr>
          <a:xfrm>
            <a:off x="7635240" y="3200400"/>
            <a:ext cx="4069080" cy="1188720"/>
          </a:xfrm>
          <a:prstGeom prst="roundRect">
            <a:avLst>
              <a:gd name="adj" fmla="val 6154"/>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11" name="Text 9"/>
          <p:cNvSpPr/>
          <p:nvPr/>
        </p:nvSpPr>
        <p:spPr>
          <a:xfrm>
            <a:off x="7909560" y="3337560"/>
            <a:ext cx="3520440" cy="64008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&gt; 90%</a:t>
            </a:r>
            <a:endParaRPr lang="en-US" sz="2800" dirty="0"/>
          </a:p>
        </p:txBody>
      </p:sp>
      <p:sp>
        <p:nvSpPr>
          <p:cNvPr id="12" name="Text 10"/>
          <p:cNvSpPr/>
          <p:nvPr/>
        </p:nvSpPr>
        <p:spPr>
          <a:xfrm>
            <a:off x="7909560" y="3950208"/>
            <a:ext cx="3520440" cy="3657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Target F1-Score (weighted)</a:t>
            </a:r>
            <a:endParaRPr lang="en-US" sz="1100" dirty="0"/>
          </a:p>
        </p:txBody>
      </p:sp>
      <p:sp>
        <p:nvSpPr>
          <p:cNvPr id="13" name="Text 11"/>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12</a:t>
            </a:r>
            <a:endParaRPr lang="en-US" sz="1000" dirty="0"/>
          </a:p>
        </p:txBody>
      </p:sp>
      <p:sp>
        <p:nvSpPr>
          <p:cNvPr id="14" name="Text 12"/>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05 · MODEL ARCHITECTURE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Model B — RUL Prediction</a:t>
            </a:r>
            <a:endParaRPr lang="en-US" sz="2900" dirty="0"/>
          </a:p>
        </p:txBody>
      </p:sp>
      <p:sp>
        <p:nvSpPr>
          <p:cNvPr id="4" name="Shape 2"/>
          <p:cNvSpPr/>
          <p:nvPr/>
        </p:nvSpPr>
        <p:spPr>
          <a:xfrm>
            <a:off x="502920" y="1691640"/>
            <a:ext cx="640080" cy="640080"/>
          </a:xfrm>
          <a:prstGeom prst="ellipse">
            <a:avLst/>
          </a:prstGeom>
          <a:solidFill>
            <a:srgbClr val="13315C"/>
          </a:solidFill>
          <a:ln/>
        </p:spPr>
        <p:txBody>
          <a:bodyPr/>
          <a:p/>
        </p:txBody>
      </p:sp>
      <p:sp>
        <p:nvSpPr>
          <p:cNvPr id="5" name="Text 3"/>
          <p:cNvSpPr/>
          <p:nvPr/>
        </p:nvSpPr>
        <p:spPr>
          <a:xfrm>
            <a:off x="502920" y="1673352"/>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6" name="Text 4"/>
          <p:cNvSpPr/>
          <p:nvPr/>
        </p:nvSpPr>
        <p:spPr>
          <a:xfrm>
            <a:off x="502920" y="2606040"/>
            <a:ext cx="6675120" cy="3291840"/>
          </a:xfrm>
          <a:prstGeom prst="rect">
            <a:avLst/>
          </a:prstGeom>
          <a:noFill/>
          <a:ln/>
        </p:spPr>
        <p:txBody>
          <a:bodyPr wrap="square" rtlCol="0" anchor="t"/>
          <a:lstStyle/>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LSTM Regressor unidirectional, 2-layer, trained using CMAPSS degradation data.</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Uses Asymmetric Loss Function (NASA competition scoring).</a:t>
            </a:r>
            <a:endParaRPr lang="en-US" sz="1350" dirty="0"/>
          </a:p>
          <a:p>
            <a:pPr marL="177800" indent="-177800">
              <a:spcAft>
                <a:spcPts val="1200"/>
              </a:spcAft>
              <a:buSzPct val="100000"/>
              <a:buChar char="•"/>
            </a:pPr>
            <a:r>
              <a:rPr lang="en-US" sz="1350" dirty="0">
                <a:solidFill>
                  <a:srgbClr val="1A2233"/>
                </a:solidFill>
                <a:latin typeface="Calibri" pitchFamily="34" charset="0"/>
                <a:ea typeface="Calibri" pitchFamily="34" charset="-122"/>
                <a:cs typeface="Calibri" pitchFamily="34" charset="-120"/>
              </a:rPr>
              <a:t>Late Prediction (late prediction) is penalized much more heavily than Early Prediction, as late prediction risks sudden failure during active production.</a:t>
            </a:r>
            <a:endParaRPr lang="en-US" sz="1350" dirty="0"/>
          </a:p>
        </p:txBody>
      </p:sp>
      <p:graphicFrame>
        <p:nvGraphicFramePr>
          <p:cNvPr id="7" name="Chart 0" descr=""/>
          <p:cNvGraphicFramePr/>
          <p:nvPr/>
        </p:nvGraphicFramePr>
        <p:xfrm>
          <a:off x="7452360" y="1691640"/>
          <a:ext cx="4251960" cy="23317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452360" y="4206240"/>
            <a:ext cx="4251960" cy="1600200"/>
          </a:xfrm>
          <a:prstGeom prst="roundRect">
            <a:avLst>
              <a:gd name="adj" fmla="val 4571"/>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9" name="Text 6"/>
          <p:cNvSpPr/>
          <p:nvPr/>
        </p:nvSpPr>
        <p:spPr>
          <a:xfrm>
            <a:off x="7680960" y="4343400"/>
            <a:ext cx="3657600" cy="274320"/>
          </a:xfrm>
          <a:prstGeom prst="rect">
            <a:avLst/>
          </a:prstGeom>
          <a:noFill/>
          <a:ln/>
        </p:spPr>
        <p:txBody>
          <a:bodyPr wrap="square" rtlCol="0" anchor="ctr"/>
          <a:lstStyle/>
          <a:p>
            <a:pPr indent="0" marL="0">
              <a:buNone/>
            </a:pPr>
            <a:r>
              <a:rPr lang="en-US" sz="1100" b="1" dirty="0">
                <a:solidFill>
                  <a:srgbClr val="5C6773"/>
                </a:solidFill>
                <a:latin typeface="Calibri" pitchFamily="34" charset="0"/>
                <a:ea typeface="Calibri" pitchFamily="34" charset="-122"/>
                <a:cs typeface="Calibri" pitchFamily="34" charset="-120"/>
              </a:rPr>
              <a:t>Target Metrics</a:t>
            </a:r>
            <a:endParaRPr lang="en-US" sz="1100" dirty="0"/>
          </a:p>
        </p:txBody>
      </p:sp>
      <p:sp>
        <p:nvSpPr>
          <p:cNvPr id="10" name="Text 7"/>
          <p:cNvSpPr/>
          <p:nvPr/>
        </p:nvSpPr>
        <p:spPr>
          <a:xfrm>
            <a:off x="7680960" y="4617720"/>
            <a:ext cx="384048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MAE &lt; 10 cycles   ·   RMSE &lt; 15 cycles</a:t>
            </a:r>
            <a:endParaRPr lang="en-US" sz="1500" dirty="0"/>
          </a:p>
        </p:txBody>
      </p:sp>
      <p:sp>
        <p:nvSpPr>
          <p:cNvPr id="11" name="Text 8"/>
          <p:cNvSpPr/>
          <p:nvPr/>
        </p:nvSpPr>
        <p:spPr>
          <a:xfrm>
            <a:off x="7680960" y="5029200"/>
            <a:ext cx="3840480" cy="68580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Already achieved in initial validation: MAE 9.93 (PredictaGuard reference).</a:t>
            </a:r>
            <a:endParaRPr lang="en-US" sz="1100" dirty="0"/>
          </a:p>
        </p:txBody>
      </p:sp>
      <p:sp>
        <p:nvSpPr>
          <p:cNvPr id="12" name="Text 9"/>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13</a:t>
            </a:r>
            <a:endParaRPr lang="en-US" sz="1000" dirty="0"/>
          </a:p>
        </p:txBody>
      </p:sp>
      <p:sp>
        <p:nvSpPr>
          <p:cNvPr id="13" name="Text 10"/>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06 · DECISION ENGINE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Severity Matrix — Combining 3 Model Outputs</a:t>
            </a:r>
            <a:endParaRPr lang="en-US" sz="2900" dirty="0"/>
          </a:p>
        </p:txBody>
      </p:sp>
      <p:sp>
        <p:nvSpPr>
          <p:cNvPr id="4" name="Shape 2"/>
          <p:cNvSpPr/>
          <p:nvPr/>
        </p:nvSpPr>
        <p:spPr>
          <a:xfrm>
            <a:off x="502920" y="1828800"/>
            <a:ext cx="2377440" cy="1005840"/>
          </a:xfrm>
          <a:prstGeom prst="roundRect">
            <a:avLst>
              <a:gd name="adj" fmla="val 7273"/>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5" name="Text 3"/>
          <p:cNvSpPr/>
          <p:nvPr/>
        </p:nvSpPr>
        <p:spPr>
          <a:xfrm>
            <a:off x="502920" y="1874520"/>
            <a:ext cx="23774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Anomaly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Detected?</a:t>
            </a:r>
            <a:endParaRPr lang="en-US" sz="1300" dirty="0"/>
          </a:p>
        </p:txBody>
      </p:sp>
      <p:sp>
        <p:nvSpPr>
          <p:cNvPr id="6" name="Text 4"/>
          <p:cNvSpPr/>
          <p:nvPr/>
        </p:nvSpPr>
        <p:spPr>
          <a:xfrm>
            <a:off x="3520440" y="1417320"/>
            <a:ext cx="914400" cy="320040"/>
          </a:xfrm>
          <a:prstGeom prst="rect">
            <a:avLst/>
          </a:prstGeom>
          <a:noFill/>
          <a:ln/>
        </p:spPr>
        <p:txBody>
          <a:bodyPr wrap="square" rtlCol="0" anchor="ctr"/>
          <a:lstStyle/>
          <a:p>
            <a:pPr algn="ctr" indent="0" marL="0">
              <a:buNone/>
            </a:pPr>
            <a:r>
              <a:rPr lang="en-US" sz="1100" i="1" dirty="0">
                <a:solidFill>
                  <a:srgbClr val="5C6773"/>
                </a:solidFill>
                <a:latin typeface="Calibri" pitchFamily="34" charset="0"/>
                <a:ea typeface="Calibri" pitchFamily="34" charset="-122"/>
                <a:cs typeface="Calibri" pitchFamily="34" charset="-120"/>
              </a:rPr>
              <a:t>No</a:t>
            </a:r>
            <a:endParaRPr lang="en-US" sz="1100" dirty="0"/>
          </a:p>
        </p:txBody>
      </p:sp>
      <p:sp>
        <p:nvSpPr>
          <p:cNvPr id="7" name="Text 5"/>
          <p:cNvSpPr/>
          <p:nvPr/>
        </p:nvSpPr>
        <p:spPr>
          <a:xfrm>
            <a:off x="3429000" y="1920240"/>
            <a:ext cx="457200" cy="548640"/>
          </a:xfrm>
          <a:prstGeom prst="rect">
            <a:avLst/>
          </a:prstGeom>
          <a:noFill/>
          <a:ln/>
        </p:spPr>
        <p:txBody>
          <a:bodyPr wrap="square" rtlCol="0" anchor="ctr"/>
          <a:lstStyle/>
          <a:p>
            <a:pPr algn="ctr" indent="0" marL="0">
              <a:buNone/>
            </a:pPr>
            <a:r>
              <a:rPr lang="en-US" sz="2000" b="1" dirty="0">
                <a:solidFill>
                  <a:srgbClr val="2AA876"/>
                </a:solidFill>
                <a:latin typeface="Cambria" pitchFamily="34" charset="0"/>
                <a:ea typeface="Cambria" pitchFamily="34" charset="-122"/>
                <a:cs typeface="Cambria" pitchFamily="34" charset="-120"/>
              </a:rPr>
              <a:t>›</a:t>
            </a:r>
            <a:endParaRPr lang="en-US" sz="2000" dirty="0"/>
          </a:p>
        </p:txBody>
      </p:sp>
      <p:sp>
        <p:nvSpPr>
          <p:cNvPr id="8" name="Text 6"/>
          <p:cNvSpPr/>
          <p:nvPr/>
        </p:nvSpPr>
        <p:spPr>
          <a:xfrm>
            <a:off x="3520440" y="2514600"/>
            <a:ext cx="914400" cy="320040"/>
          </a:xfrm>
          <a:prstGeom prst="rect">
            <a:avLst/>
          </a:prstGeom>
          <a:noFill/>
          <a:ln/>
        </p:spPr>
        <p:txBody>
          <a:bodyPr wrap="square" rtlCol="0" anchor="ctr"/>
          <a:lstStyle/>
          <a:p>
            <a:pPr algn="ctr" indent="0" marL="0">
              <a:buNone/>
            </a:pPr>
            <a:r>
              <a:rPr lang="en-US" sz="1100" i="1" dirty="0">
                <a:solidFill>
                  <a:srgbClr val="5C6773"/>
                </a:solidFill>
                <a:latin typeface="Calibri" pitchFamily="34" charset="0"/>
                <a:ea typeface="Calibri" pitchFamily="34" charset="-122"/>
                <a:cs typeface="Calibri" pitchFamily="34" charset="-120"/>
              </a:rPr>
              <a:t>Yes</a:t>
            </a:r>
            <a:endParaRPr lang="en-US" sz="1100" dirty="0"/>
          </a:p>
        </p:txBody>
      </p:sp>
      <p:sp>
        <p:nvSpPr>
          <p:cNvPr id="9" name="Text 7"/>
          <p:cNvSpPr/>
          <p:nvPr/>
        </p:nvSpPr>
        <p:spPr>
          <a:xfrm>
            <a:off x="3429000" y="2880360"/>
            <a:ext cx="457200" cy="548640"/>
          </a:xfrm>
          <a:prstGeom prst="rect">
            <a:avLst/>
          </a:prstGeom>
          <a:noFill/>
          <a:ln/>
        </p:spPr>
        <p:txBody>
          <a:bodyPr wrap="square" rtlCol="0" anchor="ctr"/>
          <a:lstStyle/>
          <a:p>
            <a:pPr algn="ctr" indent="0" marL="0">
              <a:buNone/>
            </a:pPr>
            <a:r>
              <a:rPr lang="en-US" sz="2000" b="1" dirty="0">
                <a:solidFill>
                  <a:srgbClr val="E63946"/>
                </a:solidFill>
                <a:latin typeface="Cambria" pitchFamily="34" charset="0"/>
                <a:ea typeface="Cambria" pitchFamily="34" charset="-122"/>
                <a:cs typeface="Cambria" pitchFamily="34" charset="-120"/>
              </a:rPr>
              <a:t>›</a:t>
            </a:r>
            <a:endParaRPr lang="en-US" sz="2000" dirty="0"/>
          </a:p>
        </p:txBody>
      </p:sp>
      <p:sp>
        <p:nvSpPr>
          <p:cNvPr id="10" name="Shape 8"/>
          <p:cNvSpPr/>
          <p:nvPr/>
        </p:nvSpPr>
        <p:spPr>
          <a:xfrm>
            <a:off x="4023360" y="1417320"/>
            <a:ext cx="2103120" cy="868680"/>
          </a:xfrm>
          <a:prstGeom prst="roundRect">
            <a:avLst>
              <a:gd name="adj" fmla="val 8421"/>
            </a:avLst>
          </a:prstGeom>
          <a:solidFill>
            <a:srgbClr val="2AA876"/>
          </a:solidFill>
          <a:ln/>
          <a:effectLst>
            <a:outerShdw sx="100000" sy="100000" kx="0" ky="0" algn="bl" rotWithShape="0" blurRad="76200" dist="25400" dir="5400000">
              <a:srgbClr val="9AA5B1">
                <a:alpha val="25000"/>
              </a:srgbClr>
            </a:outerShdw>
          </a:effectLst>
        </p:spPr>
        <p:txBody>
          <a:bodyPr/>
          <a:p/>
        </p:txBody>
      </p:sp>
      <p:sp>
        <p:nvSpPr>
          <p:cNvPr id="11" name="Text 9"/>
          <p:cNvSpPr/>
          <p:nvPr/>
        </p:nvSpPr>
        <p:spPr>
          <a:xfrm>
            <a:off x="4023360" y="1463040"/>
            <a:ext cx="2103120" cy="7772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NORMAL</a:t>
            </a:r>
            <a:endParaRPr lang="en-US" sz="1400" dirty="0"/>
          </a:p>
        </p:txBody>
      </p:sp>
      <p:sp>
        <p:nvSpPr>
          <p:cNvPr id="12" name="Shape 10"/>
          <p:cNvSpPr/>
          <p:nvPr/>
        </p:nvSpPr>
        <p:spPr>
          <a:xfrm>
            <a:off x="4023360" y="2651760"/>
            <a:ext cx="2103120" cy="1051560"/>
          </a:xfrm>
          <a:prstGeom prst="roundRect">
            <a:avLst>
              <a:gd name="adj" fmla="val 6957"/>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3" name="Text 11"/>
          <p:cNvSpPr/>
          <p:nvPr/>
        </p:nvSpPr>
        <p:spPr>
          <a:xfrm>
            <a:off x="4023360" y="2724912"/>
            <a:ext cx="2103120" cy="320040"/>
          </a:xfrm>
          <a:prstGeom prst="rect">
            <a:avLst/>
          </a:prstGeom>
          <a:noFill/>
          <a:ln/>
        </p:spPr>
        <p:txBody>
          <a:bodyPr wrap="square" rtlCol="0" anchor="ctr"/>
          <a:lstStyle/>
          <a:p>
            <a:pPr algn="ctr" indent="0" marL="0">
              <a:buNone/>
            </a:pPr>
            <a:r>
              <a:rPr lang="en-US" sz="1100" b="1" dirty="0">
                <a:solidFill>
                  <a:srgbClr val="5C6773"/>
                </a:solidFill>
                <a:latin typeface="Calibri" pitchFamily="34" charset="0"/>
                <a:ea typeface="Calibri" pitchFamily="34" charset="-122"/>
                <a:cs typeface="Calibri" pitchFamily="34" charset="-120"/>
              </a:rPr>
              <a:t>RUL Model B</a:t>
            </a:r>
            <a:endParaRPr lang="en-US" sz="1100" dirty="0"/>
          </a:p>
        </p:txBody>
      </p:sp>
      <p:sp>
        <p:nvSpPr>
          <p:cNvPr id="14" name="Text 12"/>
          <p:cNvSpPr/>
          <p:nvPr/>
        </p:nvSpPr>
        <p:spPr>
          <a:xfrm>
            <a:off x="4023360" y="2999232"/>
            <a:ext cx="2103120" cy="640080"/>
          </a:xfrm>
          <a:prstGeom prst="rect">
            <a:avLst/>
          </a:prstGeom>
          <a:noFill/>
          <a:ln/>
        </p:spPr>
        <p:txBody>
          <a:bodyPr wrap="square"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&gt;= 7 days  →  WARNING</a:t>
            </a:r>
            <a:endParaRPr lang="en-US" sz="1050" dirty="0"/>
          </a:p>
          <a:p>
            <a:pPr algn="ctr" indent="0" marL="0">
              <a:buNone/>
            </a:pPr>
            <a:r>
              <a:rPr lang="en-US" sz="1050" dirty="0">
                <a:solidFill>
                  <a:srgbClr val="0B2545"/>
                </a:solidFill>
                <a:latin typeface="Calibri" pitchFamily="34" charset="0"/>
                <a:ea typeface="Calibri" pitchFamily="34" charset="-122"/>
                <a:cs typeface="Calibri" pitchFamily="34" charset="-120"/>
              </a:rPr>
              <a:t>&lt; 7 days  →  CRITICAL</a:t>
            </a:r>
            <a:endParaRPr lang="en-US" sz="1050" dirty="0"/>
          </a:p>
        </p:txBody>
      </p:sp>
      <p:sp>
        <p:nvSpPr>
          <p:cNvPr id="15" name="Shape 13"/>
          <p:cNvSpPr/>
          <p:nvPr/>
        </p:nvSpPr>
        <p:spPr>
          <a:xfrm>
            <a:off x="6537960" y="1417320"/>
            <a:ext cx="516636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6" name="Shape 14"/>
          <p:cNvSpPr/>
          <p:nvPr/>
        </p:nvSpPr>
        <p:spPr>
          <a:xfrm>
            <a:off x="6537960" y="1417320"/>
            <a:ext cx="82296" cy="1234440"/>
          </a:xfrm>
          <a:prstGeom prst="rect">
            <a:avLst/>
          </a:prstGeom>
          <a:solidFill>
            <a:srgbClr val="F4A527"/>
          </a:solidFill>
          <a:ln/>
        </p:spPr>
        <p:txBody>
          <a:bodyPr/>
          <a:p/>
        </p:txBody>
      </p:sp>
      <p:sp>
        <p:nvSpPr>
          <p:cNvPr id="17" name="Text 15"/>
          <p:cNvSpPr/>
          <p:nvPr/>
        </p:nvSpPr>
        <p:spPr>
          <a:xfrm>
            <a:off x="6812280" y="1508760"/>
            <a:ext cx="2743200" cy="320040"/>
          </a:xfrm>
          <a:prstGeom prst="rect">
            <a:avLst/>
          </a:prstGeom>
          <a:noFill/>
          <a:ln/>
        </p:spPr>
        <p:txBody>
          <a:bodyPr wrap="square" rtlCol="0" anchor="ctr"/>
          <a:lstStyle/>
          <a:p>
            <a:pPr indent="0" marL="0">
              <a:buNone/>
            </a:pPr>
            <a:r>
              <a:rPr lang="en-US" sz="1500" b="1" dirty="0">
                <a:solidFill>
                  <a:srgbClr val="F4A527"/>
                </a:solidFill>
                <a:latin typeface="Cambria" pitchFamily="34" charset="0"/>
                <a:ea typeface="Cambria" pitchFamily="34" charset="-122"/>
                <a:cs typeface="Cambria" pitchFamily="34" charset="-120"/>
              </a:rPr>
              <a:t>WARNING</a:t>
            </a:r>
            <a:endParaRPr lang="en-US" sz="1500" dirty="0"/>
          </a:p>
        </p:txBody>
      </p:sp>
      <p:sp>
        <p:nvSpPr>
          <p:cNvPr id="18" name="Text 16"/>
          <p:cNvSpPr/>
          <p:nvPr/>
        </p:nvSpPr>
        <p:spPr>
          <a:xfrm>
            <a:off x="6812280" y="1856232"/>
            <a:ext cx="4709160" cy="365760"/>
          </a:xfrm>
          <a:prstGeom prst="rect">
            <a:avLst/>
          </a:prstGeom>
          <a:noFill/>
          <a:ln/>
        </p:spPr>
        <p:txBody>
          <a:bodyPr wrap="square" rtlCol="0" anchor="ctr"/>
          <a:lstStyle/>
          <a:p>
            <a:pPr indent="0" marL="0">
              <a:buNone/>
            </a:pPr>
            <a:r>
              <a:rPr lang="en-US" sz="1050" i="1" dirty="0">
                <a:solidFill>
                  <a:srgbClr val="5C6773"/>
                </a:solidFill>
                <a:latin typeface="Calibri" pitchFamily="34" charset="0"/>
                <a:ea typeface="Calibri" pitchFamily="34" charset="-122"/>
                <a:cs typeface="Calibri" pitchFamily="34" charset="-120"/>
              </a:rPr>
              <a:t>anomaly_score &gt; 0.65 and RUL 3–7 days</a:t>
            </a:r>
            <a:endParaRPr lang="en-US" sz="1050" dirty="0"/>
          </a:p>
        </p:txBody>
      </p:sp>
      <p:sp>
        <p:nvSpPr>
          <p:cNvPr id="19" name="Text 17"/>
          <p:cNvSpPr/>
          <p:nvPr/>
        </p:nvSpPr>
        <p:spPr>
          <a:xfrm>
            <a:off x="6812280" y="2194560"/>
            <a:ext cx="4709160" cy="41148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Schedule maintenance during this week when production loads are low.</a:t>
            </a:r>
            <a:endParaRPr lang="en-US" sz="1050" dirty="0"/>
          </a:p>
        </p:txBody>
      </p:sp>
      <p:sp>
        <p:nvSpPr>
          <p:cNvPr id="20" name="Shape 18"/>
          <p:cNvSpPr/>
          <p:nvPr/>
        </p:nvSpPr>
        <p:spPr>
          <a:xfrm>
            <a:off x="6537960" y="2834640"/>
            <a:ext cx="516636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21" name="Shape 19"/>
          <p:cNvSpPr/>
          <p:nvPr/>
        </p:nvSpPr>
        <p:spPr>
          <a:xfrm>
            <a:off x="6537960" y="2834640"/>
            <a:ext cx="82296" cy="1234440"/>
          </a:xfrm>
          <a:prstGeom prst="rect">
            <a:avLst/>
          </a:prstGeom>
          <a:solidFill>
            <a:srgbClr val="E63946"/>
          </a:solidFill>
          <a:ln/>
        </p:spPr>
        <p:txBody>
          <a:bodyPr/>
          <a:p/>
        </p:txBody>
      </p:sp>
      <p:sp>
        <p:nvSpPr>
          <p:cNvPr id="22" name="Text 20"/>
          <p:cNvSpPr/>
          <p:nvPr/>
        </p:nvSpPr>
        <p:spPr>
          <a:xfrm>
            <a:off x="6812280" y="2926080"/>
            <a:ext cx="2743200" cy="320040"/>
          </a:xfrm>
          <a:prstGeom prst="rect">
            <a:avLst/>
          </a:prstGeom>
          <a:noFill/>
          <a:ln/>
        </p:spPr>
        <p:txBody>
          <a:bodyPr wrap="square" rtlCol="0" anchor="ctr"/>
          <a:lstStyle/>
          <a:p>
            <a:pPr indent="0" marL="0">
              <a:buNone/>
            </a:pPr>
            <a:r>
              <a:rPr lang="en-US" sz="1500" b="1" dirty="0">
                <a:solidFill>
                  <a:srgbClr val="E63946"/>
                </a:solidFill>
                <a:latin typeface="Cambria" pitchFamily="34" charset="0"/>
                <a:ea typeface="Cambria" pitchFamily="34" charset="-122"/>
                <a:cs typeface="Cambria" pitchFamily="34" charset="-120"/>
              </a:rPr>
              <a:t>CRITICAL</a:t>
            </a:r>
            <a:endParaRPr lang="en-US" sz="1500" dirty="0"/>
          </a:p>
        </p:txBody>
      </p:sp>
      <p:sp>
        <p:nvSpPr>
          <p:cNvPr id="23" name="Text 21"/>
          <p:cNvSpPr/>
          <p:nvPr/>
        </p:nvSpPr>
        <p:spPr>
          <a:xfrm>
            <a:off x="6812280" y="3273552"/>
            <a:ext cx="4709160" cy="365760"/>
          </a:xfrm>
          <a:prstGeom prst="rect">
            <a:avLst/>
          </a:prstGeom>
          <a:noFill/>
          <a:ln/>
        </p:spPr>
        <p:txBody>
          <a:bodyPr wrap="square" rtlCol="0" anchor="ctr"/>
          <a:lstStyle/>
          <a:p>
            <a:pPr indent="0" marL="0">
              <a:buNone/>
            </a:pPr>
            <a:r>
              <a:rPr lang="en-US" sz="1050" i="1" dirty="0">
                <a:solidFill>
                  <a:srgbClr val="5C6773"/>
                </a:solidFill>
                <a:latin typeface="Calibri" pitchFamily="34" charset="0"/>
                <a:ea typeface="Calibri" pitchFamily="34" charset="-122"/>
                <a:cs typeface="Calibri" pitchFamily="34" charset="-120"/>
              </a:rPr>
              <a:t>anomaly_score &gt; 0.85 and RUL &lt; 3 days, or absolute RUL &lt; 3 days</a:t>
            </a:r>
            <a:endParaRPr lang="en-US" sz="1050" dirty="0"/>
          </a:p>
        </p:txBody>
      </p:sp>
      <p:sp>
        <p:nvSpPr>
          <p:cNvPr id="24" name="Text 22"/>
          <p:cNvSpPr/>
          <p:nvPr/>
        </p:nvSpPr>
        <p:spPr>
          <a:xfrm>
            <a:off x="6812280" y="3611880"/>
            <a:ext cx="4709160" cy="41148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Inspect immediately — shutdown risk. Schedule emergency maintenance.</a:t>
            </a:r>
            <a:endParaRPr lang="en-US" sz="1050" dirty="0"/>
          </a:p>
        </p:txBody>
      </p:sp>
      <p:sp>
        <p:nvSpPr>
          <p:cNvPr id="25" name="Shape 23"/>
          <p:cNvSpPr/>
          <p:nvPr/>
        </p:nvSpPr>
        <p:spPr>
          <a:xfrm>
            <a:off x="502920" y="4160520"/>
            <a:ext cx="11201400" cy="1645920"/>
          </a:xfrm>
          <a:prstGeom prst="roundRect">
            <a:avLst>
              <a:gd name="adj" fmla="val 4444"/>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26" name="Text 24"/>
          <p:cNvSpPr/>
          <p:nvPr/>
        </p:nvSpPr>
        <p:spPr>
          <a:xfrm>
            <a:off x="777240" y="4297680"/>
            <a:ext cx="7315200" cy="320040"/>
          </a:xfrm>
          <a:prstGeom prst="rect">
            <a:avLst/>
          </a:prstGeom>
          <a:noFill/>
          <a:ln/>
        </p:spPr>
        <p:txBody>
          <a:bodyPr wrap="square" rtlCol="0" anchor="ctr"/>
          <a:lstStyle/>
          <a:p>
            <a:pPr indent="0" marL="0">
              <a:buNone/>
            </a:pPr>
            <a:r>
              <a:rPr lang="en-US" sz="1300" b="1" dirty="0">
                <a:solidFill>
                  <a:srgbClr val="2AA876"/>
                </a:solidFill>
                <a:latin typeface="Cambria" pitchFamily="34" charset="0"/>
                <a:ea typeface="Cambria" pitchFamily="34" charset="-122"/>
                <a:cs typeface="Cambria" pitchFamily="34" charset="-120"/>
              </a:rPr>
              <a:t>NORMAL — outside the above conditions</a:t>
            </a:r>
            <a:endParaRPr lang="en-US" sz="1300" dirty="0"/>
          </a:p>
        </p:txBody>
      </p:sp>
      <p:sp>
        <p:nvSpPr>
          <p:cNvPr id="27" name="Text 25"/>
          <p:cNvSpPr/>
          <p:nvPr/>
        </p:nvSpPr>
        <p:spPr>
          <a:xfrm>
            <a:off x="777240" y="4663440"/>
            <a:ext cx="10607040" cy="1005840"/>
          </a:xfrm>
          <a:prstGeom prst="rect">
            <a:avLst/>
          </a:prstGeom>
          <a:noFill/>
          <a:ln/>
        </p:spPr>
        <p:txBody>
          <a:bodyPr wrap="square" rtlCol="0" anchor="ctr"/>
          <a:lstStyle/>
          <a:p>
            <a:pPr indent="0" marL="0">
              <a:buNone/>
            </a:pPr>
            <a:r>
              <a:rPr lang="en-US" sz="1200" dirty="0">
                <a:solidFill>
                  <a:srgbClr val="1A2233"/>
                </a:solidFill>
                <a:latin typeface="Calibri" pitchFamily="34" charset="0"/>
                <a:ea typeface="Calibri" pitchFamily="34" charset="-122"/>
                <a:cs typeface="Calibri" pitchFamily="34" charset="-120"/>
              </a:rPr>
              <a:t>Recommendation: "Continue routine monitoring." The Decision Engine evaluates conditions sequentially and takes the first matching rule, ensuring every motor always has one clear status and recommendation.</a:t>
            </a:r>
            <a:endParaRPr lang="en-US" sz="1200" dirty="0"/>
          </a:p>
        </p:txBody>
      </p:sp>
      <p:sp>
        <p:nvSpPr>
          <p:cNvPr id="28" name="Text 26"/>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14</a:t>
            </a:r>
            <a:endParaRPr lang="en-US" sz="1000" dirty="0"/>
          </a:p>
        </p:txBody>
      </p:sp>
      <p:sp>
        <p:nvSpPr>
          <p:cNvPr id="29" name="Text 27"/>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06 · DECISION ENGINE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False Alarm Handling (Suppression &amp; Moderation)</a:t>
            </a:r>
            <a:endParaRPr lang="en-US" sz="2900" dirty="0"/>
          </a:p>
        </p:txBody>
      </p:sp>
      <p:sp>
        <p:nvSpPr>
          <p:cNvPr id="4" name="Shape 2"/>
          <p:cNvSpPr/>
          <p:nvPr/>
        </p:nvSpPr>
        <p:spPr>
          <a:xfrm>
            <a:off x="502920" y="1737360"/>
            <a:ext cx="544068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Shape 3"/>
          <p:cNvSpPr/>
          <p:nvPr/>
        </p:nvSpPr>
        <p:spPr>
          <a:xfrm>
            <a:off x="685800" y="1938528"/>
            <a:ext cx="457200" cy="457200"/>
          </a:xfrm>
          <a:prstGeom prst="ellipse">
            <a:avLst/>
          </a:prstGeom>
          <a:solidFill>
            <a:srgbClr val="0B2545"/>
          </a:solidFill>
          <a:ln/>
        </p:spPr>
        <p:txBody>
          <a:bodyPr/>
          <a:p/>
        </p:txBody>
      </p:sp>
      <p:sp>
        <p:nvSpPr>
          <p:cNvPr id="6" name="Text 4"/>
          <p:cNvSpPr/>
          <p:nvPr/>
        </p:nvSpPr>
        <p:spPr>
          <a:xfrm>
            <a:off x="685800" y="1920240"/>
            <a:ext cx="457200" cy="457200"/>
          </a:xfrm>
          <a:prstGeom prst="rect">
            <a:avLst/>
          </a:prstGeom>
          <a:noFill/>
          <a:ln/>
        </p:spPr>
        <p:txBody>
          <a:bodyPr wrap="square" rtlCol="0" anchor="ctr"/>
          <a:lstStyle/>
          <a:p>
            <a:pPr algn="ctr" indent="0" marL="0">
              <a:buNone/>
            </a:pPr>
            <a:r>
              <a:rPr lang="en-US" sz="1500" b="1" dirty="0">
                <a:solidFill>
                  <a:srgbClr val="00B4A6"/>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280160" y="1865376"/>
            <a:ext cx="448056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Post-Maintenance Bedding-in</a:t>
            </a:r>
            <a:endParaRPr lang="en-US" sz="1300" dirty="0"/>
          </a:p>
        </p:txBody>
      </p:sp>
      <p:sp>
        <p:nvSpPr>
          <p:cNvPr id="8" name="Text 6"/>
          <p:cNvSpPr/>
          <p:nvPr/>
        </p:nvSpPr>
        <p:spPr>
          <a:xfrm>
            <a:off x="1280160" y="2221992"/>
            <a:ext cx="4480560" cy="68580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Recently repaired motor (&lt; 24 hours) often shows vibration spikes from installation adaptation → downgraded to NORMAL.</a:t>
            </a:r>
            <a:endParaRPr lang="en-US" sz="1050" dirty="0"/>
          </a:p>
        </p:txBody>
      </p:sp>
      <p:sp>
        <p:nvSpPr>
          <p:cNvPr id="9" name="Shape 7"/>
          <p:cNvSpPr/>
          <p:nvPr/>
        </p:nvSpPr>
        <p:spPr>
          <a:xfrm>
            <a:off x="6263640" y="1737360"/>
            <a:ext cx="544068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0" name="Shape 8"/>
          <p:cNvSpPr/>
          <p:nvPr/>
        </p:nvSpPr>
        <p:spPr>
          <a:xfrm>
            <a:off x="6446520" y="1938528"/>
            <a:ext cx="457200" cy="457200"/>
          </a:xfrm>
          <a:prstGeom prst="ellipse">
            <a:avLst/>
          </a:prstGeom>
          <a:solidFill>
            <a:srgbClr val="0B2545"/>
          </a:solidFill>
          <a:ln/>
        </p:spPr>
        <p:txBody>
          <a:bodyPr/>
          <a:p/>
        </p:txBody>
      </p:sp>
      <p:sp>
        <p:nvSpPr>
          <p:cNvPr id="11" name="Text 9"/>
          <p:cNvSpPr/>
          <p:nvPr/>
        </p:nvSpPr>
        <p:spPr>
          <a:xfrm>
            <a:off x="6446520" y="1920240"/>
            <a:ext cx="457200" cy="457200"/>
          </a:xfrm>
          <a:prstGeom prst="rect">
            <a:avLst/>
          </a:prstGeom>
          <a:noFill/>
          <a:ln/>
        </p:spPr>
        <p:txBody>
          <a:bodyPr wrap="square" rtlCol="0" anchor="ctr"/>
          <a:lstStyle/>
          <a:p>
            <a:pPr algn="ctr" indent="0" marL="0">
              <a:buNone/>
            </a:pPr>
            <a:r>
              <a:rPr lang="en-US" sz="1500" b="1" dirty="0">
                <a:solidFill>
                  <a:srgbClr val="00B4A6"/>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040880" y="1865376"/>
            <a:ext cx="448056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High Production Load Scaling</a:t>
            </a:r>
            <a:endParaRPr lang="en-US" sz="1300" dirty="0"/>
          </a:p>
        </p:txBody>
      </p:sp>
      <p:sp>
        <p:nvSpPr>
          <p:cNvPr id="13" name="Text 11"/>
          <p:cNvSpPr/>
          <p:nvPr/>
        </p:nvSpPr>
        <p:spPr>
          <a:xfrm>
            <a:off x="7040880" y="2221992"/>
            <a:ext cx="4480560" cy="68580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Under maximum production load, natural rises in temperature &amp; current are expected → thermal/current anomalies suppressed to NORMAL.</a:t>
            </a:r>
            <a:endParaRPr lang="en-US" sz="1050" dirty="0"/>
          </a:p>
        </p:txBody>
      </p:sp>
      <p:sp>
        <p:nvSpPr>
          <p:cNvPr id="14" name="Shape 12"/>
          <p:cNvSpPr/>
          <p:nvPr/>
        </p:nvSpPr>
        <p:spPr>
          <a:xfrm>
            <a:off x="502920" y="3154680"/>
            <a:ext cx="544068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5" name="Shape 13"/>
          <p:cNvSpPr/>
          <p:nvPr/>
        </p:nvSpPr>
        <p:spPr>
          <a:xfrm>
            <a:off x="685800" y="3355848"/>
            <a:ext cx="457200" cy="457200"/>
          </a:xfrm>
          <a:prstGeom prst="ellipse">
            <a:avLst/>
          </a:prstGeom>
          <a:solidFill>
            <a:srgbClr val="0B2545"/>
          </a:solidFill>
          <a:ln/>
        </p:spPr>
        <p:txBody>
          <a:bodyPr/>
          <a:p/>
        </p:txBody>
      </p:sp>
      <p:sp>
        <p:nvSpPr>
          <p:cNvPr id="16" name="Text 14"/>
          <p:cNvSpPr/>
          <p:nvPr/>
        </p:nvSpPr>
        <p:spPr>
          <a:xfrm>
            <a:off x="685800" y="3337560"/>
            <a:ext cx="457200" cy="457200"/>
          </a:xfrm>
          <a:prstGeom prst="rect">
            <a:avLst/>
          </a:prstGeom>
          <a:noFill/>
          <a:ln/>
        </p:spPr>
        <p:txBody>
          <a:bodyPr wrap="square" rtlCol="0" anchor="ctr"/>
          <a:lstStyle/>
          <a:p>
            <a:pPr algn="ctr" indent="0" marL="0">
              <a:buNone/>
            </a:pPr>
            <a:r>
              <a:rPr lang="en-US" sz="1500" b="1" dirty="0">
                <a:solidFill>
                  <a:srgbClr val="00B4A6"/>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280160" y="3282696"/>
            <a:ext cx="448056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Room/Ambient Temperature Shift</a:t>
            </a:r>
            <a:endParaRPr lang="en-US" sz="1300" dirty="0"/>
          </a:p>
        </p:txBody>
      </p:sp>
      <p:sp>
        <p:nvSpPr>
          <p:cNvPr id="18" name="Text 16"/>
          <p:cNvSpPr/>
          <p:nvPr/>
        </p:nvSpPr>
        <p:spPr>
          <a:xfrm>
            <a:off x="1280160" y="3639312"/>
            <a:ext cx="4480560" cy="68580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If all motors experience temperature anomalies simultaneously → HVAC issue indicator, status downgraded to WARNING.</a:t>
            </a:r>
            <a:endParaRPr lang="en-US" sz="1050" dirty="0"/>
          </a:p>
        </p:txBody>
      </p:sp>
      <p:sp>
        <p:nvSpPr>
          <p:cNvPr id="19" name="Shape 17"/>
          <p:cNvSpPr/>
          <p:nvPr/>
        </p:nvSpPr>
        <p:spPr>
          <a:xfrm>
            <a:off x="6263640" y="3154680"/>
            <a:ext cx="544068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20" name="Shape 18"/>
          <p:cNvSpPr/>
          <p:nvPr/>
        </p:nvSpPr>
        <p:spPr>
          <a:xfrm>
            <a:off x="6446520" y="3355848"/>
            <a:ext cx="457200" cy="457200"/>
          </a:xfrm>
          <a:prstGeom prst="ellipse">
            <a:avLst/>
          </a:prstGeom>
          <a:solidFill>
            <a:srgbClr val="0B2545"/>
          </a:solidFill>
          <a:ln/>
        </p:spPr>
        <p:txBody>
          <a:bodyPr/>
          <a:p/>
        </p:txBody>
      </p:sp>
      <p:sp>
        <p:nvSpPr>
          <p:cNvPr id="21" name="Text 19"/>
          <p:cNvSpPr/>
          <p:nvPr/>
        </p:nvSpPr>
        <p:spPr>
          <a:xfrm>
            <a:off x="6446520" y="3337560"/>
            <a:ext cx="457200" cy="457200"/>
          </a:xfrm>
          <a:prstGeom prst="rect">
            <a:avLst/>
          </a:prstGeom>
          <a:noFill/>
          <a:ln/>
        </p:spPr>
        <p:txBody>
          <a:bodyPr wrap="square" rtlCol="0" anchor="ctr"/>
          <a:lstStyle/>
          <a:p>
            <a:pPr algn="ctr" indent="0" marL="0">
              <a:buNone/>
            </a:pPr>
            <a:r>
              <a:rPr lang="en-US" sz="1500" b="1" dirty="0">
                <a:solidFill>
                  <a:srgbClr val="00B4A6"/>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040880" y="3282696"/>
            <a:ext cx="448056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Transient Startup/Shutdown</a:t>
            </a:r>
            <a:endParaRPr lang="en-US" sz="1300" dirty="0"/>
          </a:p>
        </p:txBody>
      </p:sp>
      <p:sp>
        <p:nvSpPr>
          <p:cNvPr id="23" name="Text 21"/>
          <p:cNvSpPr/>
          <p:nvPr/>
        </p:nvSpPr>
        <p:spPr>
          <a:xfrm>
            <a:off x="7040880" y="3639312"/>
            <a:ext cx="4480560" cy="68580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Current &amp; vibration spikes during start/stop are read from sharp RPM fluctuations to suppress false alarms.</a:t>
            </a:r>
            <a:endParaRPr lang="en-US" sz="1050" dirty="0"/>
          </a:p>
        </p:txBody>
      </p:sp>
      <p:sp>
        <p:nvSpPr>
          <p:cNvPr id="24" name="Shape 22"/>
          <p:cNvSpPr/>
          <p:nvPr/>
        </p:nvSpPr>
        <p:spPr>
          <a:xfrm>
            <a:off x="502920" y="4572000"/>
            <a:ext cx="5440680" cy="1234440"/>
          </a:xfrm>
          <a:prstGeom prst="roundRect">
            <a:avLst>
              <a:gd name="adj" fmla="val 592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25" name="Shape 23"/>
          <p:cNvSpPr/>
          <p:nvPr/>
        </p:nvSpPr>
        <p:spPr>
          <a:xfrm>
            <a:off x="685800" y="4773168"/>
            <a:ext cx="457200" cy="457200"/>
          </a:xfrm>
          <a:prstGeom prst="ellipse">
            <a:avLst/>
          </a:prstGeom>
          <a:solidFill>
            <a:srgbClr val="0B2545"/>
          </a:solidFill>
          <a:ln/>
        </p:spPr>
        <p:txBody>
          <a:bodyPr/>
          <a:p/>
        </p:txBody>
      </p:sp>
      <p:sp>
        <p:nvSpPr>
          <p:cNvPr id="26" name="Text 24"/>
          <p:cNvSpPr/>
          <p:nvPr/>
        </p:nvSpPr>
        <p:spPr>
          <a:xfrm>
            <a:off x="685800" y="4754880"/>
            <a:ext cx="457200" cy="457200"/>
          </a:xfrm>
          <a:prstGeom prst="rect">
            <a:avLst/>
          </a:prstGeom>
          <a:noFill/>
          <a:ln/>
        </p:spPr>
        <p:txBody>
          <a:bodyPr wrap="square" rtlCol="0" anchor="ctr"/>
          <a:lstStyle/>
          <a:p>
            <a:pPr algn="ctr" indent="0" marL="0">
              <a:buNone/>
            </a:pPr>
            <a:r>
              <a:rPr lang="en-US" sz="1500" b="1" dirty="0">
                <a:solidFill>
                  <a:srgbClr val="00B4A6"/>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280160" y="4700016"/>
            <a:ext cx="448056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Persistence Trend Check</a:t>
            </a:r>
            <a:endParaRPr lang="en-US" sz="1300" dirty="0"/>
          </a:p>
        </p:txBody>
      </p:sp>
      <p:sp>
        <p:nvSpPr>
          <p:cNvPr id="28" name="Text 26"/>
          <p:cNvSpPr/>
          <p:nvPr/>
        </p:nvSpPr>
        <p:spPr>
          <a:xfrm>
            <a:off x="1280160" y="5056632"/>
            <a:ext cx="4480560" cy="68580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Spikes occurring in only 1 window without subsequent rising trends are filtered out as transient noise.</a:t>
            </a:r>
            <a:endParaRPr lang="en-US" sz="1050" dirty="0"/>
          </a:p>
        </p:txBody>
      </p:sp>
      <p:sp>
        <p:nvSpPr>
          <p:cNvPr id="29" name="Text 27"/>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15</a:t>
            </a:r>
            <a:endParaRPr lang="en-US" sz="1000" dirty="0"/>
          </a:p>
        </p:txBody>
      </p:sp>
      <p:sp>
        <p:nvSpPr>
          <p:cNvPr id="30" name="Text 28"/>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07 · SYSTEM ARCHITECTURE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End-to-End Data Flow</a:t>
            </a:r>
            <a:endParaRPr lang="en-US" sz="2900" dirty="0"/>
          </a:p>
        </p:txBody>
      </p:sp>
      <p:sp>
        <p:nvSpPr>
          <p:cNvPr id="4" name="Shape 2"/>
          <p:cNvSpPr/>
          <p:nvPr/>
        </p:nvSpPr>
        <p:spPr>
          <a:xfrm>
            <a:off x="502920" y="2194560"/>
            <a:ext cx="1755648" cy="1554480"/>
          </a:xfrm>
          <a:prstGeom prst="roundRect">
            <a:avLst>
              <a:gd name="adj" fmla="val 470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Text 3"/>
          <p:cNvSpPr/>
          <p:nvPr/>
        </p:nvSpPr>
        <p:spPr>
          <a:xfrm>
            <a:off x="594360" y="2286000"/>
            <a:ext cx="1572768" cy="137160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Machine</a:t>
            </a:r>
            <a:endParaRPr lang="en-US" sz="1050" dirty="0"/>
          </a:p>
          <a:p>
            <a:pPr algn="ctr" indent="0" marL="0">
              <a:buNone/>
            </a:pPr>
            <a:r>
              <a:rPr lang="en-US" sz="1050" b="1" dirty="0">
                <a:solidFill>
                  <a:srgbClr val="0B2545"/>
                </a:solidFill>
                <a:latin typeface="Calibri" pitchFamily="34" charset="0"/>
                <a:ea typeface="Calibri" pitchFamily="34" charset="-122"/>
                <a:cs typeface="Calibri" pitchFamily="34" charset="-120"/>
              </a:rPr>
              <a:t>Sensors (1-Hz)</a:t>
            </a:r>
            <a:endParaRPr lang="en-US" sz="1050" dirty="0"/>
          </a:p>
        </p:txBody>
      </p:sp>
      <p:sp>
        <p:nvSpPr>
          <p:cNvPr id="6" name="Text 4"/>
          <p:cNvSpPr/>
          <p:nvPr/>
        </p:nvSpPr>
        <p:spPr>
          <a:xfrm>
            <a:off x="2258568" y="2651760"/>
            <a:ext cx="128016" cy="457200"/>
          </a:xfrm>
          <a:prstGeom prst="rect">
            <a:avLst/>
          </a:prstGeom>
          <a:noFill/>
          <a:ln/>
        </p:spPr>
        <p:txBody>
          <a:bodyPr wrap="square" rtlCol="0" anchor="ctr"/>
          <a:lstStyle/>
          <a:p>
            <a:pPr algn="ctr" indent="0" marL="0">
              <a:buNone/>
            </a:pPr>
            <a:r>
              <a:rPr lang="en-US" sz="1800" b="1" dirty="0">
                <a:solidFill>
                  <a:srgbClr val="00B4A6"/>
                </a:solidFill>
                <a:latin typeface="Cambria" pitchFamily="34" charset="0"/>
                <a:ea typeface="Cambria" pitchFamily="34" charset="-122"/>
                <a:cs typeface="Cambria" pitchFamily="34" charset="-120"/>
              </a:rPr>
              <a:t>›</a:t>
            </a:r>
            <a:endParaRPr lang="en-US" sz="1800" dirty="0"/>
          </a:p>
        </p:txBody>
      </p:sp>
      <p:sp>
        <p:nvSpPr>
          <p:cNvPr id="7" name="Shape 5"/>
          <p:cNvSpPr/>
          <p:nvPr/>
        </p:nvSpPr>
        <p:spPr>
          <a:xfrm>
            <a:off x="2368296" y="2194560"/>
            <a:ext cx="1755648" cy="1554480"/>
          </a:xfrm>
          <a:prstGeom prst="roundRect">
            <a:avLst>
              <a:gd name="adj" fmla="val 4706"/>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8" name="Text 6"/>
          <p:cNvSpPr/>
          <p:nvPr/>
        </p:nvSpPr>
        <p:spPr>
          <a:xfrm>
            <a:off x="2459736" y="2286000"/>
            <a:ext cx="1572768" cy="13716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PostgreSQL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raw_sensor_data</a:t>
            </a:r>
            <a:endParaRPr lang="en-US" sz="1050" dirty="0"/>
          </a:p>
        </p:txBody>
      </p:sp>
      <p:sp>
        <p:nvSpPr>
          <p:cNvPr id="9" name="Text 7"/>
          <p:cNvSpPr/>
          <p:nvPr/>
        </p:nvSpPr>
        <p:spPr>
          <a:xfrm>
            <a:off x="4123944" y="2651760"/>
            <a:ext cx="128016" cy="457200"/>
          </a:xfrm>
          <a:prstGeom prst="rect">
            <a:avLst/>
          </a:prstGeom>
          <a:noFill/>
          <a:ln/>
        </p:spPr>
        <p:txBody>
          <a:bodyPr wrap="square" rtlCol="0" anchor="ctr"/>
          <a:lstStyle/>
          <a:p>
            <a:pPr algn="ctr" indent="0" marL="0">
              <a:buNone/>
            </a:pPr>
            <a:r>
              <a:rPr lang="en-US" sz="1800" b="1" dirty="0">
                <a:solidFill>
                  <a:srgbClr val="00B4A6"/>
                </a:solidFill>
                <a:latin typeface="Cambria" pitchFamily="34" charset="0"/>
                <a:ea typeface="Cambria" pitchFamily="34" charset="-122"/>
                <a:cs typeface="Cambria" pitchFamily="34" charset="-120"/>
              </a:rPr>
              <a:t>›</a:t>
            </a:r>
            <a:endParaRPr lang="en-US" sz="1800" dirty="0"/>
          </a:p>
        </p:txBody>
      </p:sp>
      <p:sp>
        <p:nvSpPr>
          <p:cNvPr id="10" name="Shape 8"/>
          <p:cNvSpPr/>
          <p:nvPr/>
        </p:nvSpPr>
        <p:spPr>
          <a:xfrm>
            <a:off x="4233672" y="2194560"/>
            <a:ext cx="1755648" cy="1554480"/>
          </a:xfrm>
          <a:prstGeom prst="roundRect">
            <a:avLst>
              <a:gd name="adj" fmla="val 470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1" name="Text 9"/>
          <p:cNvSpPr/>
          <p:nvPr/>
        </p:nvSpPr>
        <p:spPr>
          <a:xfrm>
            <a:off x="4325112" y="2286000"/>
            <a:ext cx="1572768" cy="137160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Scheduler Job 1</a:t>
            </a:r>
            <a:endParaRPr lang="en-US" sz="1050" dirty="0"/>
          </a:p>
          <a:p>
            <a:pPr algn="ctr" indent="0" marL="0">
              <a:buNone/>
            </a:pPr>
            <a:r>
              <a:rPr lang="en-US" sz="1050" b="1" dirty="0">
                <a:solidFill>
                  <a:srgbClr val="0B2545"/>
                </a:solidFill>
                <a:latin typeface="Calibri" pitchFamily="34" charset="0"/>
                <a:ea typeface="Calibri" pitchFamily="34" charset="-122"/>
                <a:cs typeface="Calibri" pitchFamily="34" charset="-120"/>
              </a:rPr>
              <a:t>(30 seconds)</a:t>
            </a:r>
            <a:endParaRPr lang="en-US" sz="1050" dirty="0"/>
          </a:p>
          <a:p>
            <a:pPr algn="ctr" indent="0" marL="0">
              <a:buNone/>
            </a:pPr>
            <a:r>
              <a:rPr lang="en-US" sz="1050" b="1" dirty="0">
                <a:solidFill>
                  <a:srgbClr val="0B2545"/>
                </a:solidFill>
                <a:latin typeface="Calibri" pitchFamily="34" charset="0"/>
                <a:ea typeface="Calibri" pitchFamily="34" charset="-122"/>
                <a:cs typeface="Calibri" pitchFamily="34" charset="-120"/>
              </a:rPr>
              <a:t>Cleaning + Feature</a:t>
            </a:r>
            <a:endParaRPr lang="en-US" sz="1050" dirty="0"/>
          </a:p>
        </p:txBody>
      </p:sp>
      <p:sp>
        <p:nvSpPr>
          <p:cNvPr id="12" name="Text 10"/>
          <p:cNvSpPr/>
          <p:nvPr/>
        </p:nvSpPr>
        <p:spPr>
          <a:xfrm>
            <a:off x="5989320" y="2651760"/>
            <a:ext cx="128016" cy="457200"/>
          </a:xfrm>
          <a:prstGeom prst="rect">
            <a:avLst/>
          </a:prstGeom>
          <a:noFill/>
          <a:ln/>
        </p:spPr>
        <p:txBody>
          <a:bodyPr wrap="square" rtlCol="0" anchor="ctr"/>
          <a:lstStyle/>
          <a:p>
            <a:pPr algn="ctr" indent="0" marL="0">
              <a:buNone/>
            </a:pPr>
            <a:r>
              <a:rPr lang="en-US" sz="1800" b="1" dirty="0">
                <a:solidFill>
                  <a:srgbClr val="00B4A6"/>
                </a:solidFill>
                <a:latin typeface="Cambria" pitchFamily="34" charset="0"/>
                <a:ea typeface="Cambria" pitchFamily="34" charset="-122"/>
                <a:cs typeface="Cambria" pitchFamily="34" charset="-120"/>
              </a:rPr>
              <a:t>›</a:t>
            </a:r>
            <a:endParaRPr lang="en-US" sz="1800" dirty="0"/>
          </a:p>
        </p:txBody>
      </p:sp>
      <p:sp>
        <p:nvSpPr>
          <p:cNvPr id="13" name="Shape 11"/>
          <p:cNvSpPr/>
          <p:nvPr/>
        </p:nvSpPr>
        <p:spPr>
          <a:xfrm>
            <a:off x="6099048" y="2194560"/>
            <a:ext cx="1755648" cy="1554480"/>
          </a:xfrm>
          <a:prstGeom prst="roundRect">
            <a:avLst>
              <a:gd name="adj" fmla="val 4706"/>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14" name="Text 12"/>
          <p:cNvSpPr/>
          <p:nvPr/>
        </p:nvSpPr>
        <p:spPr>
          <a:xfrm>
            <a:off x="6190488" y="2286000"/>
            <a:ext cx="1572768" cy="13716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Scheduler Job 2</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(5 minutes)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3 Parallel Models</a:t>
            </a:r>
            <a:endParaRPr lang="en-US" sz="1050" dirty="0"/>
          </a:p>
        </p:txBody>
      </p:sp>
      <p:sp>
        <p:nvSpPr>
          <p:cNvPr id="15" name="Text 13"/>
          <p:cNvSpPr/>
          <p:nvPr/>
        </p:nvSpPr>
        <p:spPr>
          <a:xfrm>
            <a:off x="7854696" y="2651760"/>
            <a:ext cx="128016" cy="457200"/>
          </a:xfrm>
          <a:prstGeom prst="rect">
            <a:avLst/>
          </a:prstGeom>
          <a:noFill/>
          <a:ln/>
        </p:spPr>
        <p:txBody>
          <a:bodyPr wrap="square" rtlCol="0" anchor="ctr"/>
          <a:lstStyle/>
          <a:p>
            <a:pPr algn="ctr" indent="0" marL="0">
              <a:buNone/>
            </a:pPr>
            <a:r>
              <a:rPr lang="en-US" sz="1800" b="1" dirty="0">
                <a:solidFill>
                  <a:srgbClr val="00B4A6"/>
                </a:solidFill>
                <a:latin typeface="Cambria" pitchFamily="34" charset="0"/>
                <a:ea typeface="Cambria" pitchFamily="34" charset="-122"/>
                <a:cs typeface="Cambria" pitchFamily="34" charset="-120"/>
              </a:rPr>
              <a:t>›</a:t>
            </a:r>
            <a:endParaRPr lang="en-US" sz="1800" dirty="0"/>
          </a:p>
        </p:txBody>
      </p:sp>
      <p:sp>
        <p:nvSpPr>
          <p:cNvPr id="16" name="Shape 14"/>
          <p:cNvSpPr/>
          <p:nvPr/>
        </p:nvSpPr>
        <p:spPr>
          <a:xfrm>
            <a:off x="7964424" y="2194560"/>
            <a:ext cx="1755648" cy="1554480"/>
          </a:xfrm>
          <a:prstGeom prst="roundRect">
            <a:avLst>
              <a:gd name="adj" fmla="val 4706"/>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7" name="Text 15"/>
          <p:cNvSpPr/>
          <p:nvPr/>
        </p:nvSpPr>
        <p:spPr>
          <a:xfrm>
            <a:off x="8055864" y="2286000"/>
            <a:ext cx="1572768" cy="137160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Decision</a:t>
            </a:r>
            <a:endParaRPr lang="en-US" sz="1050" dirty="0"/>
          </a:p>
          <a:p>
            <a:pPr algn="ctr" indent="0" marL="0">
              <a:buNone/>
            </a:pPr>
            <a:r>
              <a:rPr lang="en-US" sz="1050" b="1" dirty="0">
                <a:solidFill>
                  <a:srgbClr val="0B2545"/>
                </a:solidFill>
                <a:latin typeface="Calibri" pitchFamily="34" charset="0"/>
                <a:ea typeface="Calibri" pitchFamily="34" charset="-122"/>
                <a:cs typeface="Calibri" pitchFamily="34" charset="-120"/>
              </a:rPr>
              <a:t>Engine</a:t>
            </a:r>
            <a:endParaRPr lang="en-US" sz="1050" dirty="0"/>
          </a:p>
        </p:txBody>
      </p:sp>
      <p:sp>
        <p:nvSpPr>
          <p:cNvPr id="18" name="Text 16"/>
          <p:cNvSpPr/>
          <p:nvPr/>
        </p:nvSpPr>
        <p:spPr>
          <a:xfrm>
            <a:off x="9720072" y="2651760"/>
            <a:ext cx="128016" cy="457200"/>
          </a:xfrm>
          <a:prstGeom prst="rect">
            <a:avLst/>
          </a:prstGeom>
          <a:noFill/>
          <a:ln/>
        </p:spPr>
        <p:txBody>
          <a:bodyPr wrap="square" rtlCol="0" anchor="ctr"/>
          <a:lstStyle/>
          <a:p>
            <a:pPr algn="ctr" indent="0" marL="0">
              <a:buNone/>
            </a:pPr>
            <a:r>
              <a:rPr lang="en-US" sz="1800" b="1" dirty="0">
                <a:solidFill>
                  <a:srgbClr val="00B4A6"/>
                </a:solidFill>
                <a:latin typeface="Cambria" pitchFamily="34" charset="0"/>
                <a:ea typeface="Cambria" pitchFamily="34" charset="-122"/>
                <a:cs typeface="Cambria" pitchFamily="34" charset="-120"/>
              </a:rPr>
              <a:t>›</a:t>
            </a:r>
            <a:endParaRPr lang="en-US" sz="1800" dirty="0"/>
          </a:p>
        </p:txBody>
      </p:sp>
      <p:sp>
        <p:nvSpPr>
          <p:cNvPr id="19" name="Shape 17"/>
          <p:cNvSpPr/>
          <p:nvPr/>
        </p:nvSpPr>
        <p:spPr>
          <a:xfrm>
            <a:off x="9829800" y="2194560"/>
            <a:ext cx="1755648" cy="1554480"/>
          </a:xfrm>
          <a:prstGeom prst="roundRect">
            <a:avLst>
              <a:gd name="adj" fmla="val 4706"/>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20" name="Text 18"/>
          <p:cNvSpPr/>
          <p:nvPr/>
        </p:nvSpPr>
        <p:spPr>
          <a:xfrm>
            <a:off x="9921240" y="2286000"/>
            <a:ext cx="1572768" cy="13716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Dashboard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Notifications</a:t>
            </a:r>
            <a:endParaRPr lang="en-US" sz="1050" dirty="0"/>
          </a:p>
        </p:txBody>
      </p:sp>
      <p:sp>
        <p:nvSpPr>
          <p:cNvPr id="21" name="Shape 19"/>
          <p:cNvSpPr/>
          <p:nvPr/>
        </p:nvSpPr>
        <p:spPr>
          <a:xfrm>
            <a:off x="502920" y="4160520"/>
            <a:ext cx="11201400" cy="1554480"/>
          </a:xfrm>
          <a:prstGeom prst="roundRect">
            <a:avLst>
              <a:gd name="adj" fmla="val 4706"/>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22" name="Text 20"/>
          <p:cNvSpPr/>
          <p:nvPr/>
        </p:nvSpPr>
        <p:spPr>
          <a:xfrm>
            <a:off x="777240" y="4279392"/>
            <a:ext cx="7315200" cy="320040"/>
          </a:xfrm>
          <a:prstGeom prst="rect">
            <a:avLst/>
          </a:prstGeom>
          <a:noFill/>
          <a:ln/>
        </p:spPr>
        <p:txBody>
          <a:bodyPr wrap="square"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Notification Trigger Flow</a:t>
            </a:r>
            <a:endParaRPr lang="en-US" sz="1300" dirty="0"/>
          </a:p>
        </p:txBody>
      </p:sp>
      <p:sp>
        <p:nvSpPr>
          <p:cNvPr id="23" name="Text 21"/>
          <p:cNvSpPr/>
          <p:nvPr/>
        </p:nvSpPr>
        <p:spPr>
          <a:xfrm>
            <a:off x="777240" y="4599432"/>
            <a:ext cx="10607040" cy="1005840"/>
          </a:xfrm>
          <a:prstGeom prst="rect">
            <a:avLst/>
          </a:prstGeom>
          <a:noFill/>
          <a:ln/>
        </p:spPr>
        <p:txBody>
          <a:bodyPr wrap="square" rtlCol="0" anchor="ctr"/>
          <a:lstStyle/>
          <a:p>
            <a:pPr indent="0" marL="0">
              <a:buNone/>
            </a:pPr>
            <a:r>
              <a:rPr lang="en-US" sz="1200" dirty="0">
                <a:solidFill>
                  <a:srgbClr val="1A2233"/>
                </a:solidFill>
                <a:latin typeface="Calibri" pitchFamily="34" charset="0"/>
                <a:ea typeface="Calibri" pitchFamily="34" charset="-122"/>
                <a:cs typeface="Calibri" pitchFamily="34" charset="-120"/>
              </a:rPr>
              <a:t>If the Decision Engine assigns WARNING or CRITICAL severity, the system automatically triggers the alarm endpoint which dispatches Email (SMTP) and WhatsApp (Twilio) notifications to relevant technicians, while the dashboard fetches the latest status &amp; predictions via the REST API.</a:t>
            </a:r>
            <a:endParaRPr lang="en-US" sz="1200" dirty="0"/>
          </a:p>
        </p:txBody>
      </p:sp>
      <p:sp>
        <p:nvSpPr>
          <p:cNvPr id="24" name="Text 22"/>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16</a:t>
            </a:r>
            <a:endParaRPr lang="en-US" sz="1000" dirty="0"/>
          </a:p>
        </p:txBody>
      </p:sp>
      <p:sp>
        <p:nvSpPr>
          <p:cNvPr id="25" name="Text 23"/>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07 · SYSTEM ARCHITECTURE</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Automation Layer &amp; API Endpoints</a:t>
            </a:r>
            <a:endParaRPr lang="en-US" sz="2900" dirty="0"/>
          </a:p>
        </p:txBody>
      </p:sp>
      <p:sp>
        <p:nvSpPr>
          <p:cNvPr id="4" name="Text 2"/>
          <p:cNvSpPr/>
          <p:nvPr/>
        </p:nvSpPr>
        <p:spPr>
          <a:xfrm>
            <a:off x="502920" y="1600200"/>
            <a:ext cx="4572000" cy="365760"/>
          </a:xfrm>
          <a:prstGeom prst="rect">
            <a:avLst/>
          </a:prstGeom>
          <a:noFill/>
          <a:ln/>
        </p:spPr>
        <p:txBody>
          <a:bodyPr wrap="square"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FastAPI + APScheduler</a:t>
            </a:r>
            <a:endParaRPr lang="en-US" sz="1600" dirty="0"/>
          </a:p>
        </p:txBody>
      </p:sp>
      <p:sp>
        <p:nvSpPr>
          <p:cNvPr id="5" name="Text 3"/>
          <p:cNvSpPr/>
          <p:nvPr/>
        </p:nvSpPr>
        <p:spPr>
          <a:xfrm>
            <a:off x="502920" y="2011680"/>
            <a:ext cx="4846320" cy="3931920"/>
          </a:xfrm>
          <a:prstGeom prst="rect">
            <a:avLst/>
          </a:prstGeom>
          <a:noFill/>
          <a:ln/>
        </p:spPr>
        <p:txBody>
          <a:bodyPr wrap="square" rtlCol="0" anchor="t"/>
          <a:lstStyle/>
          <a:p>
            <a:pPr marL="177800" indent="-1778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FastAPI provides REST API for frontend communication &amp; telemetry data ingestion.</a:t>
            </a:r>
            <a:endParaRPr lang="en-US" sz="1300" dirty="0"/>
          </a:p>
          <a:p>
            <a:pPr marL="177800" indent="-1778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Job 1 (30 seconds): pull raw_sensor_data → execute Cleaning &amp; Feature Engineering → save to feature_windows.</a:t>
            </a:r>
            <a:endParaRPr lang="en-US" sz="1300" dirty="0"/>
          </a:p>
          <a:p>
            <a:pPr marL="177800" indent="-177800">
              <a:spcAft>
                <a:spcPts val="1400"/>
              </a:spcAft>
              <a:buSzPct val="100000"/>
              <a:buChar char="•"/>
            </a:pPr>
            <a:r>
              <a:rPr lang="en-US" sz="1300" dirty="0">
                <a:solidFill>
                  <a:srgbClr val="1A2233"/>
                </a:solidFill>
                <a:latin typeface="Calibri" pitchFamily="34" charset="0"/>
                <a:ea typeface="Calibri" pitchFamily="34" charset="-122"/>
                <a:cs typeface="Calibri" pitchFamily="34" charset="-120"/>
              </a:rPr>
              <a:t>Job 2 (5 minutes): fetch last 120 rows → run 3 parallel models → Decision Engine → save to prediction_results.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172200" y="1691640"/>
          <a:ext cx="5532120" cy="914400"/>
        </p:xfrm>
        <a:graphic>
          <a:graphicData uri="http://schemas.openxmlformats.org/drawingml/2006/table">
            <a:tbl>
              <a:tblPr/>
              <a:tblGrid>
                <a:gridCol w="822960"/>
                <a:gridCol w="2331720"/>
                <a:gridCol w="2377440"/>
              </a:tblGrid>
              <a:tr h="502920">
                <a:tc>
                  <a:txBody>
                    <a:bodyPr/>
                    <a:lstStyle/>
                    <a:p>
                      <a:pPr indent="0" marL="0">
                        <a:buNone/>
                      </a:pPr>
                      <a:r>
                        <a:rPr lang="en-US" sz="1100" b="1" dirty="0">
                          <a:solidFill>
                            <a:srgbClr val="FFFFFF"/>
                          </a:solidFill>
                        </a:rPr>
                        <a:t>Method</a:t>
                      </a:r>
                      <a:endParaRPr lang="en-US" sz="110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rPr>
                        <a:t>Endpoint</a:t>
                      </a:r>
                      <a:endParaRPr lang="en-US" sz="110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rPr>
                        <a:t>Description</a:t>
                      </a:r>
                      <a:endParaRPr lang="en-US" sz="110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solidFill>
                      <a:srgbClr val="0B2545"/>
                    </a:solidFill>
                  </a:tcPr>
                </a:tc>
              </a:tr>
              <a:tr h="502920">
                <a:tc>
                  <a:txBody>
                    <a:bodyPr/>
                    <a:lstStyle/>
                    <a:p>
                      <a:pPr indent="0" marL="0">
                        <a:buNone/>
                      </a:pPr>
                      <a:r>
                        <a:rPr lang="en-US" sz="1050" b="1" dirty="0">
                          <a:solidFill>
                            <a:srgbClr val="00B4A6"/>
                          </a:solidFill>
                        </a:rPr>
                        <a:t>POST</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1A2233"/>
                          </a:solidFill>
                          <a:latin typeface="Courier New" pitchFamily="34" charset="0"/>
                          <a:ea typeface="Courier New" pitchFamily="34" charset="-122"/>
                          <a:cs typeface="Courier New" pitchFamily="34" charset="-120"/>
                        </a:rPr>
                        <a:t>/api/telemetry</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5C6773"/>
                          </a:solidFill>
                        </a:rPr>
                        <a:t>Receive raw 1-Hz sensor data</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r>
              <a:tr h="502920">
                <a:tc>
                  <a:txBody>
                    <a:bodyPr/>
                    <a:lstStyle/>
                    <a:p>
                      <a:pPr indent="0" marL="0">
                        <a:buNone/>
                      </a:pPr>
                      <a:r>
                        <a:rPr lang="en-US" sz="1050" b="1" dirty="0">
                          <a:solidFill>
                            <a:srgbClr val="1A2233"/>
                          </a:solidFill>
                        </a:rPr>
                        <a:t>GET</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1A2233"/>
                          </a:solidFill>
                          <a:latin typeface="Courier New" pitchFamily="34" charset="0"/>
                          <a:ea typeface="Courier New" pitchFamily="34" charset="-122"/>
                          <a:cs typeface="Courier New" pitchFamily="34" charset="-120"/>
                        </a:rPr>
                        <a:t>/api/dashboard/overview</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5C6773"/>
                          </a:solidFill>
                        </a:rPr>
                        <a:t>Health overview of all motors and active alarms</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r>
              <a:tr h="502920">
                <a:tc>
                  <a:txBody>
                    <a:bodyPr/>
                    <a:lstStyle/>
                    <a:p>
                      <a:pPr indent="0" marL="0">
                        <a:buNone/>
                      </a:pPr>
                      <a:r>
                        <a:rPr lang="en-US" sz="1050" b="1" dirty="0">
                          <a:solidFill>
                            <a:srgbClr val="1A2233"/>
                          </a:solidFill>
                        </a:rPr>
                        <a:t>GET</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1A2233"/>
                          </a:solidFill>
                          <a:latin typeface="Courier New" pitchFamily="34" charset="0"/>
                          <a:ea typeface="Courier New" pitchFamily="34" charset="-122"/>
                          <a:cs typeface="Courier New" pitchFamily="34" charset="-120"/>
                        </a:rPr>
                        <a:t>/api/predictions/{motor_id}</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5C6773"/>
                          </a:solidFill>
                        </a:rPr>
                        <a:t>Latest prediction, RUL, SHAP contributions</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r>
              <a:tr h="502920">
                <a:tc>
                  <a:txBody>
                    <a:bodyPr/>
                    <a:lstStyle/>
                    <a:p>
                      <a:pPr indent="0" marL="0">
                        <a:buNone/>
                      </a:pPr>
                      <a:r>
                        <a:rPr lang="en-US" sz="1050" b="1" dirty="0">
                          <a:solidFill>
                            <a:srgbClr val="00B4A6"/>
                          </a:solidFill>
                        </a:rPr>
                        <a:t>POST</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1A2233"/>
                          </a:solidFill>
                          <a:latin typeface="Courier New" pitchFamily="34" charset="0"/>
                          <a:ea typeface="Courier New" pitchFamily="34" charset="-122"/>
                          <a:cs typeface="Courier New" pitchFamily="34" charset="-120"/>
                        </a:rPr>
                        <a:t>/api/work-orders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5C6773"/>
                          </a:solidFill>
                        </a:rPr>
                        <a:t>Create work orders and assign technicians</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r>
              <a:tr h="502920">
                <a:tc>
                  <a:txBody>
                    <a:bodyPr/>
                    <a:lstStyle/>
                    <a:p>
                      <a:pPr indent="0" marL="0">
                        <a:buNone/>
                      </a:pPr>
                      <a:r>
                        <a:rPr lang="en-US" sz="1050" b="1" dirty="0">
                          <a:solidFill>
                            <a:srgbClr val="1A2233"/>
                          </a:solidFill>
                        </a:rPr>
                        <a:t>GET</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1A2233"/>
                          </a:solidFill>
                          <a:latin typeface="Courier New" pitchFamily="34" charset="0"/>
                          <a:ea typeface="Courier New" pitchFamily="34" charset="-122"/>
                          <a:cs typeface="Courier New" pitchFamily="34" charset="-120"/>
                        </a:rPr>
                        <a:t>/api/notifications/settings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c>
                  <a:txBody>
                    <a:bodyPr/>
                    <a:lstStyle/>
                    <a:p>
                      <a:pPr indent="0" marL="0">
                        <a:buNone/>
                      </a:pPr>
                      <a:r>
                        <a:rPr lang="en-US" sz="1050" dirty="0">
                          <a:solidFill>
                            <a:srgbClr val="5C6773"/>
                          </a:solidFill>
                        </a:rPr>
                        <a:t>Credentials for SMTP email &amp; Twilio WhatsApp gateways</a:t>
                      </a:r>
                      <a:endParaRPr lang="en-US" sz="1050" dirty="0"/>
                    </a:p>
                  </a:txBody>
                  <a:tcPr marL="91440" marR="91440" marT="45720" marB="45720" anchor="ctr">
                    <a:lnL w="6350" cap="flat" cmpd="sng" algn="ctr">
                      <a:solidFill>
                        <a:srgbClr val="E3E8ED"/>
                      </a:solidFill>
                      <a:prstDash val="solid"/>
                      <a:round/>
                      <a:headEnd type="none" w="med" len="med"/>
                      <a:tailEnd type="none" w="med" len="med"/>
                    </a:lnL>
                    <a:lnR w="6350" cap="flat" cmpd="sng" algn="ctr">
                      <a:solidFill>
                        <a:srgbClr val="E3E8ED"/>
                      </a:solidFill>
                      <a:prstDash val="solid"/>
                      <a:round/>
                      <a:headEnd type="none" w="med" len="med"/>
                      <a:tailEnd type="none" w="med" len="med"/>
                    </a:lnR>
                    <a:lnT w="6350" cap="flat" cmpd="sng" algn="ctr">
                      <a:solidFill>
                        <a:srgbClr val="E3E8ED"/>
                      </a:solidFill>
                      <a:prstDash val="solid"/>
                      <a:round/>
                      <a:headEnd type="none" w="med" len="med"/>
                      <a:tailEnd type="none" w="med" len="med"/>
                    </a:lnT>
                    <a:lnB w="6350" cap="flat" cmpd="sng" algn="ctr">
                      <a:solidFill>
                        <a:srgbClr val="E3E8ED"/>
                      </a:solidFill>
                      <a:prstDash val="solid"/>
                      <a:round/>
                      <a:headEnd type="none" w="med" len="med"/>
                      <a:tailEnd type="none" w="med" len="med"/>
                    </a:lnB>
                  </a:tcPr>
                </a:tc>
              </a:tr>
            </a:tbl>
          </a:graphicData>
        </a:graphic>
      </p:graphicFrame>
      <p:sp>
        <p:nvSpPr>
          <p:cNvPr id="7" name="Text 4"/>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17</a:t>
            </a:r>
            <a:endParaRPr lang="en-US" sz="1000" dirty="0"/>
          </a:p>
        </p:txBody>
      </p:sp>
      <p:sp>
        <p:nvSpPr>
          <p:cNvPr id="8" name="Text 5"/>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08 · DASHBOARD</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Dashboard Page Flow</a:t>
            </a:r>
            <a:endParaRPr lang="en-US" sz="2900" dirty="0"/>
          </a:p>
        </p:txBody>
      </p:sp>
      <p:sp>
        <p:nvSpPr>
          <p:cNvPr id="4" name="Shape 2"/>
          <p:cNvSpPr/>
          <p:nvPr/>
        </p:nvSpPr>
        <p:spPr>
          <a:xfrm>
            <a:off x="4480560" y="1600200"/>
            <a:ext cx="3200400" cy="685800"/>
          </a:xfrm>
          <a:prstGeom prst="roundRect">
            <a:avLst>
              <a:gd name="adj" fmla="val 10667"/>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5" name="Text 3"/>
          <p:cNvSpPr/>
          <p:nvPr/>
        </p:nvSpPr>
        <p:spPr>
          <a:xfrm>
            <a:off x="4480560" y="1600200"/>
            <a:ext cx="3200400" cy="68580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Login Screen (Clearance Authentication)</a:t>
            </a:r>
            <a:endParaRPr lang="en-US" sz="1150" dirty="0"/>
          </a:p>
        </p:txBody>
      </p:sp>
      <p:sp>
        <p:nvSpPr>
          <p:cNvPr id="6" name="Shape 4"/>
          <p:cNvSpPr/>
          <p:nvPr/>
        </p:nvSpPr>
        <p:spPr>
          <a:xfrm>
            <a:off x="502920" y="2606040"/>
            <a:ext cx="3337560" cy="914400"/>
          </a:xfrm>
          <a:prstGeom prst="roundRect">
            <a:avLst>
              <a:gd name="adj" fmla="val 8000"/>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7" name="Text 5"/>
          <p:cNvSpPr/>
          <p:nvPr/>
        </p:nvSpPr>
        <p:spPr>
          <a:xfrm>
            <a:off x="502920" y="2606040"/>
            <a:ext cx="3337560" cy="91440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1. Overview</a:t>
            </a:r>
            <a:endParaRPr lang="en-US" sz="1200" dirty="0"/>
          </a:p>
          <a:p>
            <a:pPr algn="ctr" indent="0" marL="0">
              <a:buNone/>
            </a:pPr>
            <a:r>
              <a:rPr lang="en-US" sz="1200" b="1" dirty="0">
                <a:solidFill>
                  <a:srgbClr val="0B2545"/>
                </a:solidFill>
                <a:latin typeface="Calibri" pitchFamily="34" charset="0"/>
                <a:ea typeface="Calibri" pitchFamily="34" charset="-122"/>
                <a:cs typeface="Calibri" pitchFamily="34" charset="-120"/>
              </a:rPr>
              <a:t>Dashboard</a:t>
            </a:r>
            <a:endParaRPr lang="en-US" sz="1200" dirty="0"/>
          </a:p>
        </p:txBody>
      </p:sp>
      <p:sp>
        <p:nvSpPr>
          <p:cNvPr id="8" name="Text 6"/>
          <p:cNvSpPr/>
          <p:nvPr/>
        </p:nvSpPr>
        <p:spPr>
          <a:xfrm>
            <a:off x="3840480" y="2834640"/>
            <a:ext cx="502920" cy="457200"/>
          </a:xfrm>
          <a:prstGeom prst="rect">
            <a:avLst/>
          </a:prstGeom>
          <a:noFill/>
          <a:ln/>
        </p:spPr>
        <p:txBody>
          <a:bodyPr wrap="square" rtlCol="0" anchor="ctr"/>
          <a:lstStyle/>
          <a:p>
            <a:pPr algn="ctr" indent="0" marL="0">
              <a:buNone/>
            </a:pPr>
            <a:r>
              <a:rPr lang="en-US" sz="2000" b="1" dirty="0">
                <a:solidFill>
                  <a:srgbClr val="00B4A6"/>
                </a:solidFill>
                <a:latin typeface="Cambria" pitchFamily="34" charset="0"/>
                <a:ea typeface="Cambria" pitchFamily="34" charset="-122"/>
                <a:cs typeface="Cambria" pitchFamily="34" charset="-120"/>
              </a:rPr>
              <a:t>›</a:t>
            </a:r>
            <a:endParaRPr lang="en-US" sz="2000" dirty="0"/>
          </a:p>
        </p:txBody>
      </p:sp>
      <p:sp>
        <p:nvSpPr>
          <p:cNvPr id="9" name="Shape 7"/>
          <p:cNvSpPr/>
          <p:nvPr/>
        </p:nvSpPr>
        <p:spPr>
          <a:xfrm>
            <a:off x="4389120" y="2606040"/>
            <a:ext cx="3337560" cy="914400"/>
          </a:xfrm>
          <a:prstGeom prst="roundRect">
            <a:avLst>
              <a:gd name="adj" fmla="val 8000"/>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10" name="Text 8"/>
          <p:cNvSpPr/>
          <p:nvPr/>
        </p:nvSpPr>
        <p:spPr>
          <a:xfrm>
            <a:off x="4389120" y="2606040"/>
            <a:ext cx="3337560" cy="91440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2. Machine</a:t>
            </a:r>
            <a:endParaRPr lang="en-US" sz="1200" dirty="0"/>
          </a:p>
          <a:p>
            <a:pPr algn="ctr" indent="0" marL="0">
              <a:buNone/>
            </a:pPr>
            <a:r>
              <a:rPr lang="en-US" sz="1200" b="1" dirty="0">
                <a:solidFill>
                  <a:srgbClr val="0B2545"/>
                </a:solidFill>
                <a:latin typeface="Calibri" pitchFamily="34" charset="0"/>
                <a:ea typeface="Calibri" pitchFamily="34" charset="-122"/>
                <a:cs typeface="Calibri" pitchFamily="34" charset="-120"/>
              </a:rPr>
              <a:t>Monitoring (Grid of 6)</a:t>
            </a:r>
            <a:endParaRPr lang="en-US" sz="1200" dirty="0"/>
          </a:p>
        </p:txBody>
      </p:sp>
      <p:sp>
        <p:nvSpPr>
          <p:cNvPr id="11" name="Text 9"/>
          <p:cNvSpPr/>
          <p:nvPr/>
        </p:nvSpPr>
        <p:spPr>
          <a:xfrm>
            <a:off x="7726680" y="2834640"/>
            <a:ext cx="502920" cy="457200"/>
          </a:xfrm>
          <a:prstGeom prst="rect">
            <a:avLst/>
          </a:prstGeom>
          <a:noFill/>
          <a:ln/>
        </p:spPr>
        <p:txBody>
          <a:bodyPr wrap="square" rtlCol="0" anchor="ctr"/>
          <a:lstStyle/>
          <a:p>
            <a:pPr algn="ctr" indent="0" marL="0">
              <a:buNone/>
            </a:pPr>
            <a:r>
              <a:rPr lang="en-US" sz="2000" b="1" dirty="0">
                <a:solidFill>
                  <a:srgbClr val="00B4A6"/>
                </a:solidFill>
                <a:latin typeface="Cambria" pitchFamily="34" charset="0"/>
                <a:ea typeface="Cambria" pitchFamily="34" charset="-122"/>
                <a:cs typeface="Cambria" pitchFamily="34" charset="-120"/>
              </a:rPr>
              <a:t>›</a:t>
            </a:r>
            <a:endParaRPr lang="en-US" sz="2000" dirty="0"/>
          </a:p>
        </p:txBody>
      </p:sp>
      <p:sp>
        <p:nvSpPr>
          <p:cNvPr id="12" name="Shape 10"/>
          <p:cNvSpPr/>
          <p:nvPr/>
        </p:nvSpPr>
        <p:spPr>
          <a:xfrm>
            <a:off x="8275320" y="2606040"/>
            <a:ext cx="3337560" cy="914400"/>
          </a:xfrm>
          <a:prstGeom prst="roundRect">
            <a:avLst>
              <a:gd name="adj" fmla="val 8000"/>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13" name="Text 11"/>
          <p:cNvSpPr/>
          <p:nvPr/>
        </p:nvSpPr>
        <p:spPr>
          <a:xfrm>
            <a:off x="8275320" y="2606040"/>
            <a:ext cx="3337560" cy="91440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3. Machine Detail</a:t>
            </a:r>
            <a:endParaRPr lang="en-US" sz="1200" dirty="0"/>
          </a:p>
          <a:p>
            <a:pPr algn="ctr" indent="0" marL="0">
              <a:buNone/>
            </a:pPr>
            <a:r>
              <a:rPr lang="en-US" sz="1200" b="1" dirty="0">
                <a:solidFill>
                  <a:srgbClr val="0B2545"/>
                </a:solidFill>
                <a:latin typeface="Calibri" pitchFamily="34" charset="0"/>
                <a:ea typeface="Calibri" pitchFamily="34" charset="-122"/>
                <a:cs typeface="Calibri" pitchFamily="34" charset="-120"/>
              </a:rPr>
              <a:t>(Live Waveform)</a:t>
            </a:r>
            <a:endParaRPr lang="en-US" sz="1200" dirty="0"/>
          </a:p>
        </p:txBody>
      </p:sp>
      <p:sp>
        <p:nvSpPr>
          <p:cNvPr id="14" name="Shape 12"/>
          <p:cNvSpPr/>
          <p:nvPr/>
        </p:nvSpPr>
        <p:spPr>
          <a:xfrm>
            <a:off x="502920" y="4023360"/>
            <a:ext cx="3337560" cy="914400"/>
          </a:xfrm>
          <a:prstGeom prst="roundRect">
            <a:avLst>
              <a:gd name="adj" fmla="val 8000"/>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5" name="Text 13"/>
          <p:cNvSpPr/>
          <p:nvPr/>
        </p:nvSpPr>
        <p:spPr>
          <a:xfrm>
            <a:off x="502920" y="4023360"/>
            <a:ext cx="3337560" cy="91440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6. Notification</a:t>
            </a:r>
            <a:endParaRPr lang="en-US" sz="1200" dirty="0"/>
          </a:p>
          <a:p>
            <a:pPr algn="ctr" indent="0" marL="0">
              <a:buNone/>
            </a:pPr>
            <a:r>
              <a:rPr lang="en-US" sz="1200" b="1" dirty="0">
                <a:solidFill>
                  <a:srgbClr val="0B2545"/>
                </a:solidFill>
                <a:latin typeface="Calibri" pitchFamily="34" charset="0"/>
                <a:ea typeface="Calibri" pitchFamily="34" charset="-122"/>
                <a:cs typeface="Calibri" pitchFamily="34" charset="-120"/>
              </a:rPr>
              <a:t>Settings</a:t>
            </a:r>
            <a:endParaRPr lang="en-US" sz="1200" dirty="0"/>
          </a:p>
        </p:txBody>
      </p:sp>
      <p:sp>
        <p:nvSpPr>
          <p:cNvPr id="16" name="Text 14"/>
          <p:cNvSpPr/>
          <p:nvPr/>
        </p:nvSpPr>
        <p:spPr>
          <a:xfrm>
            <a:off x="3840480" y="4251960"/>
            <a:ext cx="502920" cy="457200"/>
          </a:xfrm>
          <a:prstGeom prst="rect">
            <a:avLst/>
          </a:prstGeom>
          <a:noFill/>
          <a:ln/>
        </p:spPr>
        <p:txBody>
          <a:bodyPr wrap="square" rtlCol="0" anchor="ctr"/>
          <a:lstStyle/>
          <a:p>
            <a:pPr algn="ctr" indent="0" marL="0">
              <a:buNone/>
            </a:pPr>
            <a:r>
              <a:rPr lang="en-US" sz="2000" b="1" dirty="0">
                <a:solidFill>
                  <a:srgbClr val="5C6773"/>
                </a:solidFill>
                <a:latin typeface="Cambria" pitchFamily="34" charset="0"/>
                <a:ea typeface="Cambria" pitchFamily="34" charset="-122"/>
                <a:cs typeface="Cambria" pitchFamily="34" charset="-120"/>
              </a:rPr>
              <a:t>‹</a:t>
            </a:r>
            <a:endParaRPr lang="en-US" sz="2000" dirty="0"/>
          </a:p>
        </p:txBody>
      </p:sp>
      <p:sp>
        <p:nvSpPr>
          <p:cNvPr id="17" name="Shape 15"/>
          <p:cNvSpPr/>
          <p:nvPr/>
        </p:nvSpPr>
        <p:spPr>
          <a:xfrm>
            <a:off x="4389120" y="4023360"/>
            <a:ext cx="3337560" cy="914400"/>
          </a:xfrm>
          <a:prstGeom prst="roundRect">
            <a:avLst>
              <a:gd name="adj" fmla="val 8000"/>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8" name="Text 16"/>
          <p:cNvSpPr/>
          <p:nvPr/>
        </p:nvSpPr>
        <p:spPr>
          <a:xfrm>
            <a:off x="4389120" y="4023360"/>
            <a:ext cx="3337560" cy="91440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5. Work Order CRUD</a:t>
            </a:r>
            <a:endParaRPr lang="en-US" sz="1200" dirty="0"/>
          </a:p>
          <a:p>
            <a:pPr algn="ctr" indent="0" marL="0">
              <a:buNone/>
            </a:pPr>
            <a:r>
              <a:rPr lang="en-US" sz="1200" b="1" dirty="0">
                <a:solidFill>
                  <a:srgbClr val="0B2545"/>
                </a:solidFill>
                <a:latin typeface="Calibri" pitchFamily="34" charset="0"/>
                <a:ea typeface="Calibri" pitchFamily="34" charset="-122"/>
                <a:cs typeface="Calibri" pitchFamily="34" charset="-120"/>
              </a:rPr>
              <a:t>(Assign Technician)</a:t>
            </a:r>
            <a:endParaRPr lang="en-US" sz="1200" dirty="0"/>
          </a:p>
        </p:txBody>
      </p:sp>
      <p:sp>
        <p:nvSpPr>
          <p:cNvPr id="19" name="Text 17"/>
          <p:cNvSpPr/>
          <p:nvPr/>
        </p:nvSpPr>
        <p:spPr>
          <a:xfrm>
            <a:off x="7726680" y="4251960"/>
            <a:ext cx="502920" cy="457200"/>
          </a:xfrm>
          <a:prstGeom prst="rect">
            <a:avLst/>
          </a:prstGeom>
          <a:noFill/>
          <a:ln/>
        </p:spPr>
        <p:txBody>
          <a:bodyPr wrap="square" rtlCol="0" anchor="ctr"/>
          <a:lstStyle/>
          <a:p>
            <a:pPr algn="ctr" indent="0" marL="0">
              <a:buNone/>
            </a:pPr>
            <a:r>
              <a:rPr lang="en-US" sz="2000" b="1" dirty="0">
                <a:solidFill>
                  <a:srgbClr val="5C6773"/>
                </a:solidFill>
                <a:latin typeface="Cambria" pitchFamily="34" charset="0"/>
                <a:ea typeface="Cambria" pitchFamily="34" charset="-122"/>
                <a:cs typeface="Cambria" pitchFamily="34" charset="-120"/>
              </a:rPr>
              <a:t>‹</a:t>
            </a:r>
            <a:endParaRPr lang="en-US" sz="2000" dirty="0"/>
          </a:p>
        </p:txBody>
      </p:sp>
      <p:sp>
        <p:nvSpPr>
          <p:cNvPr id="20" name="Shape 18"/>
          <p:cNvSpPr/>
          <p:nvPr/>
        </p:nvSpPr>
        <p:spPr>
          <a:xfrm>
            <a:off x="8275320" y="4023360"/>
            <a:ext cx="3337560" cy="914400"/>
          </a:xfrm>
          <a:prstGeom prst="roundRect">
            <a:avLst>
              <a:gd name="adj" fmla="val 8000"/>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21" name="Text 19"/>
          <p:cNvSpPr/>
          <p:nvPr/>
        </p:nvSpPr>
        <p:spPr>
          <a:xfrm>
            <a:off x="8275320" y="4023360"/>
            <a:ext cx="3337560" cy="91440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4. Prediction &amp;</a:t>
            </a:r>
            <a:endParaRPr lang="en-US" sz="1200" dirty="0"/>
          </a:p>
          <a:p>
            <a:pPr algn="ctr" indent="0" marL="0">
              <a:buNone/>
            </a:pPr>
            <a:r>
              <a:rPr lang="en-US" sz="1200" b="1" dirty="0">
                <a:solidFill>
                  <a:srgbClr val="0B2545"/>
                </a:solidFill>
                <a:latin typeface="Calibri" pitchFamily="34" charset="0"/>
                <a:ea typeface="Calibri" pitchFamily="34" charset="-122"/>
                <a:cs typeface="Calibri" pitchFamily="34" charset="-120"/>
              </a:rPr>
              <a:t>Diagnosis (SHAP, RUL)</a:t>
            </a:r>
            <a:endParaRPr lang="en-US" sz="1200" dirty="0"/>
          </a:p>
        </p:txBody>
      </p:sp>
      <p:sp>
        <p:nvSpPr>
          <p:cNvPr id="22" name="Text 20"/>
          <p:cNvSpPr/>
          <p:nvPr/>
        </p:nvSpPr>
        <p:spPr>
          <a:xfrm>
            <a:off x="502920" y="3703320"/>
            <a:ext cx="3291840" cy="274320"/>
          </a:xfrm>
          <a:prstGeom prst="rect">
            <a:avLst/>
          </a:prstGeom>
          <a:noFill/>
          <a:ln/>
        </p:spPr>
        <p:txBody>
          <a:bodyPr wrap="square" rtlCol="0" anchor="ctr"/>
          <a:lstStyle/>
          <a:p>
            <a:pPr algn="ctr" indent="0" marL="0">
              <a:buNone/>
            </a:pPr>
            <a:r>
              <a:rPr lang="en-US" sz="1000" i="1" dirty="0">
                <a:solidFill>
                  <a:srgbClr val="5C6773"/>
                </a:solidFill>
                <a:latin typeface="Calibri" pitchFamily="34" charset="0"/>
                <a:ea typeface="Calibri" pitchFamily="34" charset="-122"/>
                <a:cs typeface="Calibri" pitchFamily="34" charset="-120"/>
              </a:rPr>
              <a:t>↑ back to Overview</a:t>
            </a:r>
            <a:endParaRPr lang="en-US" sz="1000" dirty="0"/>
          </a:p>
        </p:txBody>
      </p:sp>
      <p:sp>
        <p:nvSpPr>
          <p:cNvPr id="23" name="Shape 21"/>
          <p:cNvSpPr/>
          <p:nvPr/>
        </p:nvSpPr>
        <p:spPr>
          <a:xfrm>
            <a:off x="2148840" y="3520440"/>
            <a:ext cx="0" cy="502920"/>
          </a:xfrm>
          <a:prstGeom prst="line">
            <a:avLst/>
          </a:prstGeom>
          <a:noFill/>
          <a:ln w="12700">
            <a:solidFill>
              <a:srgbClr val="5C6773"/>
            </a:solidFill>
            <a:prstDash val="dash"/>
          </a:ln>
        </p:spPr>
        <p:txBody>
          <a:bodyPr/>
          <a:p/>
        </p:txBody>
      </p:sp>
      <p:sp>
        <p:nvSpPr>
          <p:cNvPr id="24" name="Text 22"/>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18</a:t>
            </a:r>
            <a:endParaRPr lang="en-US" sz="1000" dirty="0"/>
          </a:p>
        </p:txBody>
      </p:sp>
      <p:sp>
        <p:nvSpPr>
          <p:cNvPr id="25" name="Text 23"/>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08 · DASHBOARD</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3 Most Representative Main Pages</a:t>
            </a:r>
            <a:endParaRPr lang="en-US" sz="2900" dirty="0"/>
          </a:p>
        </p:txBody>
      </p:sp>
      <p:sp>
        <p:nvSpPr>
          <p:cNvPr id="4" name="Shape 2"/>
          <p:cNvSpPr/>
          <p:nvPr/>
        </p:nvSpPr>
        <p:spPr>
          <a:xfrm>
            <a:off x="502920" y="1737360"/>
            <a:ext cx="3566160" cy="4114800"/>
          </a:xfrm>
          <a:prstGeom prst="roundRect">
            <a:avLst>
              <a:gd name="adj" fmla="val 2051"/>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Shape 3"/>
          <p:cNvSpPr/>
          <p:nvPr/>
        </p:nvSpPr>
        <p:spPr>
          <a:xfrm>
            <a:off x="502920" y="1737360"/>
            <a:ext cx="3566160" cy="82296"/>
          </a:xfrm>
          <a:prstGeom prst="rect">
            <a:avLst/>
          </a:prstGeom>
          <a:solidFill>
            <a:srgbClr val="00B4A6"/>
          </a:solidFill>
          <a:ln/>
        </p:spPr>
        <p:txBody>
          <a:bodyPr/>
          <a:p/>
        </p:txBody>
      </p:sp>
      <p:sp>
        <p:nvSpPr>
          <p:cNvPr id="6" name="Shape 4"/>
          <p:cNvSpPr/>
          <p:nvPr/>
        </p:nvSpPr>
        <p:spPr>
          <a:xfrm>
            <a:off x="731520" y="2011680"/>
            <a:ext cx="502920" cy="502920"/>
          </a:xfrm>
          <a:prstGeom prst="ellipse">
            <a:avLst/>
          </a:prstGeom>
          <a:solidFill>
            <a:srgbClr val="00B4A6"/>
          </a:solidFill>
          <a:ln/>
        </p:spPr>
        <p:txBody>
          <a:bodyPr/>
          <a:p/>
        </p:txBody>
      </p:sp>
      <p:sp>
        <p:nvSpPr>
          <p:cNvPr id="7" name="Text 5"/>
          <p:cNvSpPr/>
          <p:nvPr/>
        </p:nvSpPr>
        <p:spPr>
          <a:xfrm>
            <a:off x="731520" y="199339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371600" y="2048256"/>
            <a:ext cx="2468880" cy="45720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Overview Dashboard</a:t>
            </a:r>
            <a:endParaRPr lang="en-US" sz="1450" dirty="0"/>
          </a:p>
        </p:txBody>
      </p:sp>
      <p:sp>
        <p:nvSpPr>
          <p:cNvPr id="9" name="Text 7"/>
          <p:cNvSpPr/>
          <p:nvPr/>
        </p:nvSpPr>
        <p:spPr>
          <a:xfrm>
            <a:off x="777240" y="2788920"/>
            <a:ext cx="3017520" cy="2926080"/>
          </a:xfrm>
          <a:prstGeom prst="rect">
            <a:avLst/>
          </a:prstGeom>
          <a:noFill/>
          <a:ln/>
        </p:spPr>
        <p:txBody>
          <a:bodyPr wrap="square" rtlCol="0" anchor="t"/>
          <a:lstStyle/>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Factory status cards (number of faulty motors, OEE)</a:t>
            </a:r>
            <a:endParaRPr lang="en-US" sz="1100" dirty="0"/>
          </a:p>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Unified Machine Health Grid — 6 motor panels</a:t>
            </a:r>
            <a:endParaRPr lang="en-US" sz="1100" dirty="0"/>
          </a:p>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Recent Critical Notifications Alert Bar</a:t>
            </a:r>
            <a:endParaRPr lang="en-US" sz="1100" dirty="0"/>
          </a:p>
        </p:txBody>
      </p:sp>
      <p:sp>
        <p:nvSpPr>
          <p:cNvPr id="10" name="Shape 8"/>
          <p:cNvSpPr/>
          <p:nvPr/>
        </p:nvSpPr>
        <p:spPr>
          <a:xfrm>
            <a:off x="4325112" y="1737360"/>
            <a:ext cx="3566160" cy="4114800"/>
          </a:xfrm>
          <a:prstGeom prst="roundRect">
            <a:avLst>
              <a:gd name="adj" fmla="val 2051"/>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1" name="Shape 9"/>
          <p:cNvSpPr/>
          <p:nvPr/>
        </p:nvSpPr>
        <p:spPr>
          <a:xfrm>
            <a:off x="4325112" y="1737360"/>
            <a:ext cx="3566160" cy="82296"/>
          </a:xfrm>
          <a:prstGeom prst="rect">
            <a:avLst/>
          </a:prstGeom>
          <a:solidFill>
            <a:srgbClr val="F4A527"/>
          </a:solidFill>
          <a:ln/>
        </p:spPr>
        <p:txBody>
          <a:bodyPr/>
          <a:p/>
        </p:txBody>
      </p:sp>
      <p:sp>
        <p:nvSpPr>
          <p:cNvPr id="12" name="Shape 10"/>
          <p:cNvSpPr/>
          <p:nvPr/>
        </p:nvSpPr>
        <p:spPr>
          <a:xfrm>
            <a:off x="4553712" y="2011680"/>
            <a:ext cx="502920" cy="502920"/>
          </a:xfrm>
          <a:prstGeom prst="ellipse">
            <a:avLst/>
          </a:prstGeom>
          <a:solidFill>
            <a:srgbClr val="F4A527"/>
          </a:solidFill>
          <a:ln/>
        </p:spPr>
        <p:txBody>
          <a:bodyPr/>
          <a:p/>
        </p:txBody>
      </p:sp>
      <p:sp>
        <p:nvSpPr>
          <p:cNvPr id="13" name="Text 11"/>
          <p:cNvSpPr/>
          <p:nvPr/>
        </p:nvSpPr>
        <p:spPr>
          <a:xfrm>
            <a:off x="4553712" y="199339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5193792" y="2048256"/>
            <a:ext cx="2468880" cy="45720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Machine Detail</a:t>
            </a:r>
            <a:endParaRPr lang="en-US" sz="1450" dirty="0"/>
          </a:p>
        </p:txBody>
      </p:sp>
      <p:sp>
        <p:nvSpPr>
          <p:cNvPr id="15" name="Text 13"/>
          <p:cNvSpPr/>
          <p:nvPr/>
        </p:nvSpPr>
        <p:spPr>
          <a:xfrm>
            <a:off x="4599432" y="2788920"/>
            <a:ext cx="3017520" cy="2926080"/>
          </a:xfrm>
          <a:prstGeom prst="rect">
            <a:avLst/>
          </a:prstGeom>
          <a:noFill/>
          <a:ln/>
        </p:spPr>
        <p:txBody>
          <a:bodyPr wrap="square" rtlCol="0" anchor="t"/>
          <a:lstStyle/>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Interactive selector between motors</a:t>
            </a:r>
            <a:endParaRPr lang="en-US" sz="1100" dirty="0"/>
          </a:p>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Real-time waveform: vibration, current, temperature, RPM</a:t>
            </a:r>
            <a:endParaRPr lang="en-US" sz="1100" dirty="0"/>
          </a:p>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Physical limit gauges (radial dial)</a:t>
            </a:r>
            <a:endParaRPr lang="en-US" sz="1100" dirty="0"/>
          </a:p>
        </p:txBody>
      </p:sp>
      <p:sp>
        <p:nvSpPr>
          <p:cNvPr id="16" name="Shape 14"/>
          <p:cNvSpPr/>
          <p:nvPr/>
        </p:nvSpPr>
        <p:spPr>
          <a:xfrm>
            <a:off x="8147304" y="1737360"/>
            <a:ext cx="3566160" cy="4114800"/>
          </a:xfrm>
          <a:prstGeom prst="roundRect">
            <a:avLst>
              <a:gd name="adj" fmla="val 2051"/>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7" name="Shape 15"/>
          <p:cNvSpPr/>
          <p:nvPr/>
        </p:nvSpPr>
        <p:spPr>
          <a:xfrm>
            <a:off x="8147304" y="1737360"/>
            <a:ext cx="3566160" cy="82296"/>
          </a:xfrm>
          <a:prstGeom prst="rect">
            <a:avLst/>
          </a:prstGeom>
          <a:solidFill>
            <a:srgbClr val="13315C"/>
          </a:solidFill>
          <a:ln/>
        </p:spPr>
        <p:txBody>
          <a:bodyPr/>
          <a:p/>
        </p:txBody>
      </p:sp>
      <p:sp>
        <p:nvSpPr>
          <p:cNvPr id="18" name="Shape 16"/>
          <p:cNvSpPr/>
          <p:nvPr/>
        </p:nvSpPr>
        <p:spPr>
          <a:xfrm>
            <a:off x="8375904" y="2011680"/>
            <a:ext cx="502920" cy="502920"/>
          </a:xfrm>
          <a:prstGeom prst="ellipse">
            <a:avLst/>
          </a:prstGeom>
          <a:solidFill>
            <a:srgbClr val="13315C"/>
          </a:solidFill>
          <a:ln/>
        </p:spPr>
        <p:txBody>
          <a:bodyPr/>
          <a:p/>
        </p:txBody>
      </p:sp>
      <p:sp>
        <p:nvSpPr>
          <p:cNvPr id="19" name="Text 17"/>
          <p:cNvSpPr/>
          <p:nvPr/>
        </p:nvSpPr>
        <p:spPr>
          <a:xfrm>
            <a:off x="8375904" y="199339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p:nvPr/>
        </p:nvSpPr>
        <p:spPr>
          <a:xfrm>
            <a:off x="9015984" y="2048256"/>
            <a:ext cx="2468880" cy="45720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Prediction &amp; Diagnosis</a:t>
            </a:r>
            <a:endParaRPr lang="en-US" sz="1450" dirty="0"/>
          </a:p>
        </p:txBody>
      </p:sp>
      <p:sp>
        <p:nvSpPr>
          <p:cNvPr id="21" name="Text 19"/>
          <p:cNvSpPr/>
          <p:nvPr/>
        </p:nvSpPr>
        <p:spPr>
          <a:xfrm>
            <a:off x="8421624" y="2788920"/>
            <a:ext cx="3017520" cy="2926080"/>
          </a:xfrm>
          <a:prstGeom prst="rect">
            <a:avLst/>
          </a:prstGeom>
          <a:noFill/>
          <a:ln/>
        </p:spPr>
        <p:txBody>
          <a:bodyPr wrap="square" rtlCol="0" anchor="t"/>
          <a:lstStyle/>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RUL status card + historical degradation curve</a:t>
            </a:r>
            <a:endParaRPr lang="en-US" sz="1100" dirty="0"/>
          </a:p>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SHAP feature contribution chart</a:t>
            </a:r>
            <a:endParaRPr lang="en-US" sz="1100" dirty="0"/>
          </a:p>
          <a:p>
            <a:pPr marL="177800" indent="-177800">
              <a:spcAft>
                <a:spcPts val="1200"/>
              </a:spcAft>
              <a:buSzPct val="100000"/>
              <a:buChar char="•"/>
            </a:pPr>
            <a:r>
              <a:rPr lang="en-US" sz="1100" dirty="0">
                <a:solidFill>
                  <a:srgbClr val="1A2233"/>
                </a:solidFill>
                <a:latin typeface="Calibri" pitchFamily="34" charset="0"/>
                <a:ea typeface="Calibri" pitchFamily="34" charset="-122"/>
                <a:cs typeface="Calibri" pitchFamily="34" charset="-120"/>
              </a:rPr>
              <a:t>Maintenance recommendation &amp; work order console</a:t>
            </a:r>
            <a:endParaRPr lang="en-US" sz="1100" dirty="0"/>
          </a:p>
        </p:txBody>
      </p:sp>
      <p:sp>
        <p:nvSpPr>
          <p:cNvPr id="22" name="Text 20"/>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19</a:t>
            </a:r>
            <a:endParaRPr lang="en-US" sz="1000" dirty="0"/>
          </a:p>
        </p:txBody>
      </p:sp>
      <p:sp>
        <p:nvSpPr>
          <p:cNvPr id="23" name="Text 21"/>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09 · VALIDATION &amp; TESTING</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End-to-End Simulation &amp; 4 Testing Scenarios</a:t>
            </a:r>
            <a:endParaRPr lang="en-US" sz="2900" dirty="0"/>
          </a:p>
        </p:txBody>
      </p:sp>
      <p:sp>
        <p:nvSpPr>
          <p:cNvPr id="4" name="Shape 2"/>
          <p:cNvSpPr/>
          <p:nvPr/>
        </p:nvSpPr>
        <p:spPr>
          <a:xfrm>
            <a:off x="502920" y="1600200"/>
            <a:ext cx="11201400" cy="685800"/>
          </a:xfrm>
          <a:prstGeom prst="roundRect">
            <a:avLst>
              <a:gd name="adj" fmla="val 10667"/>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5" name="Text 3"/>
          <p:cNvSpPr/>
          <p:nvPr/>
        </p:nvSpPr>
        <p:spPr>
          <a:xfrm>
            <a:off x="777240" y="1600200"/>
            <a:ext cx="10652760" cy="685800"/>
          </a:xfrm>
          <a:prstGeom prst="rect">
            <a:avLst/>
          </a:prstGeom>
          <a:noFill/>
          <a:ln/>
        </p:spPr>
        <p:txBody>
          <a:bodyPr wrap="square"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End-to-End Simulation — system runs 1 hour nonstop: sensors inject 1-Hz telemetry, scheduler runs cleaning (30s) &amp; inference (5 mins) repeatedly to validate stability and latency.</a:t>
            </a:r>
            <a:endParaRPr lang="en-US" sz="1150" dirty="0"/>
          </a:p>
        </p:txBody>
      </p:sp>
      <p:sp>
        <p:nvSpPr>
          <p:cNvPr id="6" name="Shape 4"/>
          <p:cNvSpPr/>
          <p:nvPr/>
        </p:nvSpPr>
        <p:spPr>
          <a:xfrm>
            <a:off x="502920" y="2514600"/>
            <a:ext cx="2697480" cy="3337560"/>
          </a:xfrm>
          <a:prstGeom prst="roundRect">
            <a:avLst>
              <a:gd name="adj" fmla="val 2712"/>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7" name="Shape 5"/>
          <p:cNvSpPr/>
          <p:nvPr/>
        </p:nvSpPr>
        <p:spPr>
          <a:xfrm>
            <a:off x="502920" y="2514600"/>
            <a:ext cx="2697480" cy="82296"/>
          </a:xfrm>
          <a:prstGeom prst="rect">
            <a:avLst/>
          </a:prstGeom>
          <a:solidFill>
            <a:srgbClr val="2AA876"/>
          </a:solidFill>
          <a:ln/>
        </p:spPr>
        <p:txBody>
          <a:bodyPr/>
          <a:p/>
        </p:txBody>
      </p:sp>
      <p:sp>
        <p:nvSpPr>
          <p:cNvPr id="8" name="Text 6"/>
          <p:cNvSpPr/>
          <p:nvPr/>
        </p:nvSpPr>
        <p:spPr>
          <a:xfrm>
            <a:off x="685800" y="2697480"/>
            <a:ext cx="2331720" cy="27432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Scenario 1</a:t>
            </a:r>
            <a:endParaRPr lang="en-US" sz="1050" dirty="0"/>
          </a:p>
        </p:txBody>
      </p:sp>
      <p:sp>
        <p:nvSpPr>
          <p:cNvPr id="9" name="Text 7"/>
          <p:cNvSpPr/>
          <p:nvPr/>
        </p:nvSpPr>
        <p:spPr>
          <a:xfrm>
            <a:off x="685800" y="2944368"/>
            <a:ext cx="2331720" cy="411480"/>
          </a:xfrm>
          <a:prstGeom prst="rect">
            <a:avLst/>
          </a:prstGeom>
          <a:noFill/>
          <a:ln/>
        </p:spPr>
        <p:txBody>
          <a:bodyPr wrap="square" rtlCol="0" anchor="ctr"/>
          <a:lstStyle/>
          <a:p>
            <a:pPr indent="0" marL="0">
              <a:buNone/>
            </a:pPr>
            <a:r>
              <a:rPr lang="en-US" sz="1600" b="1" dirty="0">
                <a:solidFill>
                  <a:srgbClr val="2AA876"/>
                </a:solidFill>
                <a:latin typeface="Cambria" pitchFamily="34" charset="0"/>
                <a:ea typeface="Cambria" pitchFamily="34" charset="-122"/>
                <a:cs typeface="Cambria" pitchFamily="34" charset="-120"/>
              </a:rPr>
              <a:t>Normal</a:t>
            </a:r>
            <a:endParaRPr lang="en-US" sz="1600" dirty="0"/>
          </a:p>
        </p:txBody>
      </p:sp>
      <p:sp>
        <p:nvSpPr>
          <p:cNvPr id="10" name="Text 8"/>
          <p:cNvSpPr/>
          <p:nvPr/>
        </p:nvSpPr>
        <p:spPr>
          <a:xfrm>
            <a:off x="685800" y="3429000"/>
            <a:ext cx="2331720" cy="228600"/>
          </a:xfrm>
          <a:prstGeom prst="rect">
            <a:avLst/>
          </a:prstGeom>
          <a:noFill/>
          <a:ln/>
        </p:spPr>
        <p:txBody>
          <a:bodyPr wrap="square" rtlCol="0" anchor="ctr"/>
          <a:lstStyle/>
          <a:p>
            <a:pPr indent="0" marL="0">
              <a:buNone/>
            </a:pPr>
            <a:r>
              <a:rPr lang="en-US" sz="900" b="1" spc="100" kern="0" dirty="0">
                <a:solidFill>
                  <a:srgbClr val="5C6773"/>
                </a:solidFill>
                <a:latin typeface="Calibri" pitchFamily="34" charset="0"/>
                <a:ea typeface="Calibri" pitchFamily="34" charset="-122"/>
                <a:cs typeface="Calibri" pitchFamily="34" charset="-120"/>
              </a:rPr>
              <a:t>TEST</a:t>
            </a:r>
            <a:endParaRPr lang="en-US" sz="900" dirty="0"/>
          </a:p>
        </p:txBody>
      </p:sp>
      <p:sp>
        <p:nvSpPr>
          <p:cNvPr id="11" name="Text 9"/>
          <p:cNvSpPr/>
          <p:nvPr/>
        </p:nvSpPr>
        <p:spPr>
          <a:xfrm>
            <a:off x="685800" y="3657600"/>
            <a:ext cx="2331720" cy="86868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Healthy telemetry within normal limits</a:t>
            </a:r>
            <a:endParaRPr lang="en-US" sz="1050" dirty="0"/>
          </a:p>
        </p:txBody>
      </p:sp>
      <p:sp>
        <p:nvSpPr>
          <p:cNvPr id="12" name="Text 10"/>
          <p:cNvSpPr/>
          <p:nvPr/>
        </p:nvSpPr>
        <p:spPr>
          <a:xfrm>
            <a:off x="685800" y="4526280"/>
            <a:ext cx="2331720" cy="228600"/>
          </a:xfrm>
          <a:prstGeom prst="rect">
            <a:avLst/>
          </a:prstGeom>
          <a:noFill/>
          <a:ln/>
        </p:spPr>
        <p:txBody>
          <a:bodyPr wrap="square" rtlCol="0" anchor="ctr"/>
          <a:lstStyle/>
          <a:p>
            <a:pPr indent="0" marL="0">
              <a:buNone/>
            </a:pPr>
            <a:r>
              <a:rPr lang="en-US" sz="900" b="1" spc="100" kern="0" dirty="0">
                <a:solidFill>
                  <a:srgbClr val="5C6773"/>
                </a:solidFill>
                <a:latin typeface="Calibri" pitchFamily="34" charset="0"/>
                <a:ea typeface="Calibri" pitchFamily="34" charset="-122"/>
                <a:cs typeface="Calibri" pitchFamily="34" charset="-120"/>
              </a:rPr>
              <a:t>RESULT</a:t>
            </a:r>
            <a:endParaRPr lang="en-US" sz="900" dirty="0"/>
          </a:p>
        </p:txBody>
      </p:sp>
      <p:sp>
        <p:nvSpPr>
          <p:cNvPr id="13" name="Text 11"/>
          <p:cNvSpPr/>
          <p:nvPr/>
        </p:nvSpPr>
        <p:spPr>
          <a:xfrm>
            <a:off x="685800" y="4754880"/>
            <a:ext cx="2331720" cy="100584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NORMAL status, no alerts, RUL ≈ 125 days</a:t>
            </a:r>
            <a:endParaRPr lang="en-US" sz="1050" dirty="0"/>
          </a:p>
        </p:txBody>
      </p:sp>
      <p:sp>
        <p:nvSpPr>
          <p:cNvPr id="14" name="Shape 12"/>
          <p:cNvSpPr/>
          <p:nvPr/>
        </p:nvSpPr>
        <p:spPr>
          <a:xfrm>
            <a:off x="3364992" y="2514600"/>
            <a:ext cx="2697480" cy="3337560"/>
          </a:xfrm>
          <a:prstGeom prst="roundRect">
            <a:avLst>
              <a:gd name="adj" fmla="val 2712"/>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5" name="Shape 13"/>
          <p:cNvSpPr/>
          <p:nvPr/>
        </p:nvSpPr>
        <p:spPr>
          <a:xfrm>
            <a:off x="3364992" y="2514600"/>
            <a:ext cx="2697480" cy="82296"/>
          </a:xfrm>
          <a:prstGeom prst="rect">
            <a:avLst/>
          </a:prstGeom>
          <a:solidFill>
            <a:srgbClr val="F4A527"/>
          </a:solidFill>
          <a:ln/>
        </p:spPr>
        <p:txBody>
          <a:bodyPr/>
          <a:p/>
        </p:txBody>
      </p:sp>
      <p:sp>
        <p:nvSpPr>
          <p:cNvPr id="16" name="Text 14"/>
          <p:cNvSpPr/>
          <p:nvPr/>
        </p:nvSpPr>
        <p:spPr>
          <a:xfrm>
            <a:off x="3547872" y="2697480"/>
            <a:ext cx="2331720" cy="27432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Scenario 2</a:t>
            </a:r>
            <a:endParaRPr lang="en-US" sz="1050" dirty="0"/>
          </a:p>
        </p:txBody>
      </p:sp>
      <p:sp>
        <p:nvSpPr>
          <p:cNvPr id="17" name="Text 15"/>
          <p:cNvSpPr/>
          <p:nvPr/>
        </p:nvSpPr>
        <p:spPr>
          <a:xfrm>
            <a:off x="3547872" y="2944368"/>
            <a:ext cx="2331720" cy="411480"/>
          </a:xfrm>
          <a:prstGeom prst="rect">
            <a:avLst/>
          </a:prstGeom>
          <a:noFill/>
          <a:ln/>
        </p:spPr>
        <p:txBody>
          <a:bodyPr wrap="square" rtlCol="0" anchor="ctr"/>
          <a:lstStyle/>
          <a:p>
            <a:pPr indent="0" marL="0">
              <a:buNone/>
            </a:pPr>
            <a:r>
              <a:rPr lang="en-US" sz="1600" b="1" dirty="0">
                <a:solidFill>
                  <a:srgbClr val="F4A527"/>
                </a:solidFill>
                <a:latin typeface="Cambria" pitchFamily="34" charset="0"/>
                <a:ea typeface="Cambria" pitchFamily="34" charset="-122"/>
                <a:cs typeface="Cambria" pitchFamily="34" charset="-120"/>
              </a:rPr>
              <a:t>Degradation</a:t>
            </a:r>
            <a:endParaRPr lang="en-US" sz="1600" dirty="0"/>
          </a:p>
        </p:txBody>
      </p:sp>
      <p:sp>
        <p:nvSpPr>
          <p:cNvPr id="18" name="Text 16"/>
          <p:cNvSpPr/>
          <p:nvPr/>
        </p:nvSpPr>
        <p:spPr>
          <a:xfrm>
            <a:off x="3547872" y="3429000"/>
            <a:ext cx="2331720" cy="228600"/>
          </a:xfrm>
          <a:prstGeom prst="rect">
            <a:avLst/>
          </a:prstGeom>
          <a:noFill/>
          <a:ln/>
        </p:spPr>
        <p:txBody>
          <a:bodyPr wrap="square" rtlCol="0" anchor="ctr"/>
          <a:lstStyle/>
          <a:p>
            <a:pPr indent="0" marL="0">
              <a:buNone/>
            </a:pPr>
            <a:r>
              <a:rPr lang="en-US" sz="900" b="1" spc="100" kern="0" dirty="0">
                <a:solidFill>
                  <a:srgbClr val="5C6773"/>
                </a:solidFill>
                <a:latin typeface="Calibri" pitchFamily="34" charset="0"/>
                <a:ea typeface="Calibri" pitchFamily="34" charset="-122"/>
                <a:cs typeface="Calibri" pitchFamily="34" charset="-120"/>
              </a:rPr>
              <a:t>TEST</a:t>
            </a:r>
            <a:endParaRPr lang="en-US" sz="900" dirty="0"/>
          </a:p>
        </p:txBody>
      </p:sp>
      <p:sp>
        <p:nvSpPr>
          <p:cNvPr id="19" name="Text 17"/>
          <p:cNvSpPr/>
          <p:nvPr/>
        </p:nvSpPr>
        <p:spPr>
          <a:xfrm>
            <a:off x="3547872" y="3657600"/>
            <a:ext cx="2331720" cy="86868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Parameters drift upward slowly</a:t>
            </a:r>
            <a:endParaRPr lang="en-US" sz="1050" dirty="0"/>
          </a:p>
        </p:txBody>
      </p:sp>
      <p:sp>
        <p:nvSpPr>
          <p:cNvPr id="20" name="Text 18"/>
          <p:cNvSpPr/>
          <p:nvPr/>
        </p:nvSpPr>
        <p:spPr>
          <a:xfrm>
            <a:off x="3547872" y="4526280"/>
            <a:ext cx="2331720" cy="228600"/>
          </a:xfrm>
          <a:prstGeom prst="rect">
            <a:avLst/>
          </a:prstGeom>
          <a:noFill/>
          <a:ln/>
        </p:spPr>
        <p:txBody>
          <a:bodyPr wrap="square" rtlCol="0" anchor="ctr"/>
          <a:lstStyle/>
          <a:p>
            <a:pPr indent="0" marL="0">
              <a:buNone/>
            </a:pPr>
            <a:r>
              <a:rPr lang="en-US" sz="900" b="1" spc="100" kern="0" dirty="0">
                <a:solidFill>
                  <a:srgbClr val="5C6773"/>
                </a:solidFill>
                <a:latin typeface="Calibri" pitchFamily="34" charset="0"/>
                <a:ea typeface="Calibri" pitchFamily="34" charset="-122"/>
                <a:cs typeface="Calibri" pitchFamily="34" charset="-120"/>
              </a:rPr>
              <a:t>RESULT</a:t>
            </a:r>
            <a:endParaRPr lang="en-US" sz="900" dirty="0"/>
          </a:p>
        </p:txBody>
      </p:sp>
      <p:sp>
        <p:nvSpPr>
          <p:cNvPr id="21" name="Text 19"/>
          <p:cNvSpPr/>
          <p:nvPr/>
        </p:nvSpPr>
        <p:spPr>
          <a:xfrm>
            <a:off x="3547872" y="4754880"/>
            <a:ext cx="2331720" cy="100584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WARNING status, scheduled service recommendation</a:t>
            </a:r>
            <a:endParaRPr lang="en-US" sz="1050" dirty="0"/>
          </a:p>
        </p:txBody>
      </p:sp>
      <p:sp>
        <p:nvSpPr>
          <p:cNvPr id="22" name="Shape 20"/>
          <p:cNvSpPr/>
          <p:nvPr/>
        </p:nvSpPr>
        <p:spPr>
          <a:xfrm>
            <a:off x="6227064" y="2514600"/>
            <a:ext cx="2697480" cy="3337560"/>
          </a:xfrm>
          <a:prstGeom prst="roundRect">
            <a:avLst>
              <a:gd name="adj" fmla="val 2712"/>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23" name="Shape 21"/>
          <p:cNvSpPr/>
          <p:nvPr/>
        </p:nvSpPr>
        <p:spPr>
          <a:xfrm>
            <a:off x="6227064" y="2514600"/>
            <a:ext cx="2697480" cy="82296"/>
          </a:xfrm>
          <a:prstGeom prst="rect">
            <a:avLst/>
          </a:prstGeom>
          <a:solidFill>
            <a:srgbClr val="E63946"/>
          </a:solidFill>
          <a:ln/>
        </p:spPr>
        <p:txBody>
          <a:bodyPr/>
          <a:p/>
        </p:txBody>
      </p:sp>
      <p:sp>
        <p:nvSpPr>
          <p:cNvPr id="24" name="Text 22"/>
          <p:cNvSpPr/>
          <p:nvPr/>
        </p:nvSpPr>
        <p:spPr>
          <a:xfrm>
            <a:off x="6409944" y="2697480"/>
            <a:ext cx="2331720" cy="27432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Scenario 3</a:t>
            </a:r>
            <a:endParaRPr lang="en-US" sz="1050" dirty="0"/>
          </a:p>
        </p:txBody>
      </p:sp>
      <p:sp>
        <p:nvSpPr>
          <p:cNvPr id="25" name="Text 23"/>
          <p:cNvSpPr/>
          <p:nvPr/>
        </p:nvSpPr>
        <p:spPr>
          <a:xfrm>
            <a:off x="6409944" y="2944368"/>
            <a:ext cx="2331720" cy="411480"/>
          </a:xfrm>
          <a:prstGeom prst="rect">
            <a:avLst/>
          </a:prstGeom>
          <a:noFill/>
          <a:ln/>
        </p:spPr>
        <p:txBody>
          <a:bodyPr wrap="square" rtlCol="0" anchor="ctr"/>
          <a:lstStyle/>
          <a:p>
            <a:pPr indent="0" marL="0">
              <a:buNone/>
            </a:pPr>
            <a:r>
              <a:rPr lang="en-US" sz="1600" b="1" dirty="0">
                <a:solidFill>
                  <a:srgbClr val="E63946"/>
                </a:solidFill>
                <a:latin typeface="Cambria" pitchFamily="34" charset="0"/>
                <a:ea typeface="Cambria" pitchFamily="34" charset="-122"/>
                <a:cs typeface="Cambria" pitchFamily="34" charset="-120"/>
              </a:rPr>
              <a:t>Sudden Fault</a:t>
            </a:r>
            <a:endParaRPr lang="en-US" sz="1600" dirty="0"/>
          </a:p>
        </p:txBody>
      </p:sp>
      <p:sp>
        <p:nvSpPr>
          <p:cNvPr id="26" name="Text 24"/>
          <p:cNvSpPr/>
          <p:nvPr/>
        </p:nvSpPr>
        <p:spPr>
          <a:xfrm>
            <a:off x="6409944" y="3429000"/>
            <a:ext cx="2331720" cy="228600"/>
          </a:xfrm>
          <a:prstGeom prst="rect">
            <a:avLst/>
          </a:prstGeom>
          <a:noFill/>
          <a:ln/>
        </p:spPr>
        <p:txBody>
          <a:bodyPr wrap="square" rtlCol="0" anchor="ctr"/>
          <a:lstStyle/>
          <a:p>
            <a:pPr indent="0" marL="0">
              <a:buNone/>
            </a:pPr>
            <a:r>
              <a:rPr lang="en-US" sz="900" b="1" spc="100" kern="0" dirty="0">
                <a:solidFill>
                  <a:srgbClr val="5C6773"/>
                </a:solidFill>
                <a:latin typeface="Calibri" pitchFamily="34" charset="0"/>
                <a:ea typeface="Calibri" pitchFamily="34" charset="-122"/>
                <a:cs typeface="Calibri" pitchFamily="34" charset="-120"/>
              </a:rPr>
              <a:t>TEST</a:t>
            </a:r>
            <a:endParaRPr lang="en-US" sz="900" dirty="0"/>
          </a:p>
        </p:txBody>
      </p:sp>
      <p:sp>
        <p:nvSpPr>
          <p:cNvPr id="27" name="Text 25"/>
          <p:cNvSpPr/>
          <p:nvPr/>
        </p:nvSpPr>
        <p:spPr>
          <a:xfrm>
            <a:off x="6409944" y="3657600"/>
            <a:ext cx="2331720" cy="86868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Extreme vibration, sharp current rise, RUL &lt; 3 days</a:t>
            </a:r>
            <a:endParaRPr lang="en-US" sz="1050" dirty="0"/>
          </a:p>
        </p:txBody>
      </p:sp>
      <p:sp>
        <p:nvSpPr>
          <p:cNvPr id="28" name="Text 26"/>
          <p:cNvSpPr/>
          <p:nvPr/>
        </p:nvSpPr>
        <p:spPr>
          <a:xfrm>
            <a:off x="6409944" y="4526280"/>
            <a:ext cx="2331720" cy="228600"/>
          </a:xfrm>
          <a:prstGeom prst="rect">
            <a:avLst/>
          </a:prstGeom>
          <a:noFill/>
          <a:ln/>
        </p:spPr>
        <p:txBody>
          <a:bodyPr wrap="square" rtlCol="0" anchor="ctr"/>
          <a:lstStyle/>
          <a:p>
            <a:pPr indent="0" marL="0">
              <a:buNone/>
            </a:pPr>
            <a:r>
              <a:rPr lang="en-US" sz="900" b="1" spc="100" kern="0" dirty="0">
                <a:solidFill>
                  <a:srgbClr val="5C6773"/>
                </a:solidFill>
                <a:latin typeface="Calibri" pitchFamily="34" charset="0"/>
                <a:ea typeface="Calibri" pitchFamily="34" charset="-122"/>
                <a:cs typeface="Calibri" pitchFamily="34" charset="-120"/>
              </a:rPr>
              <a:t>RESULT</a:t>
            </a:r>
            <a:endParaRPr lang="en-US" sz="900" dirty="0"/>
          </a:p>
        </p:txBody>
      </p:sp>
      <p:sp>
        <p:nvSpPr>
          <p:cNvPr id="29" name="Text 27"/>
          <p:cNvSpPr/>
          <p:nvPr/>
        </p:nvSpPr>
        <p:spPr>
          <a:xfrm>
            <a:off x="6409944" y="4754880"/>
            <a:ext cx="2331720" cy="100584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CRITICAL status, WA &amp; Email alerts dispatched &lt; 30 seconds</a:t>
            </a:r>
            <a:endParaRPr lang="en-US" sz="1050" dirty="0"/>
          </a:p>
        </p:txBody>
      </p:sp>
      <p:sp>
        <p:nvSpPr>
          <p:cNvPr id="30" name="Shape 28"/>
          <p:cNvSpPr/>
          <p:nvPr/>
        </p:nvSpPr>
        <p:spPr>
          <a:xfrm>
            <a:off x="9089136" y="2514600"/>
            <a:ext cx="2697480" cy="3337560"/>
          </a:xfrm>
          <a:prstGeom prst="roundRect">
            <a:avLst>
              <a:gd name="adj" fmla="val 2712"/>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31" name="Shape 29"/>
          <p:cNvSpPr/>
          <p:nvPr/>
        </p:nvSpPr>
        <p:spPr>
          <a:xfrm>
            <a:off x="9089136" y="2514600"/>
            <a:ext cx="2697480" cy="82296"/>
          </a:xfrm>
          <a:prstGeom prst="rect">
            <a:avLst/>
          </a:prstGeom>
          <a:solidFill>
            <a:srgbClr val="5C6773"/>
          </a:solidFill>
          <a:ln/>
        </p:spPr>
        <p:txBody>
          <a:bodyPr/>
          <a:p/>
        </p:txBody>
      </p:sp>
      <p:sp>
        <p:nvSpPr>
          <p:cNvPr id="32" name="Text 30"/>
          <p:cNvSpPr/>
          <p:nvPr/>
        </p:nvSpPr>
        <p:spPr>
          <a:xfrm>
            <a:off x="9272016" y="2697480"/>
            <a:ext cx="2331720" cy="274320"/>
          </a:xfrm>
          <a:prstGeom prst="rect">
            <a:avLst/>
          </a:prstGeom>
          <a:noFill/>
          <a:ln/>
        </p:spPr>
        <p:txBody>
          <a:bodyPr wrap="square" rtlCol="0" anchor="ctr"/>
          <a:lstStyle/>
          <a:p>
            <a:pPr indent="0" marL="0">
              <a:buNone/>
            </a:pPr>
            <a:r>
              <a:rPr lang="en-US" sz="1050" dirty="0">
                <a:solidFill>
                  <a:srgbClr val="5C6773"/>
                </a:solidFill>
                <a:latin typeface="Calibri" pitchFamily="34" charset="0"/>
                <a:ea typeface="Calibri" pitchFamily="34" charset="-122"/>
                <a:cs typeface="Calibri" pitchFamily="34" charset="-120"/>
              </a:rPr>
              <a:t>Scenario 4</a:t>
            </a:r>
            <a:endParaRPr lang="en-US" sz="1050" dirty="0"/>
          </a:p>
        </p:txBody>
      </p:sp>
      <p:sp>
        <p:nvSpPr>
          <p:cNvPr id="33" name="Text 31"/>
          <p:cNvSpPr/>
          <p:nvPr/>
        </p:nvSpPr>
        <p:spPr>
          <a:xfrm>
            <a:off x="9272016" y="2944368"/>
            <a:ext cx="2331720" cy="411480"/>
          </a:xfrm>
          <a:prstGeom prst="rect">
            <a:avLst/>
          </a:prstGeom>
          <a:noFill/>
          <a:ln/>
        </p:spPr>
        <p:txBody>
          <a:bodyPr wrap="square"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Dirty Data</a:t>
            </a:r>
            <a:endParaRPr lang="en-US" sz="1600" dirty="0"/>
          </a:p>
        </p:txBody>
      </p:sp>
      <p:sp>
        <p:nvSpPr>
          <p:cNvPr id="34" name="Text 32"/>
          <p:cNvSpPr/>
          <p:nvPr/>
        </p:nvSpPr>
        <p:spPr>
          <a:xfrm>
            <a:off x="9272016" y="3429000"/>
            <a:ext cx="2331720" cy="228600"/>
          </a:xfrm>
          <a:prstGeom prst="rect">
            <a:avLst/>
          </a:prstGeom>
          <a:noFill/>
          <a:ln/>
        </p:spPr>
        <p:txBody>
          <a:bodyPr wrap="square" rtlCol="0" anchor="ctr"/>
          <a:lstStyle/>
          <a:p>
            <a:pPr indent="0" marL="0">
              <a:buNone/>
            </a:pPr>
            <a:r>
              <a:rPr lang="en-US" sz="900" b="1" spc="100" kern="0" dirty="0">
                <a:solidFill>
                  <a:srgbClr val="5C6773"/>
                </a:solidFill>
                <a:latin typeface="Calibri" pitchFamily="34" charset="0"/>
                <a:ea typeface="Calibri" pitchFamily="34" charset="-122"/>
                <a:cs typeface="Calibri" pitchFamily="34" charset="-120"/>
              </a:rPr>
              <a:t>TEST</a:t>
            </a:r>
            <a:endParaRPr lang="en-US" sz="900" dirty="0"/>
          </a:p>
        </p:txBody>
      </p:sp>
      <p:sp>
        <p:nvSpPr>
          <p:cNvPr id="35" name="Text 33"/>
          <p:cNvSpPr/>
          <p:nvPr/>
        </p:nvSpPr>
        <p:spPr>
          <a:xfrm>
            <a:off x="9272016" y="3657600"/>
            <a:ext cx="2331720" cy="86868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Flatline, massive nulls, extreme outliers</a:t>
            </a:r>
            <a:endParaRPr lang="en-US" sz="1050" dirty="0"/>
          </a:p>
        </p:txBody>
      </p:sp>
      <p:sp>
        <p:nvSpPr>
          <p:cNvPr id="36" name="Text 34"/>
          <p:cNvSpPr/>
          <p:nvPr/>
        </p:nvSpPr>
        <p:spPr>
          <a:xfrm>
            <a:off x="9272016" y="4526280"/>
            <a:ext cx="2331720" cy="228600"/>
          </a:xfrm>
          <a:prstGeom prst="rect">
            <a:avLst/>
          </a:prstGeom>
          <a:noFill/>
          <a:ln/>
        </p:spPr>
        <p:txBody>
          <a:bodyPr wrap="square" rtlCol="0" anchor="ctr"/>
          <a:lstStyle/>
          <a:p>
            <a:pPr indent="0" marL="0">
              <a:buNone/>
            </a:pPr>
            <a:r>
              <a:rPr lang="en-US" sz="900" b="1" spc="100" kern="0" dirty="0">
                <a:solidFill>
                  <a:srgbClr val="5C6773"/>
                </a:solidFill>
                <a:latin typeface="Calibri" pitchFamily="34" charset="0"/>
                <a:ea typeface="Calibri" pitchFamily="34" charset="-122"/>
                <a:cs typeface="Calibri" pitchFamily="34" charset="-120"/>
              </a:rPr>
              <a:t>RESULT</a:t>
            </a:r>
            <a:endParaRPr lang="en-US" sz="900" dirty="0"/>
          </a:p>
        </p:txBody>
      </p:sp>
      <p:sp>
        <p:nvSpPr>
          <p:cNvPr id="37" name="Text 35"/>
          <p:cNvSpPr/>
          <p:nvPr/>
        </p:nvSpPr>
        <p:spPr>
          <a:xfrm>
            <a:off x="9272016" y="4754880"/>
            <a:ext cx="2331720" cy="1005840"/>
          </a:xfrm>
          <a:prstGeom prst="rect">
            <a:avLst/>
          </a:prstGeom>
          <a:noFill/>
          <a:ln/>
        </p:spPr>
        <p:txBody>
          <a:bodyPr wrap="square" rtlCol="0" anchor="ctr"/>
          <a:lstStyle/>
          <a:p>
            <a:pPr indent="0" marL="0">
              <a:buNone/>
            </a:pPr>
            <a:r>
              <a:rPr lang="en-US" sz="1050" dirty="0">
                <a:solidFill>
                  <a:srgbClr val="1A2233"/>
                </a:solidFill>
                <a:latin typeface="Calibri" pitchFamily="34" charset="0"/>
                <a:ea typeface="Calibri" pitchFamily="34" charset="-122"/>
                <a:cs typeface="Calibri" pitchFamily="34" charset="-120"/>
              </a:rPr>
              <a:t>WARNING: sensor malfunction, not mechanical failure</a:t>
            </a:r>
            <a:endParaRPr lang="en-US" sz="1050" dirty="0"/>
          </a:p>
        </p:txBody>
      </p:sp>
      <p:sp>
        <p:nvSpPr>
          <p:cNvPr id="38" name="Text 36"/>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20</a:t>
            </a:r>
            <a:endParaRPr lang="en-US" sz="1000" dirty="0"/>
          </a:p>
        </p:txBody>
      </p:sp>
      <p:sp>
        <p:nvSpPr>
          <p:cNvPr id="39" name="Text 37"/>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09 · VALIDATION &amp; TESTING</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Field Technician Feedback Loop</a:t>
            </a:r>
            <a:endParaRPr lang="en-US" sz="2900" dirty="0"/>
          </a:p>
        </p:txBody>
      </p:sp>
      <p:sp>
        <p:nvSpPr>
          <p:cNvPr id="4" name="Shape 2"/>
          <p:cNvSpPr/>
          <p:nvPr/>
        </p:nvSpPr>
        <p:spPr>
          <a:xfrm>
            <a:off x="502920" y="2103120"/>
            <a:ext cx="2514600" cy="1371600"/>
          </a:xfrm>
          <a:prstGeom prst="roundRect">
            <a:avLst>
              <a:gd name="adj" fmla="val 5333"/>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5" name="Shape 3"/>
          <p:cNvSpPr/>
          <p:nvPr/>
        </p:nvSpPr>
        <p:spPr>
          <a:xfrm>
            <a:off x="1531620" y="2286000"/>
            <a:ext cx="457200" cy="457200"/>
          </a:xfrm>
          <a:prstGeom prst="ellipse">
            <a:avLst/>
          </a:prstGeom>
          <a:solidFill>
            <a:srgbClr val="0B2545"/>
          </a:solidFill>
          <a:ln/>
        </p:spPr>
        <p:txBody>
          <a:bodyPr/>
          <a:p/>
        </p:txBody>
      </p:sp>
      <p:sp>
        <p:nvSpPr>
          <p:cNvPr id="6" name="Text 4"/>
          <p:cNvSpPr/>
          <p:nvPr/>
        </p:nvSpPr>
        <p:spPr>
          <a:xfrm>
            <a:off x="1531620" y="226771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640080" y="2834640"/>
            <a:ext cx="2240280" cy="54864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Predictions &amp;</a:t>
            </a:r>
            <a:endParaRPr lang="en-US" sz="1100" dirty="0"/>
          </a:p>
          <a:p>
            <a:pPr algn="ctr" indent="0" marL="0">
              <a:buNone/>
            </a:pPr>
            <a:r>
              <a:rPr lang="en-US" sz="1100" b="1" dirty="0">
                <a:solidFill>
                  <a:srgbClr val="0B2545"/>
                </a:solidFill>
                <a:latin typeface="Calibri" pitchFamily="34" charset="0"/>
                <a:ea typeface="Calibri" pitchFamily="34" charset="-122"/>
                <a:cs typeface="Calibri" pitchFamily="34" charset="-120"/>
              </a:rPr>
              <a:t>Work Orders</a:t>
            </a:r>
            <a:endParaRPr lang="en-US" sz="1100" dirty="0"/>
          </a:p>
        </p:txBody>
      </p:sp>
      <p:sp>
        <p:nvSpPr>
          <p:cNvPr id="8" name="Text 6"/>
          <p:cNvSpPr/>
          <p:nvPr/>
        </p:nvSpPr>
        <p:spPr>
          <a:xfrm>
            <a:off x="3017520" y="2514600"/>
            <a:ext cx="274320" cy="457200"/>
          </a:xfrm>
          <a:prstGeom prst="rect">
            <a:avLst/>
          </a:prstGeom>
          <a:noFill/>
          <a:ln/>
        </p:spPr>
        <p:txBody>
          <a:bodyPr wrap="square" rtlCol="0" anchor="ctr"/>
          <a:lstStyle/>
          <a:p>
            <a:pPr algn="ctr" indent="0" marL="0">
              <a:buNone/>
            </a:pPr>
            <a:r>
              <a:rPr lang="en-US" sz="1800" b="1" dirty="0">
                <a:solidFill>
                  <a:srgbClr val="00B4A6"/>
                </a:solidFill>
                <a:latin typeface="Cambria" pitchFamily="34" charset="0"/>
                <a:ea typeface="Cambria" pitchFamily="34" charset="-122"/>
                <a:cs typeface="Cambria" pitchFamily="34" charset="-120"/>
              </a:rPr>
              <a:t>›</a:t>
            </a:r>
            <a:endParaRPr lang="en-US" sz="1800" dirty="0"/>
          </a:p>
        </p:txBody>
      </p:sp>
      <p:sp>
        <p:nvSpPr>
          <p:cNvPr id="9" name="Shape 7"/>
          <p:cNvSpPr/>
          <p:nvPr/>
        </p:nvSpPr>
        <p:spPr>
          <a:xfrm>
            <a:off x="3337560" y="2103120"/>
            <a:ext cx="2514600" cy="1371600"/>
          </a:xfrm>
          <a:prstGeom prst="roundRect">
            <a:avLst>
              <a:gd name="adj" fmla="val 5333"/>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0" name="Shape 8"/>
          <p:cNvSpPr/>
          <p:nvPr/>
        </p:nvSpPr>
        <p:spPr>
          <a:xfrm>
            <a:off x="4366260" y="2286000"/>
            <a:ext cx="457200" cy="457200"/>
          </a:xfrm>
          <a:prstGeom prst="ellipse">
            <a:avLst/>
          </a:prstGeom>
          <a:solidFill>
            <a:srgbClr val="0B2545"/>
          </a:solidFill>
          <a:ln/>
        </p:spPr>
        <p:txBody>
          <a:bodyPr/>
          <a:p/>
        </p:txBody>
      </p:sp>
      <p:sp>
        <p:nvSpPr>
          <p:cNvPr id="11" name="Text 9"/>
          <p:cNvSpPr/>
          <p:nvPr/>
        </p:nvSpPr>
        <p:spPr>
          <a:xfrm>
            <a:off x="4366260" y="226771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3474720" y="2834640"/>
            <a:ext cx="2240280" cy="54864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Technician</a:t>
            </a:r>
            <a:endParaRPr lang="en-US" sz="1100" dirty="0"/>
          </a:p>
          <a:p>
            <a:pPr algn="ctr" indent="0" marL="0">
              <a:buNone/>
            </a:pPr>
            <a:r>
              <a:rPr lang="en-US" sz="1100" b="1" dirty="0">
                <a:solidFill>
                  <a:srgbClr val="0B2545"/>
                </a:solidFill>
                <a:latin typeface="Calibri" pitchFamily="34" charset="0"/>
                <a:ea typeface="Calibri" pitchFamily="34" charset="-122"/>
                <a:cs typeface="Calibri" pitchFamily="34" charset="-120"/>
              </a:rPr>
              <a:t>Field Confirmation</a:t>
            </a:r>
            <a:endParaRPr lang="en-US" sz="1100" dirty="0"/>
          </a:p>
        </p:txBody>
      </p:sp>
      <p:sp>
        <p:nvSpPr>
          <p:cNvPr id="13" name="Text 11"/>
          <p:cNvSpPr/>
          <p:nvPr/>
        </p:nvSpPr>
        <p:spPr>
          <a:xfrm>
            <a:off x="5852160" y="2514600"/>
            <a:ext cx="274320" cy="457200"/>
          </a:xfrm>
          <a:prstGeom prst="rect">
            <a:avLst/>
          </a:prstGeom>
          <a:noFill/>
          <a:ln/>
        </p:spPr>
        <p:txBody>
          <a:bodyPr wrap="square" rtlCol="0" anchor="ctr"/>
          <a:lstStyle/>
          <a:p>
            <a:pPr algn="ctr" indent="0" marL="0">
              <a:buNone/>
            </a:pPr>
            <a:r>
              <a:rPr lang="en-US" sz="1800" b="1" dirty="0">
                <a:solidFill>
                  <a:srgbClr val="00B4A6"/>
                </a:solidFill>
                <a:latin typeface="Cambria" pitchFamily="34" charset="0"/>
                <a:ea typeface="Cambria" pitchFamily="34" charset="-122"/>
                <a:cs typeface="Cambria" pitchFamily="34" charset="-120"/>
              </a:rPr>
              <a:t>›</a:t>
            </a:r>
            <a:endParaRPr lang="en-US" sz="1800" dirty="0"/>
          </a:p>
        </p:txBody>
      </p:sp>
      <p:sp>
        <p:nvSpPr>
          <p:cNvPr id="14" name="Shape 12"/>
          <p:cNvSpPr/>
          <p:nvPr/>
        </p:nvSpPr>
        <p:spPr>
          <a:xfrm>
            <a:off x="6172200" y="2103120"/>
            <a:ext cx="2514600" cy="1371600"/>
          </a:xfrm>
          <a:prstGeom prst="roundRect">
            <a:avLst>
              <a:gd name="adj" fmla="val 5333"/>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5" name="Shape 13"/>
          <p:cNvSpPr/>
          <p:nvPr/>
        </p:nvSpPr>
        <p:spPr>
          <a:xfrm>
            <a:off x="7200900" y="2286000"/>
            <a:ext cx="457200" cy="457200"/>
          </a:xfrm>
          <a:prstGeom prst="ellipse">
            <a:avLst/>
          </a:prstGeom>
          <a:solidFill>
            <a:srgbClr val="0B2545"/>
          </a:solidFill>
          <a:ln/>
        </p:spPr>
        <p:txBody>
          <a:bodyPr/>
          <a:p/>
        </p:txBody>
      </p:sp>
      <p:sp>
        <p:nvSpPr>
          <p:cNvPr id="16" name="Text 14"/>
          <p:cNvSpPr/>
          <p:nvPr/>
        </p:nvSpPr>
        <p:spPr>
          <a:xfrm>
            <a:off x="7200900" y="226771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6309360" y="2834640"/>
            <a:ext cx="2240280" cy="54864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Stored in</a:t>
            </a:r>
            <a:endParaRPr lang="en-US" sz="1100" dirty="0"/>
          </a:p>
          <a:p>
            <a:pPr algn="ctr" indent="0" marL="0">
              <a:buNone/>
            </a:pPr>
            <a:r>
              <a:rPr lang="en-US" sz="1100" b="1" dirty="0">
                <a:solidFill>
                  <a:srgbClr val="0B2545"/>
                </a:solidFill>
                <a:latin typeface="Calibri" pitchFamily="34" charset="0"/>
                <a:ea typeface="Calibri" pitchFamily="34" charset="-122"/>
                <a:cs typeface="Calibri" pitchFamily="34" charset="-120"/>
              </a:rPr>
              <a:t>Feedback Database</a:t>
            </a:r>
            <a:endParaRPr lang="en-US" sz="1100" dirty="0"/>
          </a:p>
        </p:txBody>
      </p:sp>
      <p:sp>
        <p:nvSpPr>
          <p:cNvPr id="18" name="Text 16"/>
          <p:cNvSpPr/>
          <p:nvPr/>
        </p:nvSpPr>
        <p:spPr>
          <a:xfrm>
            <a:off x="8686800" y="2514600"/>
            <a:ext cx="274320" cy="457200"/>
          </a:xfrm>
          <a:prstGeom prst="rect">
            <a:avLst/>
          </a:prstGeom>
          <a:noFill/>
          <a:ln/>
        </p:spPr>
        <p:txBody>
          <a:bodyPr wrap="square" rtlCol="0" anchor="ctr"/>
          <a:lstStyle/>
          <a:p>
            <a:pPr algn="ctr" indent="0" marL="0">
              <a:buNone/>
            </a:pPr>
            <a:r>
              <a:rPr lang="en-US" sz="1800" b="1" dirty="0">
                <a:solidFill>
                  <a:srgbClr val="00B4A6"/>
                </a:solidFill>
                <a:latin typeface="Cambria" pitchFamily="34" charset="0"/>
                <a:ea typeface="Cambria" pitchFamily="34" charset="-122"/>
                <a:cs typeface="Cambria" pitchFamily="34" charset="-120"/>
              </a:rPr>
              <a:t>›</a:t>
            </a:r>
            <a:endParaRPr lang="en-US" sz="1800" dirty="0"/>
          </a:p>
        </p:txBody>
      </p:sp>
      <p:sp>
        <p:nvSpPr>
          <p:cNvPr id="19" name="Shape 17"/>
          <p:cNvSpPr/>
          <p:nvPr/>
        </p:nvSpPr>
        <p:spPr>
          <a:xfrm>
            <a:off x="9006840" y="2103120"/>
            <a:ext cx="2514600" cy="1371600"/>
          </a:xfrm>
          <a:prstGeom prst="roundRect">
            <a:avLst>
              <a:gd name="adj" fmla="val 5333"/>
            </a:avLst>
          </a:prstGeom>
          <a:solidFill>
            <a:srgbClr val="E4F7F5"/>
          </a:solidFill>
          <a:ln/>
          <a:effectLst>
            <a:outerShdw sx="100000" sy="100000" kx="0" ky="0" algn="bl" rotWithShape="0" blurRad="76200" dist="25400" dir="5400000">
              <a:srgbClr val="9AA5B1">
                <a:alpha val="25000"/>
              </a:srgbClr>
            </a:outerShdw>
          </a:effectLst>
        </p:spPr>
        <p:txBody>
          <a:bodyPr/>
          <a:p/>
        </p:txBody>
      </p:sp>
      <p:sp>
        <p:nvSpPr>
          <p:cNvPr id="20" name="Shape 18"/>
          <p:cNvSpPr/>
          <p:nvPr/>
        </p:nvSpPr>
        <p:spPr>
          <a:xfrm>
            <a:off x="10035540" y="2286000"/>
            <a:ext cx="457200" cy="457200"/>
          </a:xfrm>
          <a:prstGeom prst="ellipse">
            <a:avLst/>
          </a:prstGeom>
          <a:solidFill>
            <a:srgbClr val="00B4A6"/>
          </a:solidFill>
          <a:ln/>
        </p:spPr>
        <p:txBody>
          <a:bodyPr/>
          <a:p/>
        </p:txBody>
      </p:sp>
      <p:sp>
        <p:nvSpPr>
          <p:cNvPr id="21" name="Text 19"/>
          <p:cNvSpPr/>
          <p:nvPr/>
        </p:nvSpPr>
        <p:spPr>
          <a:xfrm>
            <a:off x="10035540" y="226771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9144000" y="2834640"/>
            <a:ext cx="2240280" cy="54864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Retraining Model</a:t>
            </a:r>
            <a:endParaRPr lang="en-US" sz="1100" dirty="0"/>
          </a:p>
          <a:p>
            <a:pPr algn="ctr" indent="0" marL="0">
              <a:buNone/>
            </a:pPr>
            <a:r>
              <a:rPr lang="en-US" sz="1100" b="1" dirty="0">
                <a:solidFill>
                  <a:srgbClr val="0B2545"/>
                </a:solidFill>
                <a:latin typeface="Calibri" pitchFamily="34" charset="0"/>
                <a:ea typeface="Calibri" pitchFamily="34" charset="-122"/>
                <a:cs typeface="Calibri" pitchFamily="34" charset="-120"/>
              </a:rPr>
              <a:t>(if errors accumulate)</a:t>
            </a:r>
            <a:endParaRPr lang="en-US" sz="1100" dirty="0"/>
          </a:p>
        </p:txBody>
      </p:sp>
      <p:sp>
        <p:nvSpPr>
          <p:cNvPr id="23" name="Shape 21"/>
          <p:cNvSpPr/>
          <p:nvPr/>
        </p:nvSpPr>
        <p:spPr>
          <a:xfrm>
            <a:off x="502920" y="3840480"/>
            <a:ext cx="11201400" cy="1874520"/>
          </a:xfrm>
          <a:prstGeom prst="roundRect">
            <a:avLst>
              <a:gd name="adj" fmla="val 3902"/>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24" name="Text 22"/>
          <p:cNvSpPr/>
          <p:nvPr/>
        </p:nvSpPr>
        <p:spPr>
          <a:xfrm>
            <a:off x="777240" y="4023360"/>
            <a:ext cx="10607040" cy="1554480"/>
          </a:xfrm>
          <a:prstGeom prst="rect">
            <a:avLst/>
          </a:prstGeom>
          <a:noFill/>
          <a:ln/>
        </p:spPr>
        <p:txBody>
          <a:bodyPr wrap="square" rtlCol="0" anchor="t"/>
          <a:lstStyle/>
          <a:p>
            <a:pPr marL="177800" indent="-177800">
              <a:spcAft>
                <a:spcPts val="1200"/>
              </a:spcAft>
              <a:buSzPct val="100000"/>
              <a:buChar char="•"/>
            </a:pPr>
            <a:r>
              <a:rPr lang="en-US" sz="1300" dirty="0">
                <a:solidFill>
                  <a:srgbClr val="1A2233"/>
                </a:solidFill>
                <a:latin typeface="Calibri" pitchFamily="34" charset="0"/>
                <a:ea typeface="Calibri" pitchFamily="34" charset="-122"/>
                <a:cs typeface="Calibri" pitchFamily="34" charset="-120"/>
              </a:rPr>
              <a:t>Every time a technician completes a work order, they confirm the actual field conditions: Yes, Accurate / No, False Alarm / Misclassified.</a:t>
            </a:r>
            <a:endParaRPr lang="en-US" sz="1300" dirty="0"/>
          </a:p>
          <a:p>
            <a:pPr marL="177800" indent="-177800">
              <a:spcAft>
                <a:spcPts val="1200"/>
              </a:spcAft>
              <a:buSzPct val="100000"/>
              <a:buChar char="•"/>
            </a:pPr>
            <a:r>
              <a:rPr lang="en-US" sz="1300" dirty="0">
                <a:solidFill>
                  <a:srgbClr val="1A2233"/>
                </a:solidFill>
                <a:latin typeface="Calibri" pitchFamily="34" charset="0"/>
                <a:ea typeface="Calibri" pitchFamily="34" charset="-122"/>
                <a:cs typeface="Calibri" pitchFamily="34" charset="-120"/>
              </a:rPr>
              <a:t>This confirmation is stored in the database as additional ground truth.</a:t>
            </a:r>
            <a:endParaRPr lang="en-US" sz="1300" dirty="0"/>
          </a:p>
          <a:p>
            <a:pPr marL="177800" indent="-177800">
              <a:spcAft>
                <a:spcPts val="1200"/>
              </a:spcAft>
              <a:buSzPct val="100000"/>
              <a:buChar char="•"/>
            </a:pPr>
            <a:r>
              <a:rPr lang="en-US" sz="1300" dirty="0">
                <a:solidFill>
                  <a:srgbClr val="1A2233"/>
                </a:solidFill>
                <a:latin typeface="Calibri" pitchFamily="34" charset="0"/>
                <a:ea typeface="Calibri" pitchFamily="34" charset="-122"/>
                <a:cs typeface="Calibri" pitchFamily="34" charset="-120"/>
              </a:rPr>
              <a:t>If misclassifications accumulate, the system alerts the AI administrator to trigger automated model retraining using the latest historical data with corrected labels.</a:t>
            </a:r>
            <a:endParaRPr lang="en-US" sz="1300" dirty="0"/>
          </a:p>
        </p:txBody>
      </p:sp>
      <p:sp>
        <p:nvSpPr>
          <p:cNvPr id="25" name="Text 23"/>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21</a:t>
            </a:r>
            <a:endParaRPr lang="en-US" sz="1000" dirty="0"/>
          </a:p>
        </p:txBody>
      </p:sp>
      <p:sp>
        <p:nvSpPr>
          <p:cNvPr id="26" name="Text 24"/>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10 · CLOSING</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Value Proposition &amp; Current System Limitations</a:t>
            </a:r>
            <a:endParaRPr lang="en-US" sz="2900" dirty="0"/>
          </a:p>
        </p:txBody>
      </p:sp>
      <p:sp>
        <p:nvSpPr>
          <p:cNvPr id="4" name="Text 2"/>
          <p:cNvSpPr/>
          <p:nvPr/>
        </p:nvSpPr>
        <p:spPr>
          <a:xfrm>
            <a:off x="502920" y="1600200"/>
            <a:ext cx="54864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VALUE PROPOSITION</a:t>
            </a:r>
            <a:endParaRPr lang="en-US" sz="1200" dirty="0"/>
          </a:p>
        </p:txBody>
      </p:sp>
      <p:sp>
        <p:nvSpPr>
          <p:cNvPr id="5" name="Shape 3"/>
          <p:cNvSpPr/>
          <p:nvPr/>
        </p:nvSpPr>
        <p:spPr>
          <a:xfrm>
            <a:off x="502920" y="1965960"/>
            <a:ext cx="384048" cy="384048"/>
          </a:xfrm>
          <a:prstGeom prst="ellipse">
            <a:avLst/>
          </a:prstGeom>
          <a:solidFill>
            <a:srgbClr val="00B4A6"/>
          </a:solidFill>
          <a:ln/>
        </p:spPr>
        <p:txBody>
          <a:bodyPr/>
          <a:p/>
        </p:txBody>
      </p:sp>
      <p:sp>
        <p:nvSpPr>
          <p:cNvPr id="6" name="Text 4"/>
          <p:cNvSpPr/>
          <p:nvPr/>
        </p:nvSpPr>
        <p:spPr>
          <a:xfrm>
            <a:off x="502920" y="1947672"/>
            <a:ext cx="384048"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051560" y="1920240"/>
            <a:ext cx="557784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Minimal Downtime</a:t>
            </a:r>
            <a:endParaRPr lang="en-US" sz="1350" dirty="0"/>
          </a:p>
        </p:txBody>
      </p:sp>
      <p:sp>
        <p:nvSpPr>
          <p:cNvPr id="8" name="Text 6"/>
          <p:cNvSpPr/>
          <p:nvPr/>
        </p:nvSpPr>
        <p:spPr>
          <a:xfrm>
            <a:off x="1051560" y="2240280"/>
            <a:ext cx="5577840" cy="64008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Shifts the reactive paradigm to predictive — reducing unplanned downtime by 40–50%.</a:t>
            </a:r>
            <a:endParaRPr lang="en-US" sz="1100" dirty="0"/>
          </a:p>
        </p:txBody>
      </p:sp>
      <p:sp>
        <p:nvSpPr>
          <p:cNvPr id="9" name="Shape 7"/>
          <p:cNvSpPr/>
          <p:nvPr/>
        </p:nvSpPr>
        <p:spPr>
          <a:xfrm>
            <a:off x="502920" y="2898648"/>
            <a:ext cx="384048" cy="384048"/>
          </a:xfrm>
          <a:prstGeom prst="ellipse">
            <a:avLst/>
          </a:prstGeom>
          <a:solidFill>
            <a:srgbClr val="00B4A6"/>
          </a:solidFill>
          <a:ln/>
        </p:spPr>
        <p:txBody>
          <a:bodyPr/>
          <a:p/>
        </p:txBody>
      </p:sp>
      <p:sp>
        <p:nvSpPr>
          <p:cNvPr id="10" name="Text 8"/>
          <p:cNvSpPr/>
          <p:nvPr/>
        </p:nvSpPr>
        <p:spPr>
          <a:xfrm>
            <a:off x="502920" y="2880360"/>
            <a:ext cx="384048"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1051560" y="2852928"/>
            <a:ext cx="557784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Cost Avoidance</a:t>
            </a:r>
            <a:endParaRPr lang="en-US" sz="1350" dirty="0"/>
          </a:p>
        </p:txBody>
      </p:sp>
      <p:sp>
        <p:nvSpPr>
          <p:cNvPr id="12" name="Text 10"/>
          <p:cNvSpPr/>
          <p:nvPr/>
        </p:nvSpPr>
        <p:spPr>
          <a:xfrm>
            <a:off x="1051560" y="3172968"/>
            <a:ext cx="5577840" cy="64008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Prevents secondary damage &amp; ensures spare parts replacement is done on time.</a:t>
            </a:r>
            <a:endParaRPr lang="en-US" sz="1100" dirty="0"/>
          </a:p>
        </p:txBody>
      </p:sp>
      <p:sp>
        <p:nvSpPr>
          <p:cNvPr id="13" name="Shape 11"/>
          <p:cNvSpPr/>
          <p:nvPr/>
        </p:nvSpPr>
        <p:spPr>
          <a:xfrm>
            <a:off x="502920" y="3831336"/>
            <a:ext cx="384048" cy="384048"/>
          </a:xfrm>
          <a:prstGeom prst="ellipse">
            <a:avLst/>
          </a:prstGeom>
          <a:solidFill>
            <a:srgbClr val="00B4A6"/>
          </a:solidFill>
          <a:ln/>
        </p:spPr>
        <p:txBody>
          <a:bodyPr/>
          <a:p/>
        </p:txBody>
      </p:sp>
      <p:sp>
        <p:nvSpPr>
          <p:cNvPr id="14" name="Text 12"/>
          <p:cNvSpPr/>
          <p:nvPr/>
        </p:nvSpPr>
        <p:spPr>
          <a:xfrm>
            <a:off x="502920" y="3813048"/>
            <a:ext cx="384048"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051560" y="3785616"/>
            <a:ext cx="557784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Human Trust Empowerment</a:t>
            </a:r>
            <a:endParaRPr lang="en-US" sz="1350" dirty="0"/>
          </a:p>
        </p:txBody>
      </p:sp>
      <p:sp>
        <p:nvSpPr>
          <p:cNvPr id="16" name="Text 14"/>
          <p:cNvSpPr/>
          <p:nvPr/>
        </p:nvSpPr>
        <p:spPr>
          <a:xfrm>
            <a:off x="1051560" y="4105656"/>
            <a:ext cx="5577840" cy="64008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Eliminates the "Black Box AI" skepticism through transparent SHAP explanations and clear spare part recommendations.</a:t>
            </a:r>
            <a:endParaRPr lang="en-US" sz="1100" dirty="0"/>
          </a:p>
        </p:txBody>
      </p:sp>
      <p:sp>
        <p:nvSpPr>
          <p:cNvPr id="17" name="Shape 15"/>
          <p:cNvSpPr/>
          <p:nvPr/>
        </p:nvSpPr>
        <p:spPr>
          <a:xfrm>
            <a:off x="6537960" y="1691640"/>
            <a:ext cx="5166360" cy="4206240"/>
          </a:xfrm>
          <a:prstGeom prst="roundRect">
            <a:avLst>
              <a:gd name="adj" fmla="val 1739"/>
            </a:avLst>
          </a:prstGeom>
          <a:solidFill>
            <a:srgbClr val="0B2545"/>
          </a:solidFill>
          <a:ln/>
          <a:effectLst>
            <a:outerShdw sx="100000" sy="100000" kx="0" ky="0" algn="bl" rotWithShape="0" blurRad="76200" dist="25400" dir="5400000">
              <a:srgbClr val="9AA5B1">
                <a:alpha val="25000"/>
              </a:srgbClr>
            </a:outerShdw>
          </a:effectLst>
        </p:spPr>
        <p:txBody>
          <a:bodyPr/>
          <a:p/>
        </p:txBody>
      </p:sp>
      <p:sp>
        <p:nvSpPr>
          <p:cNvPr id="18" name="Text 16"/>
          <p:cNvSpPr/>
          <p:nvPr/>
        </p:nvSpPr>
        <p:spPr>
          <a:xfrm>
            <a:off x="6858000" y="1920240"/>
            <a:ext cx="4526280" cy="274320"/>
          </a:xfrm>
          <a:prstGeom prst="rect">
            <a:avLst/>
          </a:prstGeom>
          <a:noFill/>
          <a:ln/>
        </p:spPr>
        <p:txBody>
          <a:bodyPr wrap="square" rtlCol="0" anchor="ctr"/>
          <a:lstStyle/>
          <a:p>
            <a:pPr indent="0" marL="0">
              <a:buNone/>
            </a:pPr>
            <a:r>
              <a:rPr lang="en-US" sz="1200" b="1" spc="200" kern="0" dirty="0">
                <a:solidFill>
                  <a:srgbClr val="F4A527"/>
                </a:solidFill>
                <a:latin typeface="Calibri" pitchFamily="34" charset="0"/>
                <a:ea typeface="Calibri" pitchFamily="34" charset="-122"/>
                <a:cs typeface="Calibri" pitchFamily="34" charset="-120"/>
              </a:rPr>
              <a:t>CURRENT SYSTEM LIMITATIONS</a:t>
            </a:r>
            <a:endParaRPr lang="en-US" sz="1200" dirty="0"/>
          </a:p>
        </p:txBody>
      </p:sp>
      <p:sp>
        <p:nvSpPr>
          <p:cNvPr id="19" name="Text 17"/>
          <p:cNvSpPr/>
          <p:nvPr/>
        </p:nvSpPr>
        <p:spPr>
          <a:xfrm>
            <a:off x="6858000" y="2286000"/>
            <a:ext cx="452628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Simulated Environment</a:t>
            </a:r>
            <a:endParaRPr lang="en-US" sz="1350" dirty="0"/>
          </a:p>
        </p:txBody>
      </p:sp>
      <p:sp>
        <p:nvSpPr>
          <p:cNvPr id="20" name="Text 18"/>
          <p:cNvSpPr/>
          <p:nvPr/>
        </p:nvSpPr>
        <p:spPr>
          <a:xfrm>
            <a:off x="6858000" y="2633472"/>
            <a:ext cx="4526280" cy="822960"/>
          </a:xfrm>
          <a:prstGeom prst="rect">
            <a:avLst/>
          </a:prstGeom>
          <a:noFill/>
          <a:ln/>
        </p:spPr>
        <p:txBody>
          <a:bodyPr wrap="square" rtlCol="0" anchor="ctr"/>
          <a:lstStyle/>
          <a:p>
            <a:pPr indent="0" marL="0">
              <a:buNone/>
            </a:pPr>
            <a:r>
              <a:rPr lang="en-US" sz="1150" dirty="0">
                <a:solidFill>
                  <a:srgbClr val="C9D6E3"/>
                </a:solidFill>
                <a:latin typeface="Calibri" pitchFamily="34" charset="0"/>
                <a:ea typeface="Calibri" pitchFamily="34" charset="-122"/>
                <a:cs typeface="Calibri" pitchFamily="34" charset="-120"/>
              </a:rPr>
              <a:t>Real-world historical breakdown data from the ASTRA plant is still scarce, so the models are currently trained on simulated/transfer learning from public datasets (Paderborn, IMS, CMAPSS).</a:t>
            </a:r>
            <a:endParaRPr lang="en-US" sz="1150" dirty="0"/>
          </a:p>
        </p:txBody>
      </p:sp>
      <p:sp>
        <p:nvSpPr>
          <p:cNvPr id="21" name="Shape 19"/>
          <p:cNvSpPr/>
          <p:nvPr/>
        </p:nvSpPr>
        <p:spPr>
          <a:xfrm>
            <a:off x="6858000" y="3566160"/>
            <a:ext cx="4526280" cy="0"/>
          </a:xfrm>
          <a:prstGeom prst="line">
            <a:avLst/>
          </a:prstGeom>
          <a:noFill/>
          <a:ln w="12700">
            <a:solidFill>
              <a:srgbClr val="2C4A73"/>
            </a:solidFill>
            <a:prstDash val="solid"/>
          </a:ln>
        </p:spPr>
        <p:txBody>
          <a:bodyPr/>
          <a:p/>
        </p:txBody>
      </p:sp>
      <p:sp>
        <p:nvSpPr>
          <p:cNvPr id="22" name="Text 20"/>
          <p:cNvSpPr/>
          <p:nvPr/>
        </p:nvSpPr>
        <p:spPr>
          <a:xfrm>
            <a:off x="6858000" y="3703320"/>
            <a:ext cx="452628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Threshold Calibration</a:t>
            </a:r>
            <a:endParaRPr lang="en-US" sz="1350" dirty="0"/>
          </a:p>
        </p:txBody>
      </p:sp>
      <p:sp>
        <p:nvSpPr>
          <p:cNvPr id="23" name="Text 21"/>
          <p:cNvSpPr/>
          <p:nvPr/>
        </p:nvSpPr>
        <p:spPr>
          <a:xfrm>
            <a:off x="6858000" y="4050792"/>
            <a:ext cx="4526280" cy="822960"/>
          </a:xfrm>
          <a:prstGeom prst="rect">
            <a:avLst/>
          </a:prstGeom>
          <a:noFill/>
          <a:ln/>
        </p:spPr>
        <p:txBody>
          <a:bodyPr wrap="square" rtlCol="0" anchor="ctr"/>
          <a:lstStyle/>
          <a:p>
            <a:pPr indent="0" marL="0">
              <a:buNone/>
            </a:pPr>
            <a:r>
              <a:rPr lang="en-US" sz="1150" dirty="0">
                <a:solidFill>
                  <a:srgbClr val="C9D6E3"/>
                </a:solidFill>
                <a:latin typeface="Calibri" pitchFamily="34" charset="0"/>
                <a:ea typeface="Calibri" pitchFamily="34" charset="-122"/>
                <a:cs typeface="Calibri" pitchFamily="34" charset="-120"/>
              </a:rPr>
              <a:t>Current anomaly thresholds use standard statistical parameters, whereas each motor has a unique baseline vibration signature in the field.</a:t>
            </a:r>
            <a:endParaRPr lang="en-US" sz="1150" dirty="0"/>
          </a:p>
        </p:txBody>
      </p:sp>
      <p:sp>
        <p:nvSpPr>
          <p:cNvPr id="24" name="Text 22"/>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22</a:t>
            </a:r>
            <a:endParaRPr lang="en-US" sz="1000" dirty="0"/>
          </a:p>
        </p:txBody>
      </p:sp>
      <p:sp>
        <p:nvSpPr>
          <p:cNvPr id="25" name="Text 23"/>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indent="0" marL="0">
              <a:buNone/>
            </a:pPr>
            <a:r>
              <a:rPr lang="en-US" sz="1200" b="1" spc="200" kern="0" dirty="0">
                <a:solidFill>
                  <a:srgbClr val="00B4A6"/>
                </a:solidFill>
                <a:latin typeface="Calibri" pitchFamily="34" charset="0"/>
                <a:ea typeface="Calibri" pitchFamily="34" charset="-122"/>
                <a:cs typeface="Calibri" pitchFamily="34" charset="-120"/>
              </a:rPr>
              <a:t>10 · CLOSING</a:t>
            </a:r>
            <a:endParaRPr lang="en-US" sz="1200" dirty="0"/>
          </a:p>
        </p:txBody>
      </p:sp>
      <p:sp>
        <p:nvSpPr>
          <p:cNvPr id="3" name="Text 1"/>
          <p:cNvSpPr/>
          <p:nvPr/>
        </p:nvSpPr>
        <p:spPr>
          <a:xfrm>
            <a:off x="502920" y="658368"/>
            <a:ext cx="10607040" cy="685800"/>
          </a:xfrm>
          <a:prstGeom prst="rect">
            <a:avLst/>
          </a:prstGeom>
          <a:noFill/>
          <a:ln/>
        </p:spPr>
        <p:txBody>
          <a:bodyPr wrap="square" rtlCol="0" anchor="ctr"/>
          <a:lstStyle/>
          <a:p>
            <a:pPr indent="0" marL="0">
              <a:buNone/>
            </a:pPr>
            <a:r>
              <a:rPr lang="en-US" sz="2900" b="1" dirty="0">
                <a:solidFill>
                  <a:srgbClr val="0B2545"/>
                </a:solidFill>
                <a:latin typeface="Cambria" pitchFamily="34" charset="0"/>
                <a:ea typeface="Cambria" pitchFamily="34" charset="-122"/>
                <a:cs typeface="Cambria" pitchFamily="34" charset="-120"/>
              </a:rPr>
              <a:t>Next Steps — Action Plan Roadmap</a:t>
            </a:r>
            <a:endParaRPr lang="en-US" sz="2900" dirty="0"/>
          </a:p>
        </p:txBody>
      </p:sp>
      <p:sp>
        <p:nvSpPr>
          <p:cNvPr id="4" name="Shape 2"/>
          <p:cNvSpPr/>
          <p:nvPr/>
        </p:nvSpPr>
        <p:spPr>
          <a:xfrm>
            <a:off x="1234440" y="2788920"/>
            <a:ext cx="9692640" cy="0"/>
          </a:xfrm>
          <a:prstGeom prst="line">
            <a:avLst/>
          </a:prstGeom>
          <a:noFill/>
          <a:ln w="38100">
            <a:solidFill>
              <a:srgbClr val="D5DCE3"/>
            </a:solidFill>
            <a:prstDash val="solid"/>
          </a:ln>
        </p:spPr>
        <p:txBody>
          <a:bodyPr/>
          <a:p/>
        </p:txBody>
      </p:sp>
      <p:sp>
        <p:nvSpPr>
          <p:cNvPr id="5" name="Shape 3"/>
          <p:cNvSpPr/>
          <p:nvPr/>
        </p:nvSpPr>
        <p:spPr>
          <a:xfrm>
            <a:off x="1920240" y="2514600"/>
            <a:ext cx="548640" cy="548640"/>
          </a:xfrm>
          <a:prstGeom prst="ellipse">
            <a:avLst/>
          </a:prstGeom>
          <a:solidFill>
            <a:srgbClr val="00B4A6"/>
          </a:solidFill>
          <a:ln/>
        </p:spPr>
        <p:txBody>
          <a:bodyPr/>
          <a:p/>
        </p:txBody>
      </p:sp>
      <p:sp>
        <p:nvSpPr>
          <p:cNvPr id="6" name="Text 4"/>
          <p:cNvSpPr/>
          <p:nvPr/>
        </p:nvSpPr>
        <p:spPr>
          <a:xfrm>
            <a:off x="1920240" y="249631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Shape 5"/>
          <p:cNvSpPr/>
          <p:nvPr/>
        </p:nvSpPr>
        <p:spPr>
          <a:xfrm>
            <a:off x="502920" y="3246120"/>
            <a:ext cx="3383280" cy="2377440"/>
          </a:xfrm>
          <a:prstGeom prst="roundRect">
            <a:avLst>
              <a:gd name="adj" fmla="val 3077"/>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8" name="Text 6"/>
          <p:cNvSpPr/>
          <p:nvPr/>
        </p:nvSpPr>
        <p:spPr>
          <a:xfrm>
            <a:off x="731520" y="3401568"/>
            <a:ext cx="2926080" cy="274320"/>
          </a:xfrm>
          <a:prstGeom prst="rect">
            <a:avLst/>
          </a:prstGeom>
          <a:noFill/>
          <a:ln/>
        </p:spPr>
        <p:txBody>
          <a:bodyPr wrap="square" rtlCol="0" anchor="ctr"/>
          <a:lstStyle/>
          <a:p>
            <a:pPr indent="0" marL="0">
              <a:buNone/>
            </a:pPr>
            <a:r>
              <a:rPr lang="en-US" sz="1100" b="1" spc="100" kern="0" dirty="0">
                <a:solidFill>
                  <a:srgbClr val="00B4A6"/>
                </a:solidFill>
                <a:latin typeface="Calibri" pitchFamily="34" charset="0"/>
                <a:ea typeface="Calibri" pitchFamily="34" charset="-122"/>
                <a:cs typeface="Calibri" pitchFamily="34" charset="-120"/>
              </a:rPr>
              <a:t>Months 1–2</a:t>
            </a:r>
            <a:endParaRPr lang="en-US" sz="1100" dirty="0"/>
          </a:p>
        </p:txBody>
      </p:sp>
      <p:sp>
        <p:nvSpPr>
          <p:cNvPr id="9" name="Text 7"/>
          <p:cNvSpPr/>
          <p:nvPr/>
        </p:nvSpPr>
        <p:spPr>
          <a:xfrm>
            <a:off x="731520" y="3657600"/>
            <a:ext cx="2926080" cy="59436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Real-world Baseline Data Collection</a:t>
            </a:r>
            <a:endParaRPr lang="en-US" sz="1450" dirty="0"/>
          </a:p>
        </p:txBody>
      </p:sp>
      <p:sp>
        <p:nvSpPr>
          <p:cNvPr id="10" name="Text 8"/>
          <p:cNvSpPr/>
          <p:nvPr/>
        </p:nvSpPr>
        <p:spPr>
          <a:xfrm>
            <a:off x="731520" y="4251960"/>
            <a:ext cx="2926080" cy="12801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Install sensors on active ASTRA motors &amp; record normal operating data for 1 month for baseline vibration/thermal profiles.</a:t>
            </a:r>
            <a:endParaRPr lang="en-US" sz="1100" dirty="0"/>
          </a:p>
        </p:txBody>
      </p:sp>
      <p:sp>
        <p:nvSpPr>
          <p:cNvPr id="11" name="Shape 9"/>
          <p:cNvSpPr/>
          <p:nvPr/>
        </p:nvSpPr>
        <p:spPr>
          <a:xfrm>
            <a:off x="5623560" y="2514600"/>
            <a:ext cx="548640" cy="548640"/>
          </a:xfrm>
          <a:prstGeom prst="ellipse">
            <a:avLst/>
          </a:prstGeom>
          <a:solidFill>
            <a:srgbClr val="00B4A6"/>
          </a:solidFill>
          <a:ln/>
        </p:spPr>
        <p:txBody>
          <a:bodyPr/>
          <a:p/>
        </p:txBody>
      </p:sp>
      <p:sp>
        <p:nvSpPr>
          <p:cNvPr id="12" name="Text 10"/>
          <p:cNvSpPr/>
          <p:nvPr/>
        </p:nvSpPr>
        <p:spPr>
          <a:xfrm>
            <a:off x="5623560" y="249631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Shape 11"/>
          <p:cNvSpPr/>
          <p:nvPr/>
        </p:nvSpPr>
        <p:spPr>
          <a:xfrm>
            <a:off x="4206240" y="3246120"/>
            <a:ext cx="3383280" cy="2377440"/>
          </a:xfrm>
          <a:prstGeom prst="roundRect">
            <a:avLst>
              <a:gd name="adj" fmla="val 3077"/>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14" name="Text 12"/>
          <p:cNvSpPr/>
          <p:nvPr/>
        </p:nvSpPr>
        <p:spPr>
          <a:xfrm>
            <a:off x="4434840" y="3401568"/>
            <a:ext cx="2926080" cy="274320"/>
          </a:xfrm>
          <a:prstGeom prst="rect">
            <a:avLst/>
          </a:prstGeom>
          <a:noFill/>
          <a:ln/>
        </p:spPr>
        <p:txBody>
          <a:bodyPr wrap="square" rtlCol="0" anchor="ctr"/>
          <a:lstStyle/>
          <a:p>
            <a:pPr indent="0" marL="0">
              <a:buNone/>
            </a:pPr>
            <a:r>
              <a:rPr lang="en-US" sz="1100" b="1" spc="100" kern="0" dirty="0">
                <a:solidFill>
                  <a:srgbClr val="00B4A6"/>
                </a:solidFill>
                <a:latin typeface="Calibri" pitchFamily="34" charset="0"/>
                <a:ea typeface="Calibri" pitchFamily="34" charset="-122"/>
                <a:cs typeface="Calibri" pitchFamily="34" charset="-120"/>
              </a:rPr>
              <a:t>Month 3</a:t>
            </a:r>
            <a:endParaRPr lang="en-US" sz="1100" dirty="0"/>
          </a:p>
        </p:txBody>
      </p:sp>
      <p:sp>
        <p:nvSpPr>
          <p:cNvPr id="15" name="Text 13"/>
          <p:cNvSpPr/>
          <p:nvPr/>
        </p:nvSpPr>
        <p:spPr>
          <a:xfrm>
            <a:off x="4434840" y="3657600"/>
            <a:ext cx="2926080" cy="59436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Model &amp; Threshold Re-calibration</a:t>
            </a:r>
            <a:endParaRPr lang="en-US" sz="1450" dirty="0"/>
          </a:p>
        </p:txBody>
      </p:sp>
      <p:sp>
        <p:nvSpPr>
          <p:cNvPr id="16" name="Text 14"/>
          <p:cNvSpPr/>
          <p:nvPr/>
        </p:nvSpPr>
        <p:spPr>
          <a:xfrm>
            <a:off x="4434840" y="4251960"/>
            <a:ext cx="2926080" cy="12801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Fine-tune the LSTM Autoencoder with normal ASTRA data, adjusting anomaly thresholds per machine unit.</a:t>
            </a:r>
            <a:endParaRPr lang="en-US" sz="1100" dirty="0"/>
          </a:p>
        </p:txBody>
      </p:sp>
      <p:sp>
        <p:nvSpPr>
          <p:cNvPr id="17" name="Shape 15"/>
          <p:cNvSpPr/>
          <p:nvPr/>
        </p:nvSpPr>
        <p:spPr>
          <a:xfrm>
            <a:off x="9326880" y="2514600"/>
            <a:ext cx="548640" cy="548640"/>
          </a:xfrm>
          <a:prstGeom prst="ellipse">
            <a:avLst/>
          </a:prstGeom>
          <a:solidFill>
            <a:srgbClr val="00B4A6"/>
          </a:solidFill>
          <a:ln/>
        </p:spPr>
        <p:txBody>
          <a:bodyPr/>
          <a:p/>
        </p:txBody>
      </p:sp>
      <p:sp>
        <p:nvSpPr>
          <p:cNvPr id="18" name="Text 16"/>
          <p:cNvSpPr/>
          <p:nvPr/>
        </p:nvSpPr>
        <p:spPr>
          <a:xfrm>
            <a:off x="9326880" y="2496312"/>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Shape 17"/>
          <p:cNvSpPr/>
          <p:nvPr/>
        </p:nvSpPr>
        <p:spPr>
          <a:xfrm>
            <a:off x="7909560" y="3246120"/>
            <a:ext cx="3383280" cy="2377440"/>
          </a:xfrm>
          <a:prstGeom prst="roundRect">
            <a:avLst>
              <a:gd name="adj" fmla="val 3077"/>
            </a:avLst>
          </a:prstGeom>
          <a:solidFill>
            <a:srgbClr val="F4F7FA"/>
          </a:solidFill>
          <a:ln/>
          <a:effectLst>
            <a:outerShdw sx="100000" sy="100000" kx="0" ky="0" algn="bl" rotWithShape="0" blurRad="76200" dist="25400" dir="5400000">
              <a:srgbClr val="9AA5B1">
                <a:alpha val="25000"/>
              </a:srgbClr>
            </a:outerShdw>
          </a:effectLst>
        </p:spPr>
        <p:txBody>
          <a:bodyPr/>
          <a:p/>
        </p:txBody>
      </p:sp>
      <p:sp>
        <p:nvSpPr>
          <p:cNvPr id="20" name="Text 18"/>
          <p:cNvSpPr/>
          <p:nvPr/>
        </p:nvSpPr>
        <p:spPr>
          <a:xfrm>
            <a:off x="8138160" y="3401568"/>
            <a:ext cx="2926080" cy="274320"/>
          </a:xfrm>
          <a:prstGeom prst="rect">
            <a:avLst/>
          </a:prstGeom>
          <a:noFill/>
          <a:ln/>
        </p:spPr>
        <p:txBody>
          <a:bodyPr wrap="square" rtlCol="0" anchor="ctr"/>
          <a:lstStyle/>
          <a:p>
            <a:pPr indent="0" marL="0">
              <a:buNone/>
            </a:pPr>
            <a:r>
              <a:rPr lang="en-US" sz="1100" b="1" spc="100" kern="0" dirty="0">
                <a:solidFill>
                  <a:srgbClr val="00B4A6"/>
                </a:solidFill>
                <a:latin typeface="Calibri" pitchFamily="34" charset="0"/>
                <a:ea typeface="Calibri" pitchFamily="34" charset="-122"/>
                <a:cs typeface="Calibri" pitchFamily="34" charset="-120"/>
              </a:rPr>
              <a:t>Months 4–6</a:t>
            </a:r>
            <a:endParaRPr lang="en-US" sz="1100" dirty="0"/>
          </a:p>
        </p:txBody>
      </p:sp>
      <p:sp>
        <p:nvSpPr>
          <p:cNvPr id="21" name="Text 19"/>
          <p:cNvSpPr/>
          <p:nvPr/>
        </p:nvSpPr>
        <p:spPr>
          <a:xfrm>
            <a:off x="8138160" y="3657600"/>
            <a:ext cx="2926080" cy="594360"/>
          </a:xfrm>
          <a:prstGeom prst="rect">
            <a:avLst/>
          </a:prstGeom>
          <a:noFill/>
          <a:ln/>
        </p:spPr>
        <p:txBody>
          <a:bodyPr wrap="square"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Internal CMMS / ERP Integration</a:t>
            </a:r>
            <a:endParaRPr lang="en-US" sz="1450" dirty="0"/>
          </a:p>
        </p:txBody>
      </p:sp>
      <p:sp>
        <p:nvSpPr>
          <p:cNvPr id="22" name="Text 20"/>
          <p:cNvSpPr/>
          <p:nvPr/>
        </p:nvSpPr>
        <p:spPr>
          <a:xfrm>
            <a:off x="8138160" y="4251960"/>
            <a:ext cx="2926080" cy="12801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Connect the PredictaGuard API to the warehouse logistics system to automate spare parts ordering when RUL is critical.</a:t>
            </a:r>
            <a:endParaRPr lang="en-US" sz="1100" dirty="0"/>
          </a:p>
        </p:txBody>
      </p:sp>
      <p:sp>
        <p:nvSpPr>
          <p:cNvPr id="23" name="Text 21"/>
          <p:cNvSpPr/>
          <p:nvPr/>
        </p:nvSpPr>
        <p:spPr>
          <a:xfrm>
            <a:off x="11368735" y="6473952"/>
            <a:ext cx="457200" cy="274320"/>
          </a:xfrm>
          <a:prstGeom prst="rect">
            <a:avLst/>
          </a:prstGeom>
          <a:noFill/>
          <a:ln/>
        </p:spPr>
        <p:txBody>
          <a:bodyPr wrap="square" rtlCol="0" anchor="ctr"/>
          <a:lstStyle/>
          <a:p>
            <a:pPr algn="r" indent="0" marL="0">
              <a:buNone/>
            </a:pPr>
            <a:r>
              <a:rPr lang="en-US" sz="1000" dirty="0">
                <a:solidFill>
                  <a:srgbClr val="5C6773"/>
                </a:solidFill>
                <a:latin typeface="Calibri" pitchFamily="34" charset="0"/>
                <a:ea typeface="Calibri" pitchFamily="34" charset="-122"/>
                <a:cs typeface="Calibri" pitchFamily="34" charset="-120"/>
              </a:rPr>
              <a:t>23</a:t>
            </a:r>
            <a:endParaRPr lang="en-US" sz="1000" dirty="0"/>
          </a:p>
        </p:txBody>
      </p:sp>
      <p:sp>
        <p:nvSpPr>
          <p:cNvPr id="24" name="Text 22"/>
          <p:cNvSpPr/>
          <p:nvPr/>
        </p:nvSpPr>
        <p:spPr>
          <a:xfrm>
            <a:off x="502920" y="6473952"/>
            <a:ext cx="36576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PredictaGuard · Project ASTRA</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463040" y="-1463040"/>
            <a:ext cx="4023360" cy="4023360"/>
          </a:xfrm>
          <a:prstGeom prst="ellipse">
            <a:avLst/>
          </a:prstGeom>
          <a:solidFill>
            <a:srgbClr val="13315C"/>
          </a:solidFill>
          <a:ln/>
        </p:spPr>
        <p:txBody>
          <a:bodyPr/>
          <a:p/>
        </p:txBody>
      </p:sp>
      <p:sp>
        <p:nvSpPr>
          <p:cNvPr id="3" name="Shape 1"/>
          <p:cNvSpPr/>
          <p:nvPr/>
        </p:nvSpPr>
        <p:spPr>
          <a:xfrm>
            <a:off x="10607040" y="4754880"/>
            <a:ext cx="3291840" cy="3291840"/>
          </a:xfrm>
          <a:prstGeom prst="ellipse">
            <a:avLst/>
          </a:prstGeom>
          <a:solidFill>
            <a:srgbClr val="00B4A6"/>
          </a:solidFill>
          <a:ln/>
        </p:spPr>
        <p:txBody>
          <a:bodyPr/>
          <a:p/>
        </p:txBody>
      </p:sp>
      <p:sp>
        <p:nvSpPr>
          <p:cNvPr id="4" name="Text 2"/>
          <p:cNvSpPr/>
          <p:nvPr/>
        </p:nvSpPr>
        <p:spPr>
          <a:xfrm>
            <a:off x="822960" y="2468880"/>
            <a:ext cx="9144000" cy="91440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Shape 3"/>
          <p:cNvSpPr/>
          <p:nvPr/>
        </p:nvSpPr>
        <p:spPr>
          <a:xfrm>
            <a:off x="868680" y="3337560"/>
            <a:ext cx="1188720" cy="0"/>
          </a:xfrm>
          <a:prstGeom prst="line">
            <a:avLst/>
          </a:prstGeom>
          <a:noFill/>
          <a:ln w="38100">
            <a:solidFill>
              <a:srgbClr val="00B4A6"/>
            </a:solidFill>
            <a:prstDash val="solid"/>
          </a:ln>
        </p:spPr>
        <p:txBody>
          <a:bodyPr/>
          <a:p/>
        </p:txBody>
      </p:sp>
      <p:sp>
        <p:nvSpPr>
          <p:cNvPr id="6" name="Text 4"/>
          <p:cNvSpPr/>
          <p:nvPr/>
        </p:nvSpPr>
        <p:spPr>
          <a:xfrm>
            <a:off x="822960" y="3520440"/>
            <a:ext cx="9144000" cy="457200"/>
          </a:xfrm>
          <a:prstGeom prst="rect">
            <a:avLst/>
          </a:prstGeom>
          <a:noFill/>
          <a:ln/>
        </p:spPr>
        <p:txBody>
          <a:bodyPr wrap="square" rtlCol="0" anchor="ctr"/>
          <a:lstStyle/>
          <a:p>
            <a:pPr indent="0" marL="0">
              <a:buNone/>
            </a:pPr>
            <a:r>
              <a:rPr lang="en-US" sz="1500" i="1" dirty="0">
                <a:solidFill>
                  <a:srgbClr val="C9D6E3"/>
                </a:solidFill>
                <a:latin typeface="Calibri" pitchFamily="34" charset="0"/>
                <a:ea typeface="Calibri" pitchFamily="34" charset="-122"/>
                <a:cs typeface="Calibri" pitchFamily="34" charset="-120"/>
              </a:rPr>
              <a:t>PredictaGuard — Turning Reactive Maintenance into Resilient Operations.</a:t>
            </a:r>
            <a:endParaRPr lang="en-US" sz="1500" dirty="0"/>
          </a:p>
        </p:txBody>
      </p:sp>
      <p:sp>
        <p:nvSpPr>
          <p:cNvPr id="7" name="Text 5"/>
          <p:cNvSpPr/>
          <p:nvPr/>
        </p:nvSpPr>
        <p:spPr>
          <a:xfrm>
            <a:off x="822960" y="6126480"/>
            <a:ext cx="7315200" cy="320040"/>
          </a:xfrm>
          <a:prstGeom prst="rect">
            <a:avLst/>
          </a:prstGeom>
          <a:noFill/>
          <a:ln/>
        </p:spPr>
        <p:txBody>
          <a:bodyPr wrap="square" rtlCol="0" anchor="ctr"/>
          <a:lstStyle/>
          <a:p>
            <a:pPr indent="0" marL="0">
              <a:buNone/>
            </a:pPr>
            <a:r>
              <a:rPr lang="en-US" sz="1100" dirty="0">
                <a:solidFill>
                  <a:srgbClr val="7C8FA6"/>
                </a:solidFill>
                <a:latin typeface="Calibri" pitchFamily="34" charset="0"/>
                <a:ea typeface="Calibri" pitchFamily="34" charset="-122"/>
                <a:cs typeface="Calibri" pitchFamily="34" charset="-120"/>
              </a:rPr>
              <a:t>Project ASTRA · Predictive Maintenance System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PredictaGuard — Predictive Maintenance for Project ASTRA</dc:title>
  <dc:subject>PptxGenJS Presentation</dc:subject>
  <dc:creator>PredictaGuard</dc:creator>
  <cp:lastModifiedBy>PredictaGuard</cp:lastModifiedBy>
  <cp:revision>1</cp:revision>
  <dcterms:created xsi:type="dcterms:W3CDTF">2026-07-27T20:17:22Z</dcterms:created>
  <dcterms:modified xsi:type="dcterms:W3CDTF">2026-07-27T20:17:22Z</dcterms:modified>
</cp:coreProperties>
</file>