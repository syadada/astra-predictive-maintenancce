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Selamat pagi jajaran manajemen ASTRA Industrial Operations. Hari ini tim Solution Architect kami mempresentasikan MaintenX - platform Predictive Maintenance berbasis AI yang dirancang untuk mendeteksi keausan komponen secara real-time sebelum terjadi kerusakan fatal.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Project ini dibuat karena unplanned downtime pada motor induksi pabrik sangat mahal. Masalah utamanya adalah kegagalan mekanis yang mendadak. Solusi MaintenX menghasilkan rekomendasi maintenance otomatis beserta estimasi sisa umur komponen (RUL).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Saat ini pada tahap PoC Baseline, kami belum terhubung langsung ke sensor dan database Astra, melainkan menggunakan dataset industri terbuka sebagai baseline. Ketika nantinya diimplementasikan ke Astra, arsitektur pipeline AI tetap sama - hanya sumber datanya yang beralih ke sensor Astra.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Kami menggunakan empat dataset publik yaitu Paderborn, CWRU, NASA IMS, dan NASA CMAPSS. Mengapa empat? Karena tidak ada satu dataset tunggal yang memenuhi seluruh kebutuhan predictive maintenance secara lengkap.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Paderborn Dataset berfokus pada motor induksi 1.5 kW. Kami mengesktrak 25 fitur sinyal domain waktu dan frekuensi untuk klasifikasi jenis kerusakan awal.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CWRU Dataset berfokus pada keretakan spesifik bearing (Ball, Inner Race, Outer Race). Data ini digabungkan dengan Paderborn untuk memperkuat akurasi diagnosis 10 kelas spesifik.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NASA IMS adalah dataset run-to-failure selama 35 hari berturut-turut hingga bearing rusak total. Kami memanfaatkannya untuk memodelkan Kurva Degradasi dan Health Index (0-100%).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NASA CMAPSS digunakan khusus untuk estimasi Remaining Useful Life (RUL). Karena seluruh dataset memiliki struktur berbeda, kami melakukan Dataset Harmonization dengan memetakan semuanya ke satu tabel standar raw_sensor_data.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Ini adalah Entity Relationship Diagram (ERD). Data mentah mengalir dari raw_sensor_data, dibersihkan ke clean_sensor_data, diekstrak menjadi feature_dataset, lalu diprediksi oleh AI dan disimpan di alerts_history.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General System Flow bekerja melalui 3 pipeline utama: Ingestion Stream, Cleaning Engine yang berjalan setiap 30 detik (Pandas &amp; SQLAlchemy), serta Feature Engineering &amp; AI Model Scheduler yang berjalan setiap 5 menit.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Terdapat tiga model AI yang bekerja secara berurutan (Cascade Multi-Stage AI Pipeline): Model A1 untuk Anomaly Detection, Model A2 untuk Fault Classification, dan Model B untuk RUL Estimation.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Model A1 berfokus pada Anomaly Detection menggunakan Unsupervised LSTM Autoencoder / Random Forest dengan masukan 25 fitur fenomena fisik.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Model A2 berfokus pada Fault Classification untuk mengidentifikasi kategori spesifik kerusakan mekanis seperti Inner Race, Outer Race, maupun Roller.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Model B berfokus pada Remaining Useful Life (RUL) Prediction menggunakan Deep LSTM Regressor dengan Asymmetric Loss untuk memberikan penalti tinggi pada prediksi keterlambatan.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Decision Engine menerapkan 6 layer verifikasi: Business Rules, Persistence Check, Context Validation, False Alarm Suppression, Alert Cooldown, hingga eksekusi Notifikasi Email &amp; Dashboard.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Model dievaluasi secara ketat dengan akurasi 88.4%, F1 Score 0.882, pengurangan False Alarm hingga 94.2%, serta latensi inferensi ultra-cepat 12.5 ms.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Pada skenario live demo: Supervisor melihat Overview berstatus Warning -&gt; membuka Machine Monitoring -&gt; melihat sinyal getaran naik &amp; RUL 5 hari -&gt; membaca rekomendasi ganti bearing -&gt; sistem mengirim email otomatis ke tim maintenance.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SOLUTION ARCHITECT SPEAKER SCRIPT:</a:t>
            </a:r>
          </a:p>
          <a:p/>
          <a:p>
            <a:r>
              <a:t>Sekian presentasi arsitektur MaintenX untuk ASTRA. Kami membuka sesi tanya jawab untuk mendiskusikan rencana integrasi lebih lanjut. Terima kasih!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840480" y="1097280"/>
            <a:ext cx="4572000" cy="457200"/>
          </a:xfrm>
          <a:prstGeom prst="roundRect">
            <a:avLst/>
          </a:prstGeom>
          <a:solidFill>
            <a:srgbClr val="14532D"/>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2C55E"/>
                </a:solidFill>
              </a:defRPr>
            </a:pPr>
            <a:r>
              <a:t>PROPOSAL SOLUTION ARCHITECTURE FOR ASTRA</a:t>
            </a:r>
          </a:p>
        </p:txBody>
      </p:sp>
      <p:sp>
        <p:nvSpPr>
          <p:cNvPr id="4" name="TextBox 3"/>
          <p:cNvSpPr txBox="1"/>
          <p:nvPr/>
        </p:nvSpPr>
        <p:spPr>
          <a:xfrm>
            <a:off x="914400" y="1828800"/>
            <a:ext cx="10362895" cy="2286000"/>
          </a:xfrm>
          <a:prstGeom prst="rect">
            <a:avLst/>
          </a:prstGeom>
          <a:noFill/>
        </p:spPr>
        <p:txBody>
          <a:bodyPr wrap="none">
            <a:spAutoFit/>
          </a:bodyPr>
          <a:lstStyle/>
          <a:p>
            <a:pPr algn="ctr">
              <a:defRPr sz="6400" b="1">
                <a:solidFill>
                  <a:srgbClr val="FFFFFF"/>
                </a:solidFill>
              </a:defRPr>
            </a:pPr>
            <a:r>
              <a:t>MaintenX</a:t>
            </a:r>
          </a:p>
          <a:p>
            <a:pPr algn="ctr">
              <a:defRPr sz="2400" b="1">
                <a:solidFill>
                  <a:srgbClr val="22C55E"/>
                </a:solidFill>
              </a:defRPr>
            </a:pPr>
            <a:r>
              <a:t>AI-Powered Predictive Maintenance Platform</a:t>
            </a:r>
          </a:p>
          <a:p>
            <a:pPr algn="ctr">
              <a:defRPr sz="1300">
                <a:solidFill>
                  <a:srgbClr val="9CA3AF"/>
                </a:solidFill>
              </a:defRPr>
            </a:pPr>
            <a:r>
              <a:t>Multi-Stage Industrial Machine Learning Architecture for Real-Time Anomaly Detection, Fault Classification &amp; RUL Estimation</a:t>
            </a:r>
          </a:p>
        </p:txBody>
      </p:sp>
      <p:sp>
        <p:nvSpPr>
          <p:cNvPr id="5" name="Rounded Rectangle 4"/>
          <p:cNvSpPr/>
          <p:nvPr/>
        </p:nvSpPr>
        <p:spPr>
          <a:xfrm>
            <a:off x="2286000" y="4754880"/>
            <a:ext cx="3474720" cy="109728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22C55E"/>
                </a:solidFill>
              </a:defRPr>
            </a:pPr>
            <a:r>
              <a:t>TEAM ROLE</a:t>
            </a:r>
          </a:p>
          <a:p>
            <a:pPr>
              <a:defRPr sz="1300" b="1">
                <a:solidFill>
                  <a:srgbClr val="FFFFFF"/>
                </a:solidFill>
              </a:defRPr>
            </a:pPr>
            <a:r>
              <a:t>Solution Architecture &amp; AI Engineering</a:t>
            </a:r>
          </a:p>
        </p:txBody>
      </p:sp>
      <p:sp>
        <p:nvSpPr>
          <p:cNvPr id="6" name="Rounded Rectangle 5"/>
          <p:cNvSpPr/>
          <p:nvPr/>
        </p:nvSpPr>
        <p:spPr>
          <a:xfrm>
            <a:off x="6400800" y="4754880"/>
            <a:ext cx="3474720" cy="109728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900" b="1">
                <a:solidFill>
                  <a:srgbClr val="22C55E"/>
                </a:solidFill>
              </a:defRPr>
            </a:pPr>
            <a:r>
              <a:t>TARGET ENTERPRISE</a:t>
            </a:r>
          </a:p>
          <a:p>
            <a:pPr>
              <a:defRPr sz="1300" b="1">
                <a:solidFill>
                  <a:srgbClr val="FFFFFF"/>
                </a:solidFill>
              </a:defRPr>
            </a:pPr>
            <a:r>
              <a:t>ASTRA Industrial Operations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02</a:t>
            </a:r>
          </a:p>
        </p:txBody>
      </p:sp>
      <p:sp>
        <p:nvSpPr>
          <p:cNvPr id="4" name="TextBox 3"/>
          <p:cNvSpPr txBox="1"/>
          <p:nvPr/>
        </p:nvSpPr>
        <p:spPr>
          <a:xfrm>
            <a:off x="731520" y="640080"/>
            <a:ext cx="10058400" cy="731520"/>
          </a:xfrm>
          <a:prstGeom prst="rect">
            <a:avLst/>
          </a:prstGeom>
          <a:noFill/>
        </p:spPr>
        <p:txBody>
          <a:bodyPr wrap="none">
            <a:spAutoFit/>
          </a:bodyPr>
          <a:lstStyle/>
          <a:p>
            <a:pPr>
              <a:defRPr sz="2600" b="1">
                <a:solidFill>
                  <a:srgbClr val="FFFFFF"/>
                </a:solidFill>
              </a:defRPr>
            </a:pPr>
            <a:r>
              <a:t>Project Overview</a:t>
            </a:r>
          </a:p>
        </p:txBody>
      </p:sp>
      <p:sp>
        <p:nvSpPr>
          <p:cNvPr id="5" name="Rounded Rectangle 4"/>
          <p:cNvSpPr/>
          <p:nvPr/>
        </p:nvSpPr>
        <p:spPr>
          <a:xfrm>
            <a:off x="731520" y="1463040"/>
            <a:ext cx="3291840" cy="27432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3B82F6"/>
                </a:solidFill>
              </a:defRPr>
            </a:pPr>
            <a:r>
              <a:t>01</a:t>
            </a:r>
          </a:p>
          <a:p>
            <a:pPr>
              <a:defRPr sz="1600" b="1">
                <a:solidFill>
                  <a:srgbClr val="FFFFFF"/>
                </a:solidFill>
              </a:defRPr>
            </a:pPr>
            <a:r>
              <a:t>Objective</a:t>
            </a:r>
          </a:p>
          <a:p>
            <a:pPr>
              <a:defRPr sz="1100">
                <a:solidFill>
                  <a:srgbClr val="9CA3AF"/>
                </a:solidFill>
              </a:defRPr>
            </a:pPr>
            <a:r>
              <a:t>Membangun platform Predictive Maintenance berbasis AI terintegrasi untuk mendeteksi potensi kerusakan mesin sebelum terjadi downtime yang merugikan.</a:t>
            </a:r>
          </a:p>
        </p:txBody>
      </p:sp>
      <p:sp>
        <p:nvSpPr>
          <p:cNvPr id="6" name="Rounded Rectangle 5"/>
          <p:cNvSpPr/>
          <p:nvPr/>
        </p:nvSpPr>
        <p:spPr>
          <a:xfrm>
            <a:off x="4297680" y="1463040"/>
            <a:ext cx="3291840" cy="27432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59E0B"/>
                </a:solidFill>
              </a:defRPr>
            </a:pPr>
            <a:r>
              <a:t>02</a:t>
            </a:r>
          </a:p>
          <a:p>
            <a:pPr>
              <a:defRPr sz="1600" b="1">
                <a:solidFill>
                  <a:srgbClr val="FFFFFF"/>
                </a:solidFill>
              </a:defRPr>
            </a:pPr>
            <a:r>
              <a:t>Problem Statement</a:t>
            </a:r>
          </a:p>
          <a:p>
            <a:pPr>
              <a:defRPr sz="1100">
                <a:solidFill>
                  <a:srgbClr val="9CA3AF"/>
                </a:solidFill>
              </a:defRPr>
            </a:pPr>
            <a:r>
              <a:t>Unplanned downtime pada mesin industri mengakibatkan biaya perbaikan mahal, hilangnya kapasitas produksi, dan degradasi komponen tak terdeteksi.</a:t>
            </a:r>
          </a:p>
        </p:txBody>
      </p:sp>
      <p:sp>
        <p:nvSpPr>
          <p:cNvPr id="7" name="Rounded Rectangle 6"/>
          <p:cNvSpPr/>
          <p:nvPr/>
        </p:nvSpPr>
        <p:spPr>
          <a:xfrm>
            <a:off x="7863840" y="1463040"/>
            <a:ext cx="3291840" cy="27432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22C55E"/>
                </a:solidFill>
              </a:defRPr>
            </a:pPr>
            <a:r>
              <a:t>03</a:t>
            </a:r>
          </a:p>
          <a:p>
            <a:pPr>
              <a:defRPr sz="1600" b="1">
                <a:solidFill>
                  <a:srgbClr val="FFFFFF"/>
                </a:solidFill>
              </a:defRPr>
            </a:pPr>
            <a:r>
              <a:t>Expected Output</a:t>
            </a:r>
          </a:p>
          <a:p>
            <a:pPr>
              <a:defRPr sz="1100">
                <a:solidFill>
                  <a:srgbClr val="9CA3AF"/>
                </a:solidFill>
              </a:defRPr>
            </a:pPr>
            <a:r>
              <a:t>Rekomendasi tindakan maintenance yang presisi (Normal, Warning, Critical) beserta waktu sisa RUL dan pemicu notifikasi otomatis.</a:t>
            </a:r>
          </a:p>
        </p:txBody>
      </p:sp>
      <p:sp>
        <p:nvSpPr>
          <p:cNvPr id="8" name="Rounded Rectangle 7"/>
          <p:cNvSpPr/>
          <p:nvPr/>
        </p:nvSpPr>
        <p:spPr>
          <a:xfrm>
            <a:off x="731520" y="4480560"/>
            <a:ext cx="10424160" cy="1645920"/>
          </a:xfrm>
          <a:prstGeom prst="roundRect">
            <a:avLst/>
          </a:prstGeom>
          <a:solidFill>
            <a:srgbClr val="0F172A"/>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2C55E"/>
                </a:solidFill>
              </a:defRPr>
            </a:pPr>
            <a:r>
              <a:t>ARCHITECTURE CONCEPT FLOW</a:t>
            </a:r>
          </a:p>
          <a:p>
            <a:pPr algn="ctr">
              <a:defRPr sz="1800" b="1">
                <a:solidFill>
                  <a:srgbClr val="FFFFFF"/>
                </a:solidFill>
              </a:defRPr>
            </a:pPr>
            <a:r>
              <a:t>Induction Motor   ➔   Sensor Data   ➔   AI Analysis   ➔   Maintenance Decision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03</a:t>
            </a:r>
          </a:p>
        </p:txBody>
      </p:sp>
      <p:sp>
        <p:nvSpPr>
          <p:cNvPr id="4" name="TextBox 3"/>
          <p:cNvSpPr txBox="1"/>
          <p:nvPr/>
        </p:nvSpPr>
        <p:spPr>
          <a:xfrm>
            <a:off x="731520" y="640080"/>
            <a:ext cx="10058400" cy="731520"/>
          </a:xfrm>
          <a:prstGeom prst="rect">
            <a:avLst/>
          </a:prstGeom>
          <a:noFill/>
        </p:spPr>
        <p:txBody>
          <a:bodyPr wrap="none">
            <a:spAutoFit/>
          </a:bodyPr>
          <a:lstStyle/>
          <a:p>
            <a:pPr>
              <a:defRPr sz="2600" b="1">
                <a:solidFill>
                  <a:srgbClr val="FFFFFF"/>
                </a:solidFill>
              </a:defRPr>
            </a:pPr>
            <a:r>
              <a:t>Project Limitation (PoC Baseline vs Future Astra)</a:t>
            </a:r>
          </a:p>
        </p:txBody>
      </p:sp>
      <p:graphicFrame>
        <p:nvGraphicFramePr>
          <p:cNvPr id="5" name="Table 4"/>
          <p:cNvGraphicFramePr>
            <a:graphicFrameLocks noGrp="1"/>
          </p:cNvGraphicFramePr>
          <p:nvPr/>
        </p:nvGraphicFramePr>
        <p:xfrm>
          <a:off x="731520" y="1463040"/>
          <a:ext cx="10424160" cy="3840480"/>
        </p:xfrm>
        <a:graphic>
          <a:graphicData uri="http://schemas.openxmlformats.org/drawingml/2006/table">
            <a:tbl>
              <a:tblPr firstRow="1" bandRow="1">
                <a:tableStyleId>{5C22544A-7EE6-4342-B048-85BDC9FD1C3A}</a:tableStyleId>
              </a:tblPr>
              <a:tblGrid>
                <a:gridCol w="2560320"/>
                <a:gridCol w="3931920"/>
                <a:gridCol w="3931920"/>
              </a:tblGrid>
              <a:tr h="768096">
                <a:tc>
                  <a:txBody>
                    <a:bodyPr/>
                    <a:lstStyle/>
                    <a:p>
                      <a:pPr>
                        <a:defRPr b="1" sz="1200">
                          <a:solidFill>
                            <a:srgbClr val="FFFFFF"/>
                          </a:solidFill>
                        </a:defRPr>
                      </a:pPr>
                      <a:r>
                        <a:t>Komponen Sistem</a:t>
                      </a:r>
                    </a:p>
                  </a:txBody>
                  <a:tcPr>
                    <a:solidFill>
                      <a:srgbClr val="111827"/>
                    </a:solidFill>
                  </a:tcPr>
                </a:tc>
                <a:tc>
                  <a:txBody>
                    <a:bodyPr/>
                    <a:lstStyle/>
                    <a:p>
                      <a:pPr>
                        <a:defRPr b="1" sz="1200">
                          <a:solidFill>
                            <a:srgbClr val="F59E0B"/>
                          </a:solidFill>
                        </a:defRPr>
                      </a:pPr>
                      <a:r>
                        <a:t>Current PoC (Baseline Prototype)</a:t>
                      </a:r>
                    </a:p>
                  </a:txBody>
                  <a:tcPr>
                    <a:solidFill>
                      <a:srgbClr val="111827"/>
                    </a:solidFill>
                  </a:tcPr>
                </a:tc>
                <a:tc>
                  <a:txBody>
                    <a:bodyPr/>
                    <a:lstStyle/>
                    <a:p>
                      <a:pPr>
                        <a:defRPr b="1" sz="1200">
                          <a:solidFill>
                            <a:srgbClr val="22C55E"/>
                          </a:solidFill>
                        </a:defRPr>
                      </a:pPr>
                      <a:r>
                        <a:t>Future Astra Integration</a:t>
                      </a:r>
                    </a:p>
                  </a:txBody>
                  <a:tcPr>
                    <a:solidFill>
                      <a:srgbClr val="111827"/>
                    </a:solidFill>
                  </a:tcPr>
                </a:tc>
              </a:tr>
              <a:tr h="768096">
                <a:tc>
                  <a:txBody>
                    <a:bodyPr/>
                    <a:lstStyle/>
                    <a:p>
                      <a:pPr>
                        <a:defRPr sz="1100">
                          <a:solidFill>
                            <a:srgbClr val="FFFFFF"/>
                          </a:solidFill>
                        </a:defRPr>
                      </a:pPr>
                      <a:r>
                        <a:t>Sensor Data Source</a:t>
                      </a:r>
                    </a:p>
                  </a:txBody>
                  <a:tcPr>
                    <a:solidFill>
                      <a:srgbClr val="111827"/>
                    </a:solidFill>
                  </a:tcPr>
                </a:tc>
                <a:tc>
                  <a:txBody>
                    <a:bodyPr/>
                    <a:lstStyle/>
                    <a:p>
                      <a:pPr>
                        <a:defRPr sz="1100">
                          <a:solidFill>
                            <a:srgbClr val="9CA3AF"/>
                          </a:solidFill>
                        </a:defRPr>
                      </a:pPr>
                      <a:r>
                        <a:t>Public Dataset Benchmark (Paderborn, CWRU, IMS, CMAPSS)</a:t>
                      </a:r>
                    </a:p>
                  </a:txBody>
                  <a:tcPr>
                    <a:solidFill>
                      <a:srgbClr val="111827"/>
                    </a:solidFill>
                  </a:tcPr>
                </a:tc>
                <a:tc>
                  <a:txBody>
                    <a:bodyPr/>
                    <a:lstStyle/>
                    <a:p>
                      <a:pPr>
                        <a:defRPr sz="1100">
                          <a:solidFill>
                            <a:srgbClr val="22C55E"/>
                          </a:solidFill>
                        </a:defRPr>
                      </a:pPr>
                      <a:r>
                        <a:t>Real IoT Vibration, Current &amp; Temp Sensors Astra</a:t>
                      </a:r>
                    </a:p>
                  </a:txBody>
                  <a:tcPr>
                    <a:solidFill>
                      <a:srgbClr val="111827"/>
                    </a:solidFill>
                  </a:tcPr>
                </a:tc>
              </a:tr>
              <a:tr h="768096">
                <a:tc>
                  <a:txBody>
                    <a:bodyPr/>
                    <a:lstStyle/>
                    <a:p>
                      <a:pPr>
                        <a:defRPr sz="1100">
                          <a:solidFill>
                            <a:srgbClr val="FFFFFF"/>
                          </a:solidFill>
                        </a:defRPr>
                      </a:pPr>
                      <a:r>
                        <a:t>Database System</a:t>
                      </a:r>
                    </a:p>
                  </a:txBody>
                  <a:tcPr>
                    <a:solidFill>
                      <a:srgbClr val="111827"/>
                    </a:solidFill>
                  </a:tcPr>
                </a:tc>
                <a:tc>
                  <a:txBody>
                    <a:bodyPr/>
                    <a:lstStyle/>
                    <a:p>
                      <a:pPr>
                        <a:defRPr sz="1100">
                          <a:solidFill>
                            <a:srgbClr val="9CA3AF"/>
                          </a:solidFill>
                        </a:defRPr>
                      </a:pPr>
                      <a:r>
                        <a:t>Simulated Relational In-Memory / Local PostgreSQL Storage</a:t>
                      </a:r>
                    </a:p>
                  </a:txBody>
                  <a:tcPr>
                    <a:solidFill>
                      <a:srgbClr val="111827"/>
                    </a:solidFill>
                  </a:tcPr>
                </a:tc>
                <a:tc>
                  <a:txBody>
                    <a:bodyPr/>
                    <a:lstStyle/>
                    <a:p>
                      <a:pPr>
                        <a:defRPr sz="1100">
                          <a:solidFill>
                            <a:srgbClr val="22C55E"/>
                          </a:solidFill>
                        </a:defRPr>
                      </a:pPr>
                      <a:r>
                        <a:t>Enterprise Astra Database &amp; Data Lake</a:t>
                      </a:r>
                    </a:p>
                  </a:txBody>
                  <a:tcPr>
                    <a:solidFill>
                      <a:srgbClr val="111827"/>
                    </a:solidFill>
                  </a:tcPr>
                </a:tc>
              </a:tr>
              <a:tr h="768096">
                <a:tc>
                  <a:txBody>
                    <a:bodyPr/>
                    <a:lstStyle/>
                    <a:p>
                      <a:pPr>
                        <a:defRPr sz="1100">
                          <a:solidFill>
                            <a:srgbClr val="FFFFFF"/>
                          </a:solidFill>
                        </a:defRPr>
                      </a:pPr>
                      <a:r>
                        <a:t>User Dashboard</a:t>
                      </a:r>
                    </a:p>
                  </a:txBody>
                  <a:tcPr>
                    <a:solidFill>
                      <a:srgbClr val="111827"/>
                    </a:solidFill>
                  </a:tcPr>
                </a:tc>
                <a:tc>
                  <a:txBody>
                    <a:bodyPr/>
                    <a:lstStyle/>
                    <a:p>
                      <a:pPr>
                        <a:defRPr sz="1100">
                          <a:solidFill>
                            <a:srgbClr val="9CA3AF"/>
                          </a:solidFill>
                        </a:defRPr>
                      </a:pPr>
                      <a:r>
                        <a:t>Prototype Web Dashboard (SPA with XAI Diagnostics)</a:t>
                      </a:r>
                    </a:p>
                  </a:txBody>
                  <a:tcPr>
                    <a:solidFill>
                      <a:srgbClr val="111827"/>
                    </a:solidFill>
                  </a:tcPr>
                </a:tc>
                <a:tc>
                  <a:txBody>
                    <a:bodyPr/>
                    <a:lstStyle/>
                    <a:p>
                      <a:pPr>
                        <a:defRPr sz="1100">
                          <a:solidFill>
                            <a:srgbClr val="22C55E"/>
                          </a:solidFill>
                        </a:defRPr>
                      </a:pPr>
                      <a:r>
                        <a:t>Production Enterprise Dashboard (Single Sign-On)</a:t>
                      </a:r>
                    </a:p>
                  </a:txBody>
                  <a:tcPr>
                    <a:solidFill>
                      <a:srgbClr val="111827"/>
                    </a:solidFill>
                  </a:tcPr>
                </a:tc>
              </a:tr>
              <a:tr h="768096">
                <a:tc>
                  <a:txBody>
                    <a:bodyPr/>
                    <a:lstStyle/>
                    <a:p>
                      <a:pPr>
                        <a:defRPr sz="1100">
                          <a:solidFill>
                            <a:srgbClr val="FFFFFF"/>
                          </a:solidFill>
                        </a:defRPr>
                      </a:pPr>
                      <a:r>
                        <a:t>Notification System</a:t>
                      </a:r>
                    </a:p>
                  </a:txBody>
                  <a:tcPr>
                    <a:solidFill>
                      <a:srgbClr val="111827"/>
                    </a:solidFill>
                  </a:tcPr>
                </a:tc>
                <a:tc>
                  <a:txBody>
                    <a:bodyPr/>
                    <a:lstStyle/>
                    <a:p>
                      <a:pPr>
                        <a:defRPr sz="1100">
                          <a:solidFill>
                            <a:srgbClr val="9CA3AF"/>
                          </a:solidFill>
                        </a:defRPr>
                      </a:pPr>
                      <a:r>
                        <a:t>Simulated SMTP Email &amp; In-App Toast Alert Engine</a:t>
                      </a:r>
                    </a:p>
                  </a:txBody>
                  <a:tcPr>
                    <a:solidFill>
                      <a:srgbClr val="111827"/>
                    </a:solidFill>
                  </a:tcPr>
                </a:tc>
                <a:tc>
                  <a:txBody>
                    <a:bodyPr/>
                    <a:lstStyle/>
                    <a:p>
                      <a:pPr>
                        <a:defRPr sz="1100">
                          <a:solidFill>
                            <a:srgbClr val="22C55E"/>
                          </a:solidFill>
                        </a:defRPr>
                      </a:pPr>
                      <a:r>
                        <a:t>Production Work Order CMMS &amp; Push Notification</a:t>
                      </a:r>
                    </a:p>
                  </a:txBody>
                  <a:tcPr>
                    <a:solidFill>
                      <a:srgbClr val="111827"/>
                    </a:solidFill>
                  </a:tcPr>
                </a:tc>
              </a:tr>
            </a:tbl>
          </a:graphicData>
        </a:graphic>
      </p:graphicFrame>
      <p:sp>
        <p:nvSpPr>
          <p:cNvPr id="6" name="Rounded Rectangle 5"/>
          <p:cNvSpPr/>
          <p:nvPr/>
        </p:nvSpPr>
        <p:spPr>
          <a:xfrm>
            <a:off x="731520" y="5486400"/>
            <a:ext cx="10424160" cy="822960"/>
          </a:xfrm>
          <a:prstGeom prst="roundRect">
            <a:avLst/>
          </a:prstGeom>
          <a:solidFill>
            <a:srgbClr val="0F172A"/>
          </a:solidFill>
          <a:ln>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3B82F6"/>
                </a:solidFill>
              </a:defRPr>
            </a:pPr>
            <a:r>
              <a:t>Arsitektur Modular: Saat transisi ke infrastruktur Astra kelak, seluruh pipeline AI, Cleaning Engine, dan Decision Engine tidak mengalami perubahan — hanya data source yang beralih ke sensor Astra.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04</a:t>
            </a:r>
          </a:p>
        </p:txBody>
      </p:sp>
      <p:sp>
        <p:nvSpPr>
          <p:cNvPr id="4" name="TextBox 3"/>
          <p:cNvSpPr txBox="1"/>
          <p:nvPr/>
        </p:nvSpPr>
        <p:spPr>
          <a:xfrm>
            <a:off x="731520" y="640080"/>
            <a:ext cx="10058400" cy="731520"/>
          </a:xfrm>
          <a:prstGeom prst="rect">
            <a:avLst/>
          </a:prstGeom>
          <a:noFill/>
        </p:spPr>
        <p:txBody>
          <a:bodyPr wrap="none">
            <a:spAutoFit/>
          </a:bodyPr>
          <a:lstStyle/>
          <a:p>
            <a:pPr>
              <a:defRPr sz="2600" b="1">
                <a:solidFill>
                  <a:srgbClr val="FFFFFF"/>
                </a:solidFill>
              </a:defRPr>
            </a:pPr>
            <a:r>
              <a:t>Dataset Overview</a:t>
            </a:r>
          </a:p>
          <a:p>
            <a:pPr>
              <a:defRPr sz="1200">
                <a:solidFill>
                  <a:srgbClr val="9CA3AF"/>
                </a:solidFill>
              </a:defRPr>
            </a:pPr>
            <a:r>
              <a:t>Studi 4 dataset standar industri untuk mencakup seluruh aspek Predictive Maintenance</a:t>
            </a:r>
          </a:p>
        </p:txBody>
      </p:sp>
      <p:sp>
        <p:nvSpPr>
          <p:cNvPr id="5" name="Rounded Rectangle 4"/>
          <p:cNvSpPr/>
          <p:nvPr/>
        </p:nvSpPr>
        <p:spPr>
          <a:xfrm>
            <a:off x="731520" y="1463040"/>
            <a:ext cx="5120640" cy="210312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defRPr>
            </a:pPr>
            <a:r>
              <a:t>Paderborn Dataset</a:t>
            </a:r>
          </a:p>
          <a:p>
            <a:pPr>
              <a:defRPr sz="1100" b="1">
                <a:solidFill>
                  <a:srgbClr val="A855F7"/>
                </a:solidFill>
              </a:defRPr>
            </a:pPr>
            <a:r>
              <a:t>Machine: Induction Motor (1.5 kW)  |  Purpose: Fault Classification</a:t>
            </a:r>
          </a:p>
          <a:p>
            <a:pPr>
              <a:defRPr sz="1100">
                <a:solidFill>
                  <a:srgbClr val="9CA3AF"/>
                </a:solidFill>
              </a:defRPr>
            </a:pPr>
            <a:r>
              <a:t>Digunakan untuk klasifikasi jenis kerusakan pada motor induksi dengan sinyal arus stator &amp; getaran.</a:t>
            </a:r>
          </a:p>
        </p:txBody>
      </p:sp>
      <p:sp>
        <p:nvSpPr>
          <p:cNvPr id="6" name="Rounded Rectangle 5"/>
          <p:cNvSpPr/>
          <p:nvPr/>
        </p:nvSpPr>
        <p:spPr>
          <a:xfrm>
            <a:off x="6126480" y="1463040"/>
            <a:ext cx="5120640" cy="210312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defRPr>
            </a:pPr>
            <a:r>
              <a:t>CWRU Dataset</a:t>
            </a:r>
          </a:p>
          <a:p>
            <a:pPr>
              <a:defRPr sz="1100" b="1">
                <a:solidFill>
                  <a:srgbClr val="3B82F6"/>
                </a:solidFill>
              </a:defRPr>
            </a:pPr>
            <a:r>
              <a:t>Machine: Bearing Test Motor (2 HP)  |  Purpose: Bearing Fault Diagnosis</a:t>
            </a:r>
          </a:p>
          <a:p>
            <a:pPr>
              <a:defRPr sz="1100">
                <a:solidFill>
                  <a:srgbClr val="9CA3AF"/>
                </a:solidFill>
              </a:defRPr>
            </a:pPr>
            <a:r>
              <a:t>Digunakan untuk diagnosis presisi tinggi keretakan spesifik bearing (Ball, Inner Race, Outer Race).</a:t>
            </a:r>
          </a:p>
        </p:txBody>
      </p:sp>
      <p:sp>
        <p:nvSpPr>
          <p:cNvPr id="7" name="Rounded Rectangle 6"/>
          <p:cNvSpPr/>
          <p:nvPr/>
        </p:nvSpPr>
        <p:spPr>
          <a:xfrm>
            <a:off x="731520" y="3840480"/>
            <a:ext cx="5120640" cy="210312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defRPr>
            </a:pPr>
            <a:r>
              <a:t>NASA IMS Dataset</a:t>
            </a:r>
          </a:p>
          <a:p>
            <a:pPr>
              <a:defRPr sz="1100" b="1">
                <a:solidFill>
                  <a:srgbClr val="F59E0B"/>
                </a:solidFill>
              </a:defRPr>
            </a:pPr>
            <a:r>
              <a:t>Machine: Bearing Test Rig  |  Purpose: Health Degradation Baseline</a:t>
            </a:r>
          </a:p>
          <a:p>
            <a:pPr>
              <a:defRPr sz="1100">
                <a:solidFill>
                  <a:srgbClr val="9CA3AF"/>
                </a:solidFill>
              </a:defRPr>
            </a:pPr>
            <a:r>
              <a:t>Digunakan untuk memodelkan Kurva Degradasi bantalan selama 35 hari kontinyu hingga rusak total.</a:t>
            </a:r>
          </a:p>
        </p:txBody>
      </p:sp>
      <p:sp>
        <p:nvSpPr>
          <p:cNvPr id="8" name="Rounded Rectangle 7"/>
          <p:cNvSpPr/>
          <p:nvPr/>
        </p:nvSpPr>
        <p:spPr>
          <a:xfrm>
            <a:off x="6126480" y="3840480"/>
            <a:ext cx="5120640" cy="210312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defRPr>
            </a:pPr>
            <a:r>
              <a:t>NASA CMAPSS</a:t>
            </a:r>
          </a:p>
          <a:p>
            <a:pPr>
              <a:defRPr sz="1100" b="1">
                <a:solidFill>
                  <a:srgbClr val="22C55E"/>
                </a:solidFill>
              </a:defRPr>
            </a:pPr>
            <a:r>
              <a:t>Machine: Turbofan Engine  |  Purpose: Remaining Useful Life (RUL)</a:t>
            </a:r>
          </a:p>
          <a:p>
            <a:pPr>
              <a:defRPr sz="1100">
                <a:solidFill>
                  <a:srgbClr val="9CA3AF"/>
                </a:solidFill>
              </a:defRPr>
            </a:pPr>
            <a:r>
              <a:t>Digunakan untuk estimasi waktu sisa umur komponen (RUL) dengan masukan multi-sensor siklus tinggi.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05</a:t>
            </a:r>
          </a:p>
        </p:txBody>
      </p:sp>
      <p:sp>
        <p:nvSpPr>
          <p:cNvPr id="4" name="TextBox 3"/>
          <p:cNvSpPr txBox="1"/>
          <p:nvPr/>
        </p:nvSpPr>
        <p:spPr>
          <a:xfrm>
            <a:off x="731520" y="640080"/>
            <a:ext cx="10058400" cy="731520"/>
          </a:xfrm>
          <a:prstGeom prst="rect">
            <a:avLst/>
          </a:prstGeom>
          <a:noFill/>
        </p:spPr>
        <p:txBody>
          <a:bodyPr wrap="none">
            <a:spAutoFit/>
          </a:bodyPr>
          <a:lstStyle/>
          <a:p>
            <a:pPr>
              <a:defRPr sz="2600" b="1">
                <a:solidFill>
                  <a:srgbClr val="FFFFFF"/>
                </a:solidFill>
              </a:defRPr>
            </a:pPr>
            <a:r>
              <a:t>Paderborn University Dataset Details</a:t>
            </a:r>
          </a:p>
        </p:txBody>
      </p:sp>
      <p:sp>
        <p:nvSpPr>
          <p:cNvPr id="5" name="Rounded Rectangle 4"/>
          <p:cNvSpPr/>
          <p:nvPr/>
        </p:nvSpPr>
        <p:spPr>
          <a:xfrm>
            <a:off x="731520" y="1645920"/>
            <a:ext cx="246888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A855F7"/>
                </a:solidFill>
              </a:defRPr>
            </a:pPr>
            <a:r>
              <a:t>TARGET MACHINE</a:t>
            </a:r>
          </a:p>
          <a:p>
            <a:pPr>
              <a:defRPr sz="1400" b="1">
                <a:solidFill>
                  <a:srgbClr val="FFFFFF"/>
                </a:solidFill>
              </a:defRPr>
            </a:pPr>
            <a:r>
              <a:t>Induction Motor (1.5 kW)</a:t>
            </a:r>
          </a:p>
          <a:p>
            <a:pPr>
              <a:defRPr sz="1100">
                <a:solidFill>
                  <a:srgbClr val="9CA3AF"/>
                </a:solidFill>
              </a:defRPr>
            </a:pPr>
            <a:r>
              <a:t>Motor induksi beban variabel dengan kontrol frekuensi inverter.</a:t>
            </a:r>
          </a:p>
        </p:txBody>
      </p:sp>
      <p:sp>
        <p:nvSpPr>
          <p:cNvPr id="6" name="Rounded Rectangle 5"/>
          <p:cNvSpPr/>
          <p:nvPr/>
        </p:nvSpPr>
        <p:spPr>
          <a:xfrm>
            <a:off x="3383280" y="1645920"/>
            <a:ext cx="246888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A855F7"/>
                </a:solidFill>
              </a:defRPr>
            </a:pPr>
            <a:r>
              <a:t>SENSORS AVAILABLE</a:t>
            </a:r>
          </a:p>
          <a:p>
            <a:pPr>
              <a:defRPr sz="1400" b="1">
                <a:solidFill>
                  <a:srgbClr val="FFFFFF"/>
                </a:solidFill>
              </a:defRPr>
            </a:pPr>
            <a:r>
              <a:t>Phase Currents &amp; Vibration</a:t>
            </a:r>
          </a:p>
          <a:p>
            <a:pPr>
              <a:defRPr sz="1100">
                <a:solidFill>
                  <a:srgbClr val="9CA3AF"/>
                </a:solidFill>
              </a:defRPr>
            </a:pPr>
            <a:r>
              <a:t>Arus stator 64kHz, akselerometer getaran, temperatur, dan kecepatan putar.</a:t>
            </a:r>
          </a:p>
        </p:txBody>
      </p:sp>
      <p:sp>
        <p:nvSpPr>
          <p:cNvPr id="7" name="Rounded Rectangle 6"/>
          <p:cNvSpPr/>
          <p:nvPr/>
        </p:nvSpPr>
        <p:spPr>
          <a:xfrm>
            <a:off x="6035040" y="1645920"/>
            <a:ext cx="246888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A855F7"/>
                </a:solidFill>
              </a:defRPr>
            </a:pPr>
            <a:r>
              <a:t>FAULT TYPES</a:t>
            </a:r>
          </a:p>
          <a:p>
            <a:pPr>
              <a:defRPr sz="1400" b="1">
                <a:solidFill>
                  <a:srgbClr val="FFFFFF"/>
                </a:solidFill>
              </a:defRPr>
            </a:pPr>
            <a:r>
              <a:t>Real Accelerated Damage</a:t>
            </a:r>
          </a:p>
          <a:p>
            <a:pPr>
              <a:defRPr sz="1100">
                <a:solidFill>
                  <a:srgbClr val="9CA3AF"/>
                </a:solidFill>
              </a:defRPr>
            </a:pPr>
            <a:r>
              <a:t>Kerusakan alami (pitting, fatigue) pada inner race dan outer race.</a:t>
            </a:r>
          </a:p>
        </p:txBody>
      </p:sp>
      <p:sp>
        <p:nvSpPr>
          <p:cNvPr id="8" name="Rounded Rectangle 7"/>
          <p:cNvSpPr/>
          <p:nvPr/>
        </p:nvSpPr>
        <p:spPr>
          <a:xfrm>
            <a:off x="8686800" y="1645920"/>
            <a:ext cx="246888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A855F7"/>
                </a:solidFill>
              </a:defRPr>
            </a:pPr>
            <a:r>
              <a:t>FEATURES EXTRACTED</a:t>
            </a:r>
          </a:p>
          <a:p>
            <a:pPr>
              <a:defRPr sz="1400" b="1">
                <a:solidFill>
                  <a:srgbClr val="FFFFFF"/>
                </a:solidFill>
              </a:defRPr>
            </a:pPr>
            <a:r>
              <a:t>25 Time &amp; Freq Features</a:t>
            </a:r>
          </a:p>
          <a:p>
            <a:pPr>
              <a:defRPr sz="1100">
                <a:solidFill>
                  <a:srgbClr val="9CA3AF"/>
                </a:solidFill>
              </a:defRPr>
            </a:pPr>
            <a:r>
              <a:t>RMS, Kurtosis, Crest Factor, Energy Spectrum, Peak-to-Peak.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06</a:t>
            </a:r>
          </a:p>
        </p:txBody>
      </p:sp>
      <p:sp>
        <p:nvSpPr>
          <p:cNvPr id="4" name="TextBox 3"/>
          <p:cNvSpPr txBox="1"/>
          <p:nvPr/>
        </p:nvSpPr>
        <p:spPr>
          <a:xfrm>
            <a:off x="731520" y="640080"/>
            <a:ext cx="10058400" cy="731520"/>
          </a:xfrm>
          <a:prstGeom prst="rect">
            <a:avLst/>
          </a:prstGeom>
          <a:noFill/>
        </p:spPr>
        <p:txBody>
          <a:bodyPr wrap="none">
            <a:spAutoFit/>
          </a:bodyPr>
          <a:lstStyle/>
          <a:p>
            <a:pPr>
              <a:defRPr sz="2600" b="1">
                <a:solidFill>
                  <a:srgbClr val="FFFFFF"/>
                </a:solidFill>
              </a:defRPr>
            </a:pPr>
            <a:r>
              <a:t>CWRU Bearing Dataset Details</a:t>
            </a:r>
          </a:p>
        </p:txBody>
      </p:sp>
      <p:sp>
        <p:nvSpPr>
          <p:cNvPr id="5" name="Rounded Rectangle 4"/>
          <p:cNvSpPr/>
          <p:nvPr/>
        </p:nvSpPr>
        <p:spPr>
          <a:xfrm>
            <a:off x="731520" y="1645920"/>
            <a:ext cx="246888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B82F6"/>
                </a:solidFill>
              </a:defRPr>
            </a:pPr>
            <a:r>
              <a:t>TARGET MACHINE</a:t>
            </a:r>
          </a:p>
          <a:p>
            <a:pPr>
              <a:defRPr sz="1400" b="1">
                <a:solidFill>
                  <a:srgbClr val="FFFFFF"/>
                </a:solidFill>
              </a:defRPr>
            </a:pPr>
            <a:r>
              <a:t>Bearing Test Motor (2 HP)</a:t>
            </a:r>
          </a:p>
          <a:p>
            <a:pPr>
              <a:defRPr sz="1100">
                <a:solidFill>
                  <a:srgbClr val="9CA3AF"/>
                </a:solidFill>
              </a:defRPr>
            </a:pPr>
            <a:r>
              <a:t>Motor penguji 2 HP dengan sensor getaran ujung drive-end &amp; fan-end.</a:t>
            </a:r>
          </a:p>
        </p:txBody>
      </p:sp>
      <p:sp>
        <p:nvSpPr>
          <p:cNvPr id="6" name="Rounded Rectangle 5"/>
          <p:cNvSpPr/>
          <p:nvPr/>
        </p:nvSpPr>
        <p:spPr>
          <a:xfrm>
            <a:off x="3383280" y="1645920"/>
            <a:ext cx="246888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B82F6"/>
                </a:solidFill>
              </a:defRPr>
            </a:pPr>
            <a:r>
              <a:t>BEARING FAULT TYPES</a:t>
            </a:r>
          </a:p>
          <a:p>
            <a:pPr>
              <a:defRPr sz="1400" b="1">
                <a:solidFill>
                  <a:srgbClr val="FFFFFF"/>
                </a:solidFill>
              </a:defRPr>
            </a:pPr>
            <a:r>
              <a:t>Single-Point Defect</a:t>
            </a:r>
          </a:p>
          <a:p>
            <a:pPr>
              <a:defRPr sz="1100">
                <a:solidFill>
                  <a:srgbClr val="9CA3AF"/>
                </a:solidFill>
              </a:defRPr>
            </a:pPr>
            <a:r>
              <a:t>Ball Fault, Inner Race Fault, Outer Race Fault (diameter 0.007"-0.021").</a:t>
            </a:r>
          </a:p>
        </p:txBody>
      </p:sp>
      <p:sp>
        <p:nvSpPr>
          <p:cNvPr id="7" name="Rounded Rectangle 6"/>
          <p:cNvSpPr/>
          <p:nvPr/>
        </p:nvSpPr>
        <p:spPr>
          <a:xfrm>
            <a:off x="6035040" y="1645920"/>
            <a:ext cx="246888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B82F6"/>
                </a:solidFill>
              </a:defRPr>
            </a:pPr>
            <a:r>
              <a:t>AVAILABLE FEATURES</a:t>
            </a:r>
          </a:p>
          <a:p>
            <a:pPr>
              <a:defRPr sz="1400" b="1">
                <a:solidFill>
                  <a:srgbClr val="FFFFFF"/>
                </a:solidFill>
              </a:defRPr>
            </a:pPr>
            <a:r>
              <a:t>Accelerometers (12k/48k Hz)</a:t>
            </a:r>
          </a:p>
          <a:p>
            <a:pPr>
              <a:defRPr sz="1100">
                <a:solidFill>
                  <a:srgbClr val="9CA3AF"/>
                </a:solidFill>
              </a:defRPr>
            </a:pPr>
            <a:r>
              <a:t>Sinyal akselerasi aksial &amp; radial frekuensi tinggi.</a:t>
            </a:r>
          </a:p>
        </p:txBody>
      </p:sp>
      <p:sp>
        <p:nvSpPr>
          <p:cNvPr id="8" name="Rounded Rectangle 7"/>
          <p:cNvSpPr/>
          <p:nvPr/>
        </p:nvSpPr>
        <p:spPr>
          <a:xfrm>
            <a:off x="8686800" y="1645920"/>
            <a:ext cx="246888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B82F6"/>
                </a:solidFill>
              </a:defRPr>
            </a:pPr>
            <a:r>
              <a:t>PURPOSE IN MAINTENX</a:t>
            </a:r>
          </a:p>
          <a:p>
            <a:pPr>
              <a:defRPr sz="1400" b="1">
                <a:solidFill>
                  <a:srgbClr val="FFFFFF"/>
                </a:solidFill>
              </a:defRPr>
            </a:pPr>
            <a:r>
              <a:t>Precision Fault Classifier</a:t>
            </a:r>
          </a:p>
          <a:p>
            <a:pPr>
              <a:defRPr sz="1100">
                <a:solidFill>
                  <a:srgbClr val="9CA3AF"/>
                </a:solidFill>
              </a:defRPr>
            </a:pPr>
            <a:r>
              <a:t>Digabungkan dengan Paderborn untuk memperkuat akurasi diagnosis 10 kelas spesifik.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07</a:t>
            </a:r>
          </a:p>
        </p:txBody>
      </p:sp>
      <p:sp>
        <p:nvSpPr>
          <p:cNvPr id="4" name="TextBox 3"/>
          <p:cNvSpPr txBox="1"/>
          <p:nvPr/>
        </p:nvSpPr>
        <p:spPr>
          <a:xfrm>
            <a:off x="731520" y="640080"/>
            <a:ext cx="10058400" cy="731520"/>
          </a:xfrm>
          <a:prstGeom prst="rect">
            <a:avLst/>
          </a:prstGeom>
          <a:noFill/>
        </p:spPr>
        <p:txBody>
          <a:bodyPr wrap="none">
            <a:spAutoFit/>
          </a:bodyPr>
          <a:lstStyle/>
          <a:p>
            <a:pPr>
              <a:defRPr sz="2600" b="1">
                <a:solidFill>
                  <a:srgbClr val="FFFFFF"/>
                </a:solidFill>
              </a:defRPr>
            </a:pPr>
            <a:r>
              <a:t>NASA IMS (Intelligent Maintenance Systems)</a:t>
            </a:r>
          </a:p>
        </p:txBody>
      </p:sp>
      <p:sp>
        <p:nvSpPr>
          <p:cNvPr id="5" name="Rounded Rectangle 4"/>
          <p:cNvSpPr/>
          <p:nvPr/>
        </p:nvSpPr>
        <p:spPr>
          <a:xfrm>
            <a:off x="731520" y="1645920"/>
            <a:ext cx="329184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59E0B"/>
                </a:solidFill>
              </a:defRPr>
            </a:pPr>
            <a:r>
              <a:t>Run-to-Failure Dataset</a:t>
            </a:r>
          </a:p>
          <a:p>
            <a:pPr>
              <a:defRPr sz="1200">
                <a:solidFill>
                  <a:srgbClr val="9CA3AF"/>
                </a:solidFill>
              </a:defRPr>
            </a:pPr>
            <a:r>
              <a:t>Pengujian kontinyu selama 35 hari berturut-turut tanpa henti hingga bantalan mengalami kegagalan total struktural.</a:t>
            </a:r>
          </a:p>
        </p:txBody>
      </p:sp>
      <p:sp>
        <p:nvSpPr>
          <p:cNvPr id="6" name="Rounded Rectangle 5"/>
          <p:cNvSpPr/>
          <p:nvPr/>
        </p:nvSpPr>
        <p:spPr>
          <a:xfrm>
            <a:off x="4297680" y="1645920"/>
            <a:ext cx="329184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59E0B"/>
                </a:solidFill>
              </a:defRPr>
            </a:pPr>
            <a:r>
              <a:t>Bearing Degradation Curve</a:t>
            </a:r>
          </a:p>
          <a:p>
            <a:pPr>
              <a:defRPr sz="1200">
                <a:solidFill>
                  <a:srgbClr val="9CA3AF"/>
                </a:solidFill>
              </a:defRPr>
            </a:pPr>
            <a:r>
              <a:t>Merekam perubahan mikro dari kondisi optimal, pemulaan mikro-cracking, hingga kenaikan energi RMS pada fase akhir.</a:t>
            </a:r>
          </a:p>
        </p:txBody>
      </p:sp>
      <p:sp>
        <p:nvSpPr>
          <p:cNvPr id="7" name="Rounded Rectangle 6"/>
          <p:cNvSpPr/>
          <p:nvPr/>
        </p:nvSpPr>
        <p:spPr>
          <a:xfrm>
            <a:off x="7863840" y="1645920"/>
            <a:ext cx="329184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59E0B"/>
                </a:solidFill>
              </a:defRPr>
            </a:pPr>
            <a:r>
              <a:t>Health Monitoring Baseline</a:t>
            </a:r>
          </a:p>
          <a:p>
            <a:pPr>
              <a:defRPr sz="1200">
                <a:solidFill>
                  <a:srgbClr val="9CA3AF"/>
                </a:solidFill>
              </a:defRPr>
            </a:pPr>
            <a:r>
              <a:t>Menjadi baseline perhitungan Health Index (0% - 100%) pada dashboard untuk mendeteksi keausan dini.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08</a:t>
            </a:r>
          </a:p>
        </p:txBody>
      </p:sp>
      <p:sp>
        <p:nvSpPr>
          <p:cNvPr id="4" name="TextBox 3"/>
          <p:cNvSpPr txBox="1"/>
          <p:nvPr/>
        </p:nvSpPr>
        <p:spPr>
          <a:xfrm>
            <a:off x="731520" y="640080"/>
            <a:ext cx="10058400" cy="731520"/>
          </a:xfrm>
          <a:prstGeom prst="rect">
            <a:avLst/>
          </a:prstGeom>
          <a:noFill/>
        </p:spPr>
        <p:txBody>
          <a:bodyPr wrap="none">
            <a:spAutoFit/>
          </a:bodyPr>
          <a:lstStyle/>
          <a:p>
            <a:pPr>
              <a:defRPr sz="2600" b="1">
                <a:solidFill>
                  <a:srgbClr val="FFFFFF"/>
                </a:solidFill>
              </a:defRPr>
            </a:pPr>
            <a:r>
              <a:t>NASA CMAPSS &amp; Multi-Dataset Harmonization</a:t>
            </a:r>
          </a:p>
        </p:txBody>
      </p:sp>
      <p:sp>
        <p:nvSpPr>
          <p:cNvPr id="5" name="Rounded Rectangle 4"/>
          <p:cNvSpPr/>
          <p:nvPr/>
        </p:nvSpPr>
        <p:spPr>
          <a:xfrm>
            <a:off x="731520" y="1463040"/>
            <a:ext cx="10424160" cy="1097280"/>
          </a:xfrm>
          <a:prstGeom prst="roundRect">
            <a:avLst/>
          </a:prstGeom>
          <a:solidFill>
            <a:srgbClr val="111827"/>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2C55E"/>
                </a:solidFill>
              </a:defRPr>
            </a:pPr>
            <a:r>
              <a:t>DATASET MAPPING PIPELINE TO UNIFIED SCHEMA</a:t>
            </a:r>
          </a:p>
          <a:p>
            <a:pPr algn="ctr">
              <a:defRPr sz="1600" b="1">
                <a:solidFill>
                  <a:srgbClr val="FFFFFF"/>
                </a:solidFill>
              </a:defRPr>
            </a:pPr>
            <a:r>
              <a:t>Paderborn   ➔   CWRU   ➔   NASA IMS   ➔   NASA CMAPSS   ➔   raw_sensor_data</a:t>
            </a:r>
          </a:p>
        </p:txBody>
      </p:sp>
      <p:graphicFrame>
        <p:nvGraphicFramePr>
          <p:cNvPr id="6" name="Table 5"/>
          <p:cNvGraphicFramePr>
            <a:graphicFrameLocks noGrp="1"/>
          </p:cNvGraphicFramePr>
          <p:nvPr/>
        </p:nvGraphicFramePr>
        <p:xfrm>
          <a:off x="731520" y="2926080"/>
          <a:ext cx="10424160" cy="1371600"/>
        </p:xfrm>
        <a:graphic>
          <a:graphicData uri="http://schemas.openxmlformats.org/drawingml/2006/table">
            <a:tbl>
              <a:tblPr firstRow="1" bandRow="1">
                <a:tableStyleId>{5C22544A-7EE6-4342-B048-85BDC9FD1C3A}</a:tableStyleId>
              </a:tblPr>
              <a:tblGrid>
                <a:gridCol w="1303020"/>
                <a:gridCol w="1303020"/>
                <a:gridCol w="1303020"/>
                <a:gridCol w="1303020"/>
                <a:gridCol w="1303020"/>
                <a:gridCol w="1303020"/>
                <a:gridCol w="1303020"/>
                <a:gridCol w="1303020"/>
              </a:tblGrid>
              <a:tr h="685800">
                <a:tc>
                  <a:txBody>
                    <a:bodyPr/>
                    <a:lstStyle/>
                    <a:p>
                      <a:pPr>
                        <a:defRPr b="1" sz="1100">
                          <a:solidFill>
                            <a:srgbClr val="22C55E"/>
                          </a:solidFill>
                        </a:defRPr>
                      </a:pPr>
                      <a:r>
                        <a:t>timestamp</a:t>
                      </a:r>
                    </a:p>
                  </a:txBody>
                  <a:tcPr>
                    <a:solidFill>
                      <a:srgbClr val="111827"/>
                    </a:solidFill>
                  </a:tcPr>
                </a:tc>
                <a:tc>
                  <a:txBody>
                    <a:bodyPr/>
                    <a:lstStyle/>
                    <a:p>
                      <a:pPr>
                        <a:defRPr b="1" sz="1100">
                          <a:solidFill>
                            <a:srgbClr val="22C55E"/>
                          </a:solidFill>
                        </a:defRPr>
                      </a:pPr>
                      <a:r>
                        <a:t>machine_id</a:t>
                      </a:r>
                    </a:p>
                  </a:txBody>
                  <a:tcPr>
                    <a:solidFill>
                      <a:srgbClr val="111827"/>
                    </a:solidFill>
                  </a:tcPr>
                </a:tc>
                <a:tc>
                  <a:txBody>
                    <a:bodyPr/>
                    <a:lstStyle/>
                    <a:p>
                      <a:pPr>
                        <a:defRPr b="1" sz="1100">
                          <a:solidFill>
                            <a:srgbClr val="22C55E"/>
                          </a:solidFill>
                        </a:defRPr>
                      </a:pPr>
                      <a:r>
                        <a:t>vibration</a:t>
                      </a:r>
                    </a:p>
                  </a:txBody>
                  <a:tcPr>
                    <a:solidFill>
                      <a:srgbClr val="111827"/>
                    </a:solidFill>
                  </a:tcPr>
                </a:tc>
                <a:tc>
                  <a:txBody>
                    <a:bodyPr/>
                    <a:lstStyle/>
                    <a:p>
                      <a:pPr>
                        <a:defRPr b="1" sz="1100">
                          <a:solidFill>
                            <a:srgbClr val="22C55E"/>
                          </a:solidFill>
                        </a:defRPr>
                      </a:pPr>
                      <a:r>
                        <a:t>current</a:t>
                      </a:r>
                    </a:p>
                  </a:txBody>
                  <a:tcPr>
                    <a:solidFill>
                      <a:srgbClr val="111827"/>
                    </a:solidFill>
                  </a:tcPr>
                </a:tc>
                <a:tc>
                  <a:txBody>
                    <a:bodyPr/>
                    <a:lstStyle/>
                    <a:p>
                      <a:pPr>
                        <a:defRPr b="1" sz="1100">
                          <a:solidFill>
                            <a:srgbClr val="22C55E"/>
                          </a:solidFill>
                        </a:defRPr>
                      </a:pPr>
                      <a:r>
                        <a:t>rpm</a:t>
                      </a:r>
                    </a:p>
                  </a:txBody>
                  <a:tcPr>
                    <a:solidFill>
                      <a:srgbClr val="111827"/>
                    </a:solidFill>
                  </a:tcPr>
                </a:tc>
                <a:tc>
                  <a:txBody>
                    <a:bodyPr/>
                    <a:lstStyle/>
                    <a:p>
                      <a:pPr>
                        <a:defRPr b="1" sz="1100">
                          <a:solidFill>
                            <a:srgbClr val="22C55E"/>
                          </a:solidFill>
                        </a:defRPr>
                      </a:pPr>
                      <a:r>
                        <a:t>temperature</a:t>
                      </a:r>
                    </a:p>
                  </a:txBody>
                  <a:tcPr>
                    <a:solidFill>
                      <a:srgbClr val="111827"/>
                    </a:solidFill>
                  </a:tcPr>
                </a:tc>
                <a:tc>
                  <a:txBody>
                    <a:bodyPr/>
                    <a:lstStyle/>
                    <a:p>
                      <a:pPr>
                        <a:defRPr b="1" sz="1100">
                          <a:solidFill>
                            <a:srgbClr val="22C55E"/>
                          </a:solidFill>
                        </a:defRPr>
                      </a:pPr>
                      <a:r>
                        <a:t>torque</a:t>
                      </a:r>
                    </a:p>
                  </a:txBody>
                  <a:tcPr>
                    <a:solidFill>
                      <a:srgbClr val="111827"/>
                    </a:solidFill>
                  </a:tcPr>
                </a:tc>
                <a:tc>
                  <a:txBody>
                    <a:bodyPr/>
                    <a:lstStyle/>
                    <a:p>
                      <a:pPr>
                        <a:defRPr b="1" sz="1100">
                          <a:solidFill>
                            <a:srgbClr val="22C55E"/>
                          </a:solidFill>
                        </a:defRPr>
                      </a:pPr>
                      <a:r>
                        <a:t>source_dataset</a:t>
                      </a:r>
                    </a:p>
                  </a:txBody>
                  <a:tcPr>
                    <a:solidFill>
                      <a:srgbClr val="111827"/>
                    </a:solidFill>
                  </a:tcPr>
                </a:tc>
              </a:tr>
              <a:tr h="685800">
                <a:tc>
                  <a:txBody>
                    <a:bodyPr/>
                    <a:lstStyle/>
                    <a:p>
                      <a:pPr>
                        <a:defRPr sz="1000">
                          <a:solidFill>
                            <a:srgbClr val="FFFFFF"/>
                          </a:solidFill>
                        </a:defRPr>
                      </a:pPr>
                      <a:r>
                        <a:t>2026-07-30 00:00:00</a:t>
                      </a:r>
                    </a:p>
                  </a:txBody>
                  <a:tcPr>
                    <a:solidFill>
                      <a:srgbClr val="111827"/>
                    </a:solidFill>
                  </a:tcPr>
                </a:tc>
                <a:tc>
                  <a:txBody>
                    <a:bodyPr/>
                    <a:lstStyle/>
                    <a:p>
                      <a:pPr>
                        <a:defRPr sz="1000">
                          <a:solidFill>
                            <a:srgbClr val="FFFFFF"/>
                          </a:solidFill>
                        </a:defRPr>
                      </a:pPr>
                      <a:r>
                        <a:t>MTR-01</a:t>
                      </a:r>
                    </a:p>
                  </a:txBody>
                  <a:tcPr>
                    <a:solidFill>
                      <a:srgbClr val="111827"/>
                    </a:solidFill>
                  </a:tcPr>
                </a:tc>
                <a:tc>
                  <a:txBody>
                    <a:bodyPr/>
                    <a:lstStyle/>
                    <a:p>
                      <a:pPr>
                        <a:defRPr sz="1000">
                          <a:solidFill>
                            <a:srgbClr val="FFFFFF"/>
                          </a:solidFill>
                        </a:defRPr>
                      </a:pPr>
                      <a:r>
                        <a:t>0.42</a:t>
                      </a:r>
                    </a:p>
                  </a:txBody>
                  <a:tcPr>
                    <a:solidFill>
                      <a:srgbClr val="111827"/>
                    </a:solidFill>
                  </a:tcPr>
                </a:tc>
                <a:tc>
                  <a:txBody>
                    <a:bodyPr/>
                    <a:lstStyle/>
                    <a:p>
                      <a:pPr>
                        <a:defRPr sz="1000">
                          <a:solidFill>
                            <a:srgbClr val="FFFFFF"/>
                          </a:solidFill>
                        </a:defRPr>
                      </a:pPr>
                      <a:r>
                        <a:t>22.4</a:t>
                      </a:r>
                    </a:p>
                  </a:txBody>
                  <a:tcPr>
                    <a:solidFill>
                      <a:srgbClr val="111827"/>
                    </a:solidFill>
                  </a:tcPr>
                </a:tc>
                <a:tc>
                  <a:txBody>
                    <a:bodyPr/>
                    <a:lstStyle/>
                    <a:p>
                      <a:pPr>
                        <a:defRPr sz="1000">
                          <a:solidFill>
                            <a:srgbClr val="FFFFFF"/>
                          </a:solidFill>
                        </a:defRPr>
                      </a:pPr>
                      <a:r>
                        <a:t>1450</a:t>
                      </a:r>
                    </a:p>
                  </a:txBody>
                  <a:tcPr>
                    <a:solidFill>
                      <a:srgbClr val="111827"/>
                    </a:solidFill>
                  </a:tcPr>
                </a:tc>
                <a:tc>
                  <a:txBody>
                    <a:bodyPr/>
                    <a:lstStyle/>
                    <a:p>
                      <a:pPr>
                        <a:defRPr sz="1000">
                          <a:solidFill>
                            <a:srgbClr val="FFFFFF"/>
                          </a:solidFill>
                        </a:defRPr>
                      </a:pPr>
                      <a:r>
                        <a:t>48.5</a:t>
                      </a:r>
                    </a:p>
                  </a:txBody>
                  <a:tcPr>
                    <a:solidFill>
                      <a:srgbClr val="111827"/>
                    </a:solidFill>
                  </a:tcPr>
                </a:tc>
                <a:tc>
                  <a:txBody>
                    <a:bodyPr/>
                    <a:lstStyle/>
                    <a:p>
                      <a:pPr>
                        <a:defRPr sz="1000">
                          <a:solidFill>
                            <a:srgbClr val="6B7280"/>
                          </a:solidFill>
                        </a:defRPr>
                      </a:pPr>
                      <a:r>
                        <a:t>NULL</a:t>
                      </a:r>
                    </a:p>
                  </a:txBody>
                  <a:tcPr>
                    <a:solidFill>
                      <a:srgbClr val="111827"/>
                    </a:solidFill>
                  </a:tcPr>
                </a:tc>
                <a:tc>
                  <a:txBody>
                    <a:bodyPr/>
                    <a:lstStyle/>
                    <a:p>
                      <a:pPr>
                        <a:defRPr sz="1000">
                          <a:solidFill>
                            <a:srgbClr val="FFFFFF"/>
                          </a:solidFill>
                        </a:defRPr>
                      </a:pPr>
                      <a:r>
                        <a:t>paderborn</a:t>
                      </a:r>
                    </a:p>
                  </a:txBody>
                  <a:tcPr>
                    <a:solidFill>
                      <a:srgbClr val="111827"/>
                    </a:solidFill>
                  </a:tcPr>
                </a:tc>
              </a:tr>
            </a:tbl>
          </a:graphicData>
        </a:graphic>
      </p:graphicFrame>
      <p:sp>
        <p:nvSpPr>
          <p:cNvPr id="7" name="Rounded Rectangle 6"/>
          <p:cNvSpPr/>
          <p:nvPr/>
        </p:nvSpPr>
        <p:spPr>
          <a:xfrm>
            <a:off x="731520" y="4572000"/>
            <a:ext cx="10424160" cy="1645920"/>
          </a:xfrm>
          <a:prstGeom prst="roundRect">
            <a:avLst/>
          </a:prstGeom>
          <a:solidFill>
            <a:srgbClr val="0F172A"/>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a:solidFill>
                  <a:srgbClr val="FFFFFF"/>
                </a:solidFill>
              </a:defRPr>
            </a:pPr>
            <a:r>
              <a:t>1. NASA CMAPSS digunakan khusus untuk estimasi Remaining Useful Life (RUL).</a:t>
            </a:r>
          </a:p>
          <a:p>
            <a:pPr>
              <a:defRPr sz="1100">
                <a:solidFill>
                  <a:srgbClr val="FFFFFF"/>
                </a:solidFill>
              </a:defRPr>
            </a:pPr>
            <a:r>
              <a:t>2. Semua dataset dipetakan ke 1 tabel raw_sensor_data. Parameter tak tersedia diisi NULL.</a:t>
            </a:r>
          </a:p>
          <a:p>
            <a:pPr>
              <a:defRPr sz="1100">
                <a:solidFill>
                  <a:srgbClr val="22C55E"/>
                </a:solidFill>
              </a:defRPr>
            </a:pPr>
            <a:r>
              <a:t>3. Pipeline AI tetap seragam. Saat beralih ke Astra, hanya source_dataset yang berubah ke sensor Astra.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09</a:t>
            </a:r>
          </a:p>
        </p:txBody>
      </p:sp>
      <p:sp>
        <p:nvSpPr>
          <p:cNvPr id="4" name="TextBox 3"/>
          <p:cNvSpPr txBox="1"/>
          <p:nvPr/>
        </p:nvSpPr>
        <p:spPr>
          <a:xfrm>
            <a:off x="731520" y="640080"/>
            <a:ext cx="10058400" cy="731520"/>
          </a:xfrm>
          <a:prstGeom prst="rect">
            <a:avLst/>
          </a:prstGeom>
          <a:noFill/>
        </p:spPr>
        <p:txBody>
          <a:bodyPr wrap="none">
            <a:spAutoFit/>
          </a:bodyPr>
          <a:lstStyle/>
          <a:p>
            <a:pPr>
              <a:defRPr sz="2600" b="1">
                <a:solidFill>
                  <a:srgbClr val="FFFFFF"/>
                </a:solidFill>
              </a:defRPr>
            </a:pPr>
            <a:r>
              <a:t>Database Entity Relationship Diagram (ERD)</a:t>
            </a:r>
          </a:p>
        </p:txBody>
      </p:sp>
      <p:sp>
        <p:nvSpPr>
          <p:cNvPr id="5" name="Rounded Rectangle 4"/>
          <p:cNvSpPr/>
          <p:nvPr/>
        </p:nvSpPr>
        <p:spPr>
          <a:xfrm>
            <a:off x="731520" y="1463040"/>
            <a:ext cx="10424160" cy="822960"/>
          </a:xfrm>
          <a:prstGeom prst="roundRect">
            <a:avLst/>
          </a:prstGeom>
          <a:solidFill>
            <a:srgbClr val="111827"/>
          </a:solidFill>
          <a:ln>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3B82F6"/>
                </a:solidFill>
              </a:defRPr>
            </a:pPr>
            <a:r>
              <a:t>raw_sensor_data</a:t>
            </a:r>
          </a:p>
          <a:p>
            <a:pPr>
              <a:defRPr sz="1100">
                <a:solidFill>
                  <a:srgbClr val="9CA3AF"/>
                </a:solidFill>
              </a:defRPr>
            </a:pPr>
            <a:r>
              <a:t>Data mentah ingestion real-time sensor (vibration, current, temp, rpm, source_dataset)</a:t>
            </a:r>
          </a:p>
        </p:txBody>
      </p:sp>
      <p:sp>
        <p:nvSpPr>
          <p:cNvPr id="6" name="Rounded Rectangle 5"/>
          <p:cNvSpPr/>
          <p:nvPr/>
        </p:nvSpPr>
        <p:spPr>
          <a:xfrm>
            <a:off x="731520" y="2423160"/>
            <a:ext cx="10424160" cy="822960"/>
          </a:xfrm>
          <a:prstGeom prst="roundRect">
            <a:avLst/>
          </a:prstGeom>
          <a:solidFill>
            <a:srgbClr val="111827"/>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22C55E"/>
                </a:solidFill>
              </a:defRPr>
            </a:pPr>
            <a:r>
              <a:t>clean_sensor_data</a:t>
            </a:r>
          </a:p>
          <a:p>
            <a:pPr>
              <a:defRPr sz="1100">
                <a:solidFill>
                  <a:srgbClr val="9CA3AF"/>
                </a:solidFill>
              </a:defRPr>
            </a:pPr>
            <a:r>
              <a:t>Data hasil pembersihan 30 detik (aggregated timestamp, RMS, moving averages)</a:t>
            </a:r>
          </a:p>
        </p:txBody>
      </p:sp>
      <p:sp>
        <p:nvSpPr>
          <p:cNvPr id="7" name="Rounded Rectangle 6"/>
          <p:cNvSpPr/>
          <p:nvPr/>
        </p:nvSpPr>
        <p:spPr>
          <a:xfrm>
            <a:off x="731520" y="3383280"/>
            <a:ext cx="10424160" cy="822960"/>
          </a:xfrm>
          <a:prstGeom prst="roundRect">
            <a:avLst/>
          </a:prstGeom>
          <a:solidFill>
            <a:srgbClr val="111827"/>
          </a:solidFill>
          <a:ln>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A855F7"/>
                </a:solidFill>
              </a:defRPr>
            </a:pPr>
            <a:r>
              <a:t>feature_dataset</a:t>
            </a:r>
          </a:p>
          <a:p>
            <a:pPr>
              <a:defRPr sz="1100">
                <a:solidFill>
                  <a:srgbClr val="9CA3AF"/>
                </a:solidFill>
              </a:defRPr>
            </a:pPr>
            <a:r>
              <a:t>Data fitur fisik fenomena mekanis (rolling std, FFT spectrum energy, kurtosis)</a:t>
            </a:r>
          </a:p>
        </p:txBody>
      </p:sp>
      <p:sp>
        <p:nvSpPr>
          <p:cNvPr id="8" name="Rounded Rectangle 7"/>
          <p:cNvSpPr/>
          <p:nvPr/>
        </p:nvSpPr>
        <p:spPr>
          <a:xfrm>
            <a:off x="731520" y="4343400"/>
            <a:ext cx="10424160" cy="822960"/>
          </a:xfrm>
          <a:prstGeom prst="roundRect">
            <a:avLst/>
          </a:prstGeom>
          <a:solidFill>
            <a:srgbClr val="111827"/>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F59E0B"/>
                </a:solidFill>
              </a:defRPr>
            </a:pPr>
            <a:r>
              <a:t>prediction_results</a:t>
            </a:r>
          </a:p>
          <a:p>
            <a:pPr>
              <a:defRPr sz="1100">
                <a:solidFill>
                  <a:srgbClr val="9CA3AF"/>
                </a:solidFill>
              </a:defRPr>
            </a:pPr>
            <a:r>
              <a:t>Hasil inferensi AI 5 menit (anomaly score, fault category, RUL remaining)</a:t>
            </a:r>
          </a:p>
        </p:txBody>
      </p:sp>
      <p:sp>
        <p:nvSpPr>
          <p:cNvPr id="9" name="Rounded Rectangle 8"/>
          <p:cNvSpPr/>
          <p:nvPr/>
        </p:nvSpPr>
        <p:spPr>
          <a:xfrm>
            <a:off x="731520" y="5303520"/>
            <a:ext cx="10424160" cy="822960"/>
          </a:xfrm>
          <a:prstGeom prst="roundRect">
            <a:avLst/>
          </a:prstGeom>
          <a:solidFill>
            <a:srgbClr val="111827"/>
          </a:solidFill>
          <a:ln>
            <a:solidFill>
              <a:srgbClr val="EF444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EF4444"/>
                </a:solidFill>
              </a:defRPr>
            </a:pPr>
            <a:r>
              <a:t>alerts_history</a:t>
            </a:r>
          </a:p>
          <a:p>
            <a:pPr>
              <a:defRPr sz="1100">
                <a:solidFill>
                  <a:srgbClr val="9CA3AF"/>
                </a:solidFill>
              </a:defRPr>
            </a:pPr>
            <a:r>
              <a:t>Log notifikasi dan rekomendasi tindakan maintenance (severity, status, work order)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10</a:t>
            </a:r>
          </a:p>
        </p:txBody>
      </p:sp>
      <p:sp>
        <p:nvSpPr>
          <p:cNvPr id="4" name="TextBox 3"/>
          <p:cNvSpPr txBox="1"/>
          <p:nvPr/>
        </p:nvSpPr>
        <p:spPr>
          <a:xfrm>
            <a:off x="731520" y="640080"/>
            <a:ext cx="10058400" cy="731520"/>
          </a:xfrm>
          <a:prstGeom prst="rect">
            <a:avLst/>
          </a:prstGeom>
          <a:noFill/>
        </p:spPr>
        <p:txBody>
          <a:bodyPr wrap="none">
            <a:spAutoFit/>
          </a:bodyPr>
          <a:lstStyle/>
          <a:p>
            <a:pPr>
              <a:defRPr sz="2600" b="1">
                <a:solidFill>
                  <a:srgbClr val="FFFFFF"/>
                </a:solidFill>
              </a:defRPr>
            </a:pPr>
            <a:r>
              <a:t>General System Flow &amp; Execution Pipelines</a:t>
            </a:r>
          </a:p>
        </p:txBody>
      </p:sp>
      <p:sp>
        <p:nvSpPr>
          <p:cNvPr id="5" name="Rounded Rectangle 4"/>
          <p:cNvSpPr/>
          <p:nvPr/>
        </p:nvSpPr>
        <p:spPr>
          <a:xfrm>
            <a:off x="731520" y="1645920"/>
            <a:ext cx="329184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3B82F6"/>
                </a:solidFill>
              </a:defRPr>
            </a:pPr>
            <a:r>
              <a:t>PIPELINE 01</a:t>
            </a:r>
          </a:p>
          <a:p>
            <a:pPr>
              <a:defRPr sz="1600" b="1">
                <a:solidFill>
                  <a:srgbClr val="FFFFFF"/>
                </a:solidFill>
              </a:defRPr>
            </a:pPr>
            <a:r>
              <a:t>Ingestion Stream</a:t>
            </a:r>
          </a:p>
          <a:p>
            <a:pPr>
              <a:defRPr sz="1200">
                <a:solidFill>
                  <a:srgbClr val="9CA3AF"/>
                </a:solidFill>
              </a:defRPr>
            </a:pPr>
            <a:r>
              <a:t>Sensor (Temp, Vib, Current, RPM) ➔ PLC ➔ IoT Gateway ➔ raw_sensor_data</a:t>
            </a:r>
          </a:p>
        </p:txBody>
      </p:sp>
      <p:sp>
        <p:nvSpPr>
          <p:cNvPr id="6" name="Rounded Rectangle 5"/>
          <p:cNvSpPr/>
          <p:nvPr/>
        </p:nvSpPr>
        <p:spPr>
          <a:xfrm>
            <a:off x="4297680" y="1645920"/>
            <a:ext cx="329184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2C55E"/>
                </a:solidFill>
              </a:defRPr>
            </a:pPr>
            <a:r>
              <a:t>PIPELINE 02 (30s)</a:t>
            </a:r>
          </a:p>
          <a:p>
            <a:pPr>
              <a:defRPr sz="1600" b="1">
                <a:solidFill>
                  <a:srgbClr val="FFFFFF"/>
                </a:solidFill>
              </a:defRPr>
            </a:pPr>
            <a:r>
              <a:t>Cleaning Engine</a:t>
            </a:r>
          </a:p>
          <a:p>
            <a:pPr>
              <a:defRPr sz="1200">
                <a:solidFill>
                  <a:srgbClr val="9CA3AF"/>
                </a:solidFill>
              </a:defRPr>
            </a:pPr>
            <a:r>
              <a:t>Pandas Data Validation &amp; 30s timestamp aggregation (Avg, RMS) ➔ clean_sensor_data</a:t>
            </a:r>
          </a:p>
        </p:txBody>
      </p:sp>
      <p:sp>
        <p:nvSpPr>
          <p:cNvPr id="7" name="Rounded Rectangle 6"/>
          <p:cNvSpPr/>
          <p:nvPr/>
        </p:nvSpPr>
        <p:spPr>
          <a:xfrm>
            <a:off x="7863840" y="1645920"/>
            <a:ext cx="329184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A855F7"/>
                </a:solidFill>
              </a:defRPr>
            </a:pPr>
            <a:r>
              <a:t>PIPELINE 03 (5m)</a:t>
            </a:r>
          </a:p>
          <a:p>
            <a:pPr>
              <a:defRPr sz="1600" b="1">
                <a:solidFill>
                  <a:srgbClr val="FFFFFF"/>
                </a:solidFill>
              </a:defRPr>
            </a:pPr>
            <a:r>
              <a:t>Feature &amp; Model Inference</a:t>
            </a:r>
          </a:p>
          <a:p>
            <a:pPr>
              <a:defRPr sz="1200">
                <a:solidFill>
                  <a:srgbClr val="9CA3AF"/>
                </a:solidFill>
              </a:defRPr>
            </a:pPr>
            <a:r>
              <a:t>Feature Extraction (FFT, Kurtosis) ➔ AI Cascade ➔ Decision Engine ➔ Dashboard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11</a:t>
            </a:r>
          </a:p>
        </p:txBody>
      </p:sp>
      <p:sp>
        <p:nvSpPr>
          <p:cNvPr id="4" name="TextBox 3"/>
          <p:cNvSpPr txBox="1"/>
          <p:nvPr/>
        </p:nvSpPr>
        <p:spPr>
          <a:xfrm>
            <a:off x="731520" y="640080"/>
            <a:ext cx="10058400" cy="731520"/>
          </a:xfrm>
          <a:prstGeom prst="rect">
            <a:avLst/>
          </a:prstGeom>
          <a:noFill/>
        </p:spPr>
        <p:txBody>
          <a:bodyPr wrap="none">
            <a:spAutoFit/>
          </a:bodyPr>
          <a:lstStyle/>
          <a:p>
            <a:pPr>
              <a:defRPr sz="2600" b="1">
                <a:solidFill>
                  <a:srgbClr val="FFFFFF"/>
                </a:solidFill>
              </a:defRPr>
            </a:pPr>
            <a:r>
              <a:t>AI Models Cascade Architecture</a:t>
            </a:r>
          </a:p>
        </p:txBody>
      </p:sp>
      <p:sp>
        <p:nvSpPr>
          <p:cNvPr id="5" name="Rounded Rectangle 4"/>
          <p:cNvSpPr/>
          <p:nvPr/>
        </p:nvSpPr>
        <p:spPr>
          <a:xfrm>
            <a:off x="731520" y="2011680"/>
            <a:ext cx="10424160" cy="2926080"/>
          </a:xfrm>
          <a:prstGeom prst="roundRect">
            <a:avLst/>
          </a:prstGeom>
          <a:solidFill>
            <a:srgbClr val="111827"/>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22C55E"/>
                </a:solidFill>
              </a:defRPr>
            </a:pPr>
            <a:r>
              <a:t>MULTI-STAGE AI CASCADE PIPELINE</a:t>
            </a:r>
          </a:p>
          <a:p>
            <a:pPr algn="ctr">
              <a:defRPr sz="1800" b="1">
                <a:solidFill>
                  <a:srgbClr val="FFFFFF"/>
                </a:solidFill>
              </a:defRPr>
            </a:pPr>
            <a:r>
              <a:t>feature_dataset   ➔   Model A1 (Anomaly)   ➔   Model A2 (Fault Class)   ➔   Model B (RUL)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12</a:t>
            </a:r>
          </a:p>
        </p:txBody>
      </p:sp>
      <p:sp>
        <p:nvSpPr>
          <p:cNvPr id="4" name="TextBox 3"/>
          <p:cNvSpPr txBox="1"/>
          <p:nvPr/>
        </p:nvSpPr>
        <p:spPr>
          <a:xfrm>
            <a:off x="731520" y="640080"/>
            <a:ext cx="10058400" cy="731520"/>
          </a:xfrm>
          <a:prstGeom prst="rect">
            <a:avLst/>
          </a:prstGeom>
          <a:noFill/>
        </p:spPr>
        <p:txBody>
          <a:bodyPr wrap="none">
            <a:spAutoFit/>
          </a:bodyPr>
          <a:lstStyle/>
          <a:p>
            <a:pPr>
              <a:defRPr sz="2600" b="1">
                <a:solidFill>
                  <a:srgbClr val="FFFFFF"/>
                </a:solidFill>
              </a:defRPr>
            </a:pPr>
            <a:r>
              <a:t>Model A1 — Anomaly Detection</a:t>
            </a:r>
          </a:p>
        </p:txBody>
      </p:sp>
      <p:sp>
        <p:nvSpPr>
          <p:cNvPr id="5" name="Rounded Rectangle 4"/>
          <p:cNvSpPr/>
          <p:nvPr/>
        </p:nvSpPr>
        <p:spPr>
          <a:xfrm>
            <a:off x="731520" y="1645920"/>
            <a:ext cx="5120640" cy="4114800"/>
          </a:xfrm>
          <a:prstGeom prst="roundRect">
            <a:avLst/>
          </a:prstGeom>
          <a:solidFill>
            <a:srgbClr val="111827"/>
          </a:solidFill>
          <a:ln>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3B82F6"/>
                </a:solidFill>
              </a:defRPr>
            </a:pPr>
            <a:r>
              <a:t>TECHNICAL SPECS</a:t>
            </a:r>
          </a:p>
          <a:p>
            <a:pPr>
              <a:defRPr sz="1200">
                <a:solidFill>
                  <a:srgbClr val="FFFFFF"/>
                </a:solidFill>
              </a:defRPr>
            </a:pPr>
            <a:r>
              <a:t>Dataset: SKAB &amp; Paderborn</a:t>
            </a:r>
            <a:br/>
            <a:r>
              <a:t>Algorithm: Unsupervised LSTM Autoencoder / Random Forest</a:t>
            </a:r>
            <a:br/>
            <a:r>
              <a:t>Input: 25 Rolling Features</a:t>
            </a:r>
            <a:br/>
            <a:r>
              <a:t>Output: Anomaly Score &amp; Binary Flag (0/1)</a:t>
            </a:r>
          </a:p>
        </p:txBody>
      </p:sp>
      <p:sp>
        <p:nvSpPr>
          <p:cNvPr id="6" name="Rounded Rectangle 5"/>
          <p:cNvSpPr/>
          <p:nvPr/>
        </p:nvSpPr>
        <p:spPr>
          <a:xfrm>
            <a:off x="6126480" y="1645920"/>
            <a:ext cx="5120640" cy="4114800"/>
          </a:xfrm>
          <a:prstGeom prst="roundRect">
            <a:avLst/>
          </a:prstGeom>
          <a:solidFill>
            <a:srgbClr val="111827"/>
          </a:solidFill>
          <a:ln>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3B82F6"/>
                </a:solidFill>
              </a:defRPr>
            </a:pPr>
            <a:r>
              <a:t>WORKFLOW EXECUTION</a:t>
            </a:r>
          </a:p>
          <a:p>
            <a:pPr>
              <a:defRPr sz="1200">
                <a:solidFill>
                  <a:srgbClr val="FFFFFF"/>
                </a:solidFill>
              </a:defRPr>
            </a:pPr>
            <a:r>
              <a:t>Model A1 merekonstruksi sinyal sensor normal. Jika selisih reconstruction loss melebihi threshold (1.005), sistem memicu indikasi awal deviasi kondisi mesin.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13</a:t>
            </a:r>
          </a:p>
        </p:txBody>
      </p:sp>
      <p:sp>
        <p:nvSpPr>
          <p:cNvPr id="4" name="TextBox 3"/>
          <p:cNvSpPr txBox="1"/>
          <p:nvPr/>
        </p:nvSpPr>
        <p:spPr>
          <a:xfrm>
            <a:off x="731520" y="640080"/>
            <a:ext cx="10058400" cy="731520"/>
          </a:xfrm>
          <a:prstGeom prst="rect">
            <a:avLst/>
          </a:prstGeom>
          <a:noFill/>
        </p:spPr>
        <p:txBody>
          <a:bodyPr wrap="none">
            <a:spAutoFit/>
          </a:bodyPr>
          <a:lstStyle/>
          <a:p>
            <a:pPr>
              <a:defRPr sz="2600" b="1">
                <a:solidFill>
                  <a:srgbClr val="FFFFFF"/>
                </a:solidFill>
              </a:defRPr>
            </a:pPr>
            <a:r>
              <a:t>Model A2 — Fault Classification</a:t>
            </a:r>
          </a:p>
        </p:txBody>
      </p:sp>
      <p:sp>
        <p:nvSpPr>
          <p:cNvPr id="5" name="Rounded Rectangle 4"/>
          <p:cNvSpPr/>
          <p:nvPr/>
        </p:nvSpPr>
        <p:spPr>
          <a:xfrm>
            <a:off x="731520" y="1645920"/>
            <a:ext cx="5120640" cy="4114800"/>
          </a:xfrm>
          <a:prstGeom prst="roundRect">
            <a:avLst/>
          </a:prstGeom>
          <a:solidFill>
            <a:srgbClr val="111827"/>
          </a:solidFill>
          <a:ln>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A855F7"/>
                </a:solidFill>
              </a:defRPr>
            </a:pPr>
            <a:r>
              <a:t>TECHNICAL SPECS</a:t>
            </a:r>
          </a:p>
          <a:p>
            <a:pPr>
              <a:defRPr sz="1200">
                <a:solidFill>
                  <a:srgbClr val="FFFFFF"/>
                </a:solidFill>
              </a:defRPr>
            </a:pPr>
            <a:r>
              <a:t>Dataset: CWRU Bearing &amp; Paderborn</a:t>
            </a:r>
            <a:br/>
            <a:r>
              <a:t>Algorithm: Supervised Gradient Boosting / MLP Classifier</a:t>
            </a:r>
            <a:br/>
            <a:r>
              <a:t>Input: Vibration FFT Spectrum &amp; Stator Current</a:t>
            </a:r>
            <a:br/>
            <a:r>
              <a:t>Output: Fault Category (Healthy, Inner Race, Outer Race, Roller)</a:t>
            </a:r>
          </a:p>
        </p:txBody>
      </p:sp>
      <p:sp>
        <p:nvSpPr>
          <p:cNvPr id="6" name="Rounded Rectangle 5"/>
          <p:cNvSpPr/>
          <p:nvPr/>
        </p:nvSpPr>
        <p:spPr>
          <a:xfrm>
            <a:off x="6126480" y="1645920"/>
            <a:ext cx="5120640" cy="4114800"/>
          </a:xfrm>
          <a:prstGeom prst="roundRect">
            <a:avLst/>
          </a:prstGeom>
          <a:solidFill>
            <a:srgbClr val="111827"/>
          </a:solidFill>
          <a:ln>
            <a:solidFill>
              <a:srgbClr val="A855F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A855F7"/>
                </a:solidFill>
              </a:defRPr>
            </a:pPr>
            <a:r>
              <a:t>DIAGNOSTIC CAPABILITY</a:t>
            </a:r>
          </a:p>
          <a:p>
            <a:pPr>
              <a:defRPr sz="1200">
                <a:solidFill>
                  <a:srgbClr val="FFFFFF"/>
                </a:solidFill>
              </a:defRPr>
            </a:pPr>
            <a:r>
              <a:t>Mengkategorikan lokasi pasti titik kerusakan mekanis dengan akurasi teruji 88.4% pada pengujian multi-kelas industri.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14</a:t>
            </a:r>
          </a:p>
        </p:txBody>
      </p:sp>
      <p:sp>
        <p:nvSpPr>
          <p:cNvPr id="4" name="TextBox 3"/>
          <p:cNvSpPr txBox="1"/>
          <p:nvPr/>
        </p:nvSpPr>
        <p:spPr>
          <a:xfrm>
            <a:off x="731520" y="640080"/>
            <a:ext cx="10058400" cy="731520"/>
          </a:xfrm>
          <a:prstGeom prst="rect">
            <a:avLst/>
          </a:prstGeom>
          <a:noFill/>
        </p:spPr>
        <p:txBody>
          <a:bodyPr wrap="none">
            <a:spAutoFit/>
          </a:bodyPr>
          <a:lstStyle/>
          <a:p>
            <a:pPr>
              <a:defRPr sz="2600" b="1">
                <a:solidFill>
                  <a:srgbClr val="FFFFFF"/>
                </a:solidFill>
              </a:defRPr>
            </a:pPr>
            <a:r>
              <a:t>Model B — Remaining Useful Life (RUL) Prediction</a:t>
            </a:r>
          </a:p>
        </p:txBody>
      </p:sp>
      <p:sp>
        <p:nvSpPr>
          <p:cNvPr id="5" name="Rounded Rectangle 4"/>
          <p:cNvSpPr/>
          <p:nvPr/>
        </p:nvSpPr>
        <p:spPr>
          <a:xfrm>
            <a:off x="731520" y="1645920"/>
            <a:ext cx="5120640" cy="4114800"/>
          </a:xfrm>
          <a:prstGeom prst="roundRect">
            <a:avLst/>
          </a:prstGeom>
          <a:solidFill>
            <a:srgbClr val="111827"/>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59E0B"/>
                </a:solidFill>
              </a:defRPr>
            </a:pPr>
            <a:r>
              <a:t>TECHNICAL SPECS</a:t>
            </a:r>
          </a:p>
          <a:p>
            <a:pPr>
              <a:defRPr sz="1200">
                <a:solidFill>
                  <a:srgbClr val="FFFFFF"/>
                </a:solidFill>
              </a:defRPr>
            </a:pPr>
            <a:r>
              <a:t>Dataset: NASA CMAPSS Turbofan FD001</a:t>
            </a:r>
            <a:br/>
            <a:r>
              <a:t>Algorithm: Deep LSTM Regressor dengan Asymmetric Loss</a:t>
            </a:r>
            <a:br/>
            <a:r>
              <a:t>Input: 30-Step Sequential Multi-Sensor Time-Series</a:t>
            </a:r>
            <a:br/>
            <a:r>
              <a:t>Output: RUL Remaining Hours / Cycles</a:t>
            </a:r>
          </a:p>
        </p:txBody>
      </p:sp>
      <p:sp>
        <p:nvSpPr>
          <p:cNvPr id="6" name="Rounded Rectangle 5"/>
          <p:cNvSpPr/>
          <p:nvPr/>
        </p:nvSpPr>
        <p:spPr>
          <a:xfrm>
            <a:off x="6126480" y="1645920"/>
            <a:ext cx="5120640" cy="4114800"/>
          </a:xfrm>
          <a:prstGeom prst="roundRect">
            <a:avLst/>
          </a:prstGeom>
          <a:solidFill>
            <a:srgbClr val="111827"/>
          </a:solidFill>
          <a:ln>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F59E0B"/>
                </a:solidFill>
              </a:defRPr>
            </a:pPr>
            <a:r>
              <a:t>ASYMMETRIC LOSS OPTIMIZATION</a:t>
            </a:r>
          </a:p>
          <a:p>
            <a:pPr>
              <a:defRPr sz="1200">
                <a:solidFill>
                  <a:srgbClr val="FFFFFF"/>
                </a:solidFill>
              </a:defRPr>
            </a:pPr>
            <a:r>
              <a:t>Menggunakan penalti asimetris NASA (penalti keterlambatan prediksi jauh lebih besar daripada prediksi lebih awal) untuk menjamin keselamatan operasional pabrik.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15</a:t>
            </a:r>
          </a:p>
        </p:txBody>
      </p:sp>
      <p:sp>
        <p:nvSpPr>
          <p:cNvPr id="4" name="TextBox 3"/>
          <p:cNvSpPr txBox="1"/>
          <p:nvPr/>
        </p:nvSpPr>
        <p:spPr>
          <a:xfrm>
            <a:off x="731520" y="640080"/>
            <a:ext cx="10058400" cy="731520"/>
          </a:xfrm>
          <a:prstGeom prst="rect">
            <a:avLst/>
          </a:prstGeom>
          <a:noFill/>
        </p:spPr>
        <p:txBody>
          <a:bodyPr wrap="none">
            <a:spAutoFit/>
          </a:bodyPr>
          <a:lstStyle/>
          <a:p>
            <a:pPr>
              <a:defRPr sz="2600" b="1">
                <a:solidFill>
                  <a:srgbClr val="FFFFFF"/>
                </a:solidFill>
              </a:defRPr>
            </a:pPr>
            <a:r>
              <a:t>Decision Engine &amp; False Alarm Suppression</a:t>
            </a:r>
          </a:p>
        </p:txBody>
      </p:sp>
      <p:sp>
        <p:nvSpPr>
          <p:cNvPr id="5" name="Rounded Rectangle 4"/>
          <p:cNvSpPr/>
          <p:nvPr/>
        </p:nvSpPr>
        <p:spPr>
          <a:xfrm>
            <a:off x="731520" y="1645920"/>
            <a:ext cx="10424160" cy="1371600"/>
          </a:xfrm>
          <a:prstGeom prst="roundRect">
            <a:avLst/>
          </a:prstGeom>
          <a:solidFill>
            <a:srgbClr val="111827"/>
          </a:solidFill>
          <a:ln>
            <a:solidFill>
              <a:srgbClr val="22C55E"/>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2C55E"/>
                </a:solidFill>
              </a:defRPr>
            </a:pPr>
            <a:r>
              <a:t>DECISION ENGINE LAYERED FLOW</a:t>
            </a:r>
          </a:p>
          <a:p>
            <a:pPr algn="ctr">
              <a:defRPr sz="1100" b="1">
                <a:solidFill>
                  <a:srgbClr val="FFFFFF"/>
                </a:solidFill>
              </a:defRPr>
            </a:pPr>
            <a:r>
              <a:t>Prediction ➔ Business Rules ➔ Persistence Check ➔ Context Validation ➔ False Alarm Suppression ➔ Alert Cooldown ➔ Recommendation &amp; Email</a:t>
            </a:r>
          </a:p>
        </p:txBody>
      </p:sp>
      <p:sp>
        <p:nvSpPr>
          <p:cNvPr id="6" name="Rounded Rectangle 5"/>
          <p:cNvSpPr/>
          <p:nvPr/>
        </p:nvSpPr>
        <p:spPr>
          <a:xfrm>
            <a:off x="731520" y="3291840"/>
            <a:ext cx="3291840" cy="256032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22C55E"/>
                </a:solidFill>
              </a:defRPr>
            </a:pPr>
            <a:r>
              <a:t>1. Business Rules &amp; Context</a:t>
            </a:r>
          </a:p>
          <a:p>
            <a:pPr>
              <a:defRPr sz="1100">
                <a:solidFill>
                  <a:srgbClr val="9CA3AF"/>
                </a:solidFill>
              </a:defRPr>
            </a:pPr>
            <a:r>
              <a:t>Aturan batas daya/rpm sesuai tipe mesin &amp; konteks status operasi steady state.</a:t>
            </a:r>
          </a:p>
        </p:txBody>
      </p:sp>
      <p:sp>
        <p:nvSpPr>
          <p:cNvPr id="7" name="Rounded Rectangle 6"/>
          <p:cNvSpPr/>
          <p:nvPr/>
        </p:nvSpPr>
        <p:spPr>
          <a:xfrm>
            <a:off x="4297680" y="3291840"/>
            <a:ext cx="3291840" cy="256032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22C55E"/>
                </a:solidFill>
              </a:defRPr>
            </a:pPr>
            <a:r>
              <a:t>2. Multi-Model Support Check</a:t>
            </a:r>
          </a:p>
          <a:p>
            <a:pPr>
              <a:defRPr sz="1100">
                <a:solidFill>
                  <a:srgbClr val="9CA3AF"/>
                </a:solidFill>
              </a:defRPr>
            </a:pPr>
            <a:r>
              <a:t>Notifikasi hanya dikirim jika Model A1, A2, dan B saling mengonfirmasi.</a:t>
            </a:r>
          </a:p>
        </p:txBody>
      </p:sp>
      <p:sp>
        <p:nvSpPr>
          <p:cNvPr id="8" name="Rounded Rectangle 7"/>
          <p:cNvSpPr/>
          <p:nvPr/>
        </p:nvSpPr>
        <p:spPr>
          <a:xfrm>
            <a:off x="7863840" y="3291840"/>
            <a:ext cx="3291840" cy="256032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22C55E"/>
                </a:solidFill>
              </a:defRPr>
            </a:pPr>
            <a:r>
              <a:t>3. Cooldown &amp; Escalation</a:t>
            </a:r>
          </a:p>
          <a:p>
            <a:pPr>
              <a:defRPr sz="1100">
                <a:solidFill>
                  <a:srgbClr val="9CA3AF"/>
                </a:solidFill>
              </a:defRPr>
            </a:pPr>
            <a:r>
              <a:t>Mencegah spam email dengan cooldown period &amp; eskalasi otomatis ke tim maintenance.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16</a:t>
            </a:r>
          </a:p>
        </p:txBody>
      </p:sp>
      <p:sp>
        <p:nvSpPr>
          <p:cNvPr id="4" name="TextBox 3"/>
          <p:cNvSpPr txBox="1"/>
          <p:nvPr/>
        </p:nvSpPr>
        <p:spPr>
          <a:xfrm>
            <a:off x="731520" y="640080"/>
            <a:ext cx="10058400" cy="731520"/>
          </a:xfrm>
          <a:prstGeom prst="rect">
            <a:avLst/>
          </a:prstGeom>
          <a:noFill/>
        </p:spPr>
        <p:txBody>
          <a:bodyPr wrap="none">
            <a:spAutoFit/>
          </a:bodyPr>
          <a:lstStyle/>
          <a:p>
            <a:pPr>
              <a:defRPr sz="2600" b="1">
                <a:solidFill>
                  <a:srgbClr val="FFFFFF"/>
                </a:solidFill>
              </a:defRPr>
            </a:pPr>
            <a:r>
              <a:t>System Model Performance &amp; Metrics</a:t>
            </a:r>
          </a:p>
        </p:txBody>
      </p:sp>
      <p:graphicFrame>
        <p:nvGraphicFramePr>
          <p:cNvPr id="5" name="Table 4"/>
          <p:cNvGraphicFramePr>
            <a:graphicFrameLocks noGrp="1"/>
          </p:cNvGraphicFramePr>
          <p:nvPr/>
        </p:nvGraphicFramePr>
        <p:xfrm>
          <a:off x="731520" y="1645920"/>
          <a:ext cx="10424160" cy="4114800"/>
        </p:xfrm>
        <a:graphic>
          <a:graphicData uri="http://schemas.openxmlformats.org/drawingml/2006/table">
            <a:tbl>
              <a:tblPr firstRow="1" bandRow="1">
                <a:tableStyleId>{5C22544A-7EE6-4342-B048-85BDC9FD1C3A}</a:tableStyleId>
              </a:tblPr>
              <a:tblGrid>
                <a:gridCol w="2926080"/>
                <a:gridCol w="2926080"/>
                <a:gridCol w="4572000"/>
              </a:tblGrid>
              <a:tr h="514350">
                <a:tc>
                  <a:txBody>
                    <a:bodyPr/>
                    <a:lstStyle/>
                    <a:p>
                      <a:pPr>
                        <a:defRPr b="1" sz="1200">
                          <a:solidFill>
                            <a:srgbClr val="22C55E"/>
                          </a:solidFill>
                        </a:defRPr>
                      </a:pPr>
                      <a:r>
                        <a:t>Evaluation Metric</a:t>
                      </a:r>
                    </a:p>
                  </a:txBody>
                  <a:tcPr>
                    <a:solidFill>
                      <a:srgbClr val="111827"/>
                    </a:solidFill>
                  </a:tcPr>
                </a:tc>
                <a:tc>
                  <a:txBody>
                    <a:bodyPr/>
                    <a:lstStyle/>
                    <a:p>
                      <a:pPr>
                        <a:defRPr b="1" sz="1200">
                          <a:solidFill>
                            <a:srgbClr val="22C55E"/>
                          </a:solidFill>
                        </a:defRPr>
                      </a:pPr>
                      <a:r>
                        <a:t>Industrial Benchmark Value</a:t>
                      </a:r>
                    </a:p>
                  </a:txBody>
                  <a:tcPr>
                    <a:solidFill>
                      <a:srgbClr val="111827"/>
                    </a:solidFill>
                  </a:tcPr>
                </a:tc>
                <a:tc>
                  <a:txBody>
                    <a:bodyPr/>
                    <a:lstStyle/>
                    <a:p>
                      <a:pPr>
                        <a:defRPr b="1" sz="1200">
                          <a:solidFill>
                            <a:srgbClr val="22C55E"/>
                          </a:solidFill>
                        </a:defRPr>
                      </a:pPr>
                      <a:r>
                        <a:t>Evaluation Note</a:t>
                      </a:r>
                    </a:p>
                  </a:txBody>
                  <a:tcPr>
                    <a:solidFill>
                      <a:srgbClr val="111827"/>
                    </a:solidFill>
                  </a:tcPr>
                </a:tc>
              </a:tr>
              <a:tr h="514350">
                <a:tc>
                  <a:txBody>
                    <a:bodyPr/>
                    <a:lstStyle/>
                    <a:p>
                      <a:pPr>
                        <a:defRPr sz="1100">
                          <a:solidFill>
                            <a:srgbClr val="FFFFFF"/>
                          </a:solidFill>
                        </a:defRPr>
                      </a:pPr>
                      <a:r>
                        <a:t>Overall Test Accuracy</a:t>
                      </a:r>
                    </a:p>
                  </a:txBody>
                  <a:tcPr>
                    <a:solidFill>
                      <a:srgbClr val="111827"/>
                    </a:solidFill>
                  </a:tcPr>
                </a:tc>
                <a:tc>
                  <a:txBody>
                    <a:bodyPr/>
                    <a:lstStyle/>
                    <a:p>
                      <a:pPr>
                        <a:defRPr sz="1100">
                          <a:solidFill>
                            <a:srgbClr val="22C55E"/>
                          </a:solidFill>
                        </a:defRPr>
                      </a:pPr>
                      <a:r>
                        <a:t>88.4%</a:t>
                      </a:r>
                    </a:p>
                  </a:txBody>
                  <a:tcPr>
                    <a:solidFill>
                      <a:srgbClr val="111827"/>
                    </a:solidFill>
                  </a:tcPr>
                </a:tc>
                <a:tc>
                  <a:txBody>
                    <a:bodyPr/>
                    <a:lstStyle/>
                    <a:p>
                      <a:pPr>
                        <a:defRPr sz="1100">
                          <a:solidFill>
                            <a:srgbClr val="9CA3AF"/>
                          </a:solidFill>
                        </a:defRPr>
                      </a:pPr>
                      <a:r>
                        <a:t>Trained &amp; tested on 10-class bearing &amp; motor fault datasets</a:t>
                      </a:r>
                    </a:p>
                  </a:txBody>
                  <a:tcPr>
                    <a:solidFill>
                      <a:srgbClr val="111827"/>
                    </a:solidFill>
                  </a:tcPr>
                </a:tc>
              </a:tr>
              <a:tr h="514350">
                <a:tc>
                  <a:txBody>
                    <a:bodyPr/>
                    <a:lstStyle/>
                    <a:p>
                      <a:pPr>
                        <a:defRPr sz="1100">
                          <a:solidFill>
                            <a:srgbClr val="FFFFFF"/>
                          </a:solidFill>
                        </a:defRPr>
                      </a:pPr>
                      <a:r>
                        <a:t>Precision Rate</a:t>
                      </a:r>
                    </a:p>
                  </a:txBody>
                  <a:tcPr>
                    <a:solidFill>
                      <a:srgbClr val="111827"/>
                    </a:solidFill>
                  </a:tcPr>
                </a:tc>
                <a:tc>
                  <a:txBody>
                    <a:bodyPr/>
                    <a:lstStyle/>
                    <a:p>
                      <a:pPr>
                        <a:defRPr sz="1100">
                          <a:solidFill>
                            <a:srgbClr val="22C55E"/>
                          </a:solidFill>
                        </a:defRPr>
                      </a:pPr>
                      <a:r>
                        <a:t>92.4%</a:t>
                      </a:r>
                    </a:p>
                  </a:txBody>
                  <a:tcPr>
                    <a:solidFill>
                      <a:srgbClr val="111827"/>
                    </a:solidFill>
                  </a:tcPr>
                </a:tc>
                <a:tc>
                  <a:txBody>
                    <a:bodyPr/>
                    <a:lstStyle/>
                    <a:p>
                      <a:pPr>
                        <a:defRPr sz="1100">
                          <a:solidFill>
                            <a:srgbClr val="9CA3AF"/>
                          </a:solidFill>
                        </a:defRPr>
                      </a:pPr>
                      <a:r>
                        <a:t>High precision to prevent unnecessary component replacement</a:t>
                      </a:r>
                    </a:p>
                  </a:txBody>
                  <a:tcPr>
                    <a:solidFill>
                      <a:srgbClr val="111827"/>
                    </a:solidFill>
                  </a:tcPr>
                </a:tc>
              </a:tr>
              <a:tr h="514350">
                <a:tc>
                  <a:txBody>
                    <a:bodyPr/>
                    <a:lstStyle/>
                    <a:p>
                      <a:pPr>
                        <a:defRPr sz="1100">
                          <a:solidFill>
                            <a:srgbClr val="FFFFFF"/>
                          </a:solidFill>
                        </a:defRPr>
                      </a:pPr>
                      <a:r>
                        <a:t>Recall Rate</a:t>
                      </a:r>
                    </a:p>
                  </a:txBody>
                  <a:tcPr>
                    <a:solidFill>
                      <a:srgbClr val="111827"/>
                    </a:solidFill>
                  </a:tcPr>
                </a:tc>
                <a:tc>
                  <a:txBody>
                    <a:bodyPr/>
                    <a:lstStyle/>
                    <a:p>
                      <a:pPr>
                        <a:defRPr sz="1100">
                          <a:solidFill>
                            <a:srgbClr val="22C55E"/>
                          </a:solidFill>
                        </a:defRPr>
                      </a:pPr>
                      <a:r>
                        <a:t>88.6%</a:t>
                      </a:r>
                    </a:p>
                  </a:txBody>
                  <a:tcPr>
                    <a:solidFill>
                      <a:srgbClr val="111827"/>
                    </a:solidFill>
                  </a:tcPr>
                </a:tc>
                <a:tc>
                  <a:txBody>
                    <a:bodyPr/>
                    <a:lstStyle/>
                    <a:p>
                      <a:pPr>
                        <a:defRPr sz="1100">
                          <a:solidFill>
                            <a:srgbClr val="9CA3AF"/>
                          </a:solidFill>
                        </a:defRPr>
                      </a:pPr>
                      <a:r>
                        <a:t>High sensitivity for early micro-fault detection</a:t>
                      </a:r>
                    </a:p>
                  </a:txBody>
                  <a:tcPr>
                    <a:solidFill>
                      <a:srgbClr val="111827"/>
                    </a:solidFill>
                  </a:tcPr>
                </a:tc>
              </a:tr>
              <a:tr h="514350">
                <a:tc>
                  <a:txBody>
                    <a:bodyPr/>
                    <a:lstStyle/>
                    <a:p>
                      <a:pPr>
                        <a:defRPr sz="1100">
                          <a:solidFill>
                            <a:srgbClr val="FFFFFF"/>
                          </a:solidFill>
                        </a:defRPr>
                      </a:pPr>
                      <a:r>
                        <a:t>Weighted F1 Score</a:t>
                      </a:r>
                    </a:p>
                  </a:txBody>
                  <a:tcPr>
                    <a:solidFill>
                      <a:srgbClr val="111827"/>
                    </a:solidFill>
                  </a:tcPr>
                </a:tc>
                <a:tc>
                  <a:txBody>
                    <a:bodyPr/>
                    <a:lstStyle/>
                    <a:p>
                      <a:pPr>
                        <a:defRPr sz="1100">
                          <a:solidFill>
                            <a:srgbClr val="22C55E"/>
                          </a:solidFill>
                        </a:defRPr>
                      </a:pPr>
                      <a:r>
                        <a:t>0.882</a:t>
                      </a:r>
                    </a:p>
                  </a:txBody>
                  <a:tcPr>
                    <a:solidFill>
                      <a:srgbClr val="111827"/>
                    </a:solidFill>
                  </a:tcPr>
                </a:tc>
                <a:tc>
                  <a:txBody>
                    <a:bodyPr/>
                    <a:lstStyle/>
                    <a:p>
                      <a:pPr>
                        <a:defRPr sz="1100">
                          <a:solidFill>
                            <a:srgbClr val="9CA3AF"/>
                          </a:solidFill>
                        </a:defRPr>
                      </a:pPr>
                      <a:r>
                        <a:t>Harmonic mean across balanced and imbalanced fault classes</a:t>
                      </a:r>
                    </a:p>
                  </a:txBody>
                  <a:tcPr>
                    <a:solidFill>
                      <a:srgbClr val="111827"/>
                    </a:solidFill>
                  </a:tcPr>
                </a:tc>
              </a:tr>
              <a:tr h="514350">
                <a:tc>
                  <a:txBody>
                    <a:bodyPr/>
                    <a:lstStyle/>
                    <a:p>
                      <a:pPr>
                        <a:defRPr sz="1100">
                          <a:solidFill>
                            <a:srgbClr val="FFFFFF"/>
                          </a:solidFill>
                        </a:defRPr>
                      </a:pPr>
                      <a:r>
                        <a:t>RUL Prediction MAE</a:t>
                      </a:r>
                    </a:p>
                  </a:txBody>
                  <a:tcPr>
                    <a:solidFill>
                      <a:srgbClr val="111827"/>
                    </a:solidFill>
                  </a:tcPr>
                </a:tc>
                <a:tc>
                  <a:txBody>
                    <a:bodyPr/>
                    <a:lstStyle/>
                    <a:p>
                      <a:pPr>
                        <a:defRPr sz="1100">
                          <a:solidFill>
                            <a:srgbClr val="22C55E"/>
                          </a:solidFill>
                        </a:defRPr>
                      </a:pPr>
                      <a:r>
                        <a:t>10.24 cycles</a:t>
                      </a:r>
                    </a:p>
                  </a:txBody>
                  <a:tcPr>
                    <a:solidFill>
                      <a:srgbClr val="111827"/>
                    </a:solidFill>
                  </a:tcPr>
                </a:tc>
                <a:tc>
                  <a:txBody>
                    <a:bodyPr/>
                    <a:lstStyle/>
                    <a:p>
                      <a:pPr>
                        <a:defRPr sz="1100">
                          <a:solidFill>
                            <a:srgbClr val="9CA3AF"/>
                          </a:solidFill>
                        </a:defRPr>
                      </a:pPr>
                      <a:r>
                        <a:t>CMAPSS FD001 benchmark evaluation error margin</a:t>
                      </a:r>
                    </a:p>
                  </a:txBody>
                  <a:tcPr>
                    <a:solidFill>
                      <a:srgbClr val="111827"/>
                    </a:solidFill>
                  </a:tcPr>
                </a:tc>
              </a:tr>
              <a:tr h="514350">
                <a:tc>
                  <a:txBody>
                    <a:bodyPr/>
                    <a:lstStyle/>
                    <a:p>
                      <a:pPr>
                        <a:defRPr sz="1100">
                          <a:solidFill>
                            <a:srgbClr val="FFFFFF"/>
                          </a:solidFill>
                        </a:defRPr>
                      </a:pPr>
                      <a:r>
                        <a:t>False Alarm Reduction</a:t>
                      </a:r>
                    </a:p>
                  </a:txBody>
                  <a:tcPr>
                    <a:solidFill>
                      <a:srgbClr val="111827"/>
                    </a:solidFill>
                  </a:tcPr>
                </a:tc>
                <a:tc>
                  <a:txBody>
                    <a:bodyPr/>
                    <a:lstStyle/>
                    <a:p>
                      <a:pPr>
                        <a:defRPr sz="1100">
                          <a:solidFill>
                            <a:srgbClr val="22C55E"/>
                          </a:solidFill>
                        </a:defRPr>
                      </a:pPr>
                      <a:r>
                        <a:t>94.2%</a:t>
                      </a:r>
                    </a:p>
                  </a:txBody>
                  <a:tcPr>
                    <a:solidFill>
                      <a:srgbClr val="111827"/>
                    </a:solidFill>
                  </a:tcPr>
                </a:tc>
                <a:tc>
                  <a:txBody>
                    <a:bodyPr/>
                    <a:lstStyle/>
                    <a:p>
                      <a:pPr>
                        <a:defRPr sz="1100">
                          <a:solidFill>
                            <a:srgbClr val="9CA3AF"/>
                          </a:solidFill>
                        </a:defRPr>
                      </a:pPr>
                      <a:r>
                        <a:t>Achieved via Decision Engine multi-layer consensus rules</a:t>
                      </a:r>
                    </a:p>
                  </a:txBody>
                  <a:tcPr>
                    <a:solidFill>
                      <a:srgbClr val="111827"/>
                    </a:solidFill>
                  </a:tcPr>
                </a:tc>
              </a:tr>
              <a:tr h="514350">
                <a:tc>
                  <a:txBody>
                    <a:bodyPr/>
                    <a:lstStyle/>
                    <a:p>
                      <a:pPr>
                        <a:defRPr sz="1100">
                          <a:solidFill>
                            <a:srgbClr val="FFFFFF"/>
                          </a:solidFill>
                        </a:defRPr>
                      </a:pPr>
                      <a:r>
                        <a:t>Inference Latency</a:t>
                      </a:r>
                    </a:p>
                  </a:txBody>
                  <a:tcPr>
                    <a:solidFill>
                      <a:srgbClr val="111827"/>
                    </a:solidFill>
                  </a:tcPr>
                </a:tc>
                <a:tc>
                  <a:txBody>
                    <a:bodyPr/>
                    <a:lstStyle/>
                    <a:p>
                      <a:pPr>
                        <a:defRPr sz="1100">
                          <a:solidFill>
                            <a:srgbClr val="22C55E"/>
                          </a:solidFill>
                        </a:defRPr>
                      </a:pPr>
                      <a:r>
                        <a:t>12.5 ms</a:t>
                      </a:r>
                    </a:p>
                  </a:txBody>
                  <a:tcPr>
                    <a:solidFill>
                      <a:srgbClr val="111827"/>
                    </a:solidFill>
                  </a:tcPr>
                </a:tc>
                <a:tc>
                  <a:txBody>
                    <a:bodyPr/>
                    <a:lstStyle/>
                    <a:p>
                      <a:pPr>
                        <a:defRPr sz="1100">
                          <a:solidFill>
                            <a:srgbClr val="9CA3AF"/>
                          </a:solidFill>
                        </a:defRPr>
                      </a:pPr>
                      <a:r>
                        <a:t>Ultra-fast inference latency for real-time streaming ingestion</a:t>
                      </a:r>
                    </a:p>
                  </a:txBody>
                  <a:tcPr>
                    <a:solidFill>
                      <a:srgbClr val="111827"/>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365760"/>
            <a:ext cx="1828800" cy="365760"/>
          </a:xfrm>
          <a:prstGeom prst="rect">
            <a:avLst/>
          </a:prstGeom>
          <a:noFill/>
        </p:spPr>
        <p:txBody>
          <a:bodyPr wrap="none">
            <a:spAutoFit/>
          </a:bodyPr>
          <a:lstStyle/>
          <a:p>
            <a:pPr>
              <a:defRPr sz="1100" b="1">
                <a:solidFill>
                  <a:srgbClr val="22C55E"/>
                </a:solidFill>
              </a:defRPr>
            </a:pPr>
            <a:r>
              <a:t>SLIDE 17</a:t>
            </a:r>
          </a:p>
        </p:txBody>
      </p:sp>
      <p:sp>
        <p:nvSpPr>
          <p:cNvPr id="4" name="TextBox 3"/>
          <p:cNvSpPr txBox="1"/>
          <p:nvPr/>
        </p:nvSpPr>
        <p:spPr>
          <a:xfrm>
            <a:off x="731520" y="640080"/>
            <a:ext cx="10058400" cy="731520"/>
          </a:xfrm>
          <a:prstGeom prst="rect">
            <a:avLst/>
          </a:prstGeom>
          <a:noFill/>
        </p:spPr>
        <p:txBody>
          <a:bodyPr wrap="none">
            <a:spAutoFit/>
          </a:bodyPr>
          <a:lstStyle/>
          <a:p>
            <a:pPr>
              <a:defRPr sz="2600" b="1">
                <a:solidFill>
                  <a:srgbClr val="FFFFFF"/>
                </a:solidFill>
              </a:defRPr>
            </a:pPr>
            <a:r>
              <a:t>Dashboard Live Demo &amp; Operational Walkthrough</a:t>
            </a:r>
          </a:p>
        </p:txBody>
      </p:sp>
      <p:sp>
        <p:nvSpPr>
          <p:cNvPr id="5" name="Rounded Rectangle 4"/>
          <p:cNvSpPr/>
          <p:nvPr/>
        </p:nvSpPr>
        <p:spPr>
          <a:xfrm>
            <a:off x="731520" y="1645920"/>
            <a:ext cx="246888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2C55E"/>
                </a:solidFill>
              </a:defRPr>
            </a:pPr>
            <a:r>
              <a:t>STEP 1</a:t>
            </a:r>
          </a:p>
          <a:p>
            <a:pPr>
              <a:defRPr sz="1500" b="1">
                <a:solidFill>
                  <a:srgbClr val="FFFFFF"/>
                </a:solidFill>
              </a:defRPr>
            </a:pPr>
            <a:r>
              <a:t>Overview</a:t>
            </a:r>
          </a:p>
          <a:p>
            <a:pPr>
              <a:defRPr sz="1100">
                <a:solidFill>
                  <a:srgbClr val="9CA3AF"/>
                </a:solidFill>
              </a:defRPr>
            </a:pPr>
            <a:r>
              <a:t>Supervisor membuka dashboard &amp; memantau KPI Overall Health (46%) dan kartu CCP At Risk.</a:t>
            </a:r>
          </a:p>
        </p:txBody>
      </p:sp>
      <p:sp>
        <p:nvSpPr>
          <p:cNvPr id="6" name="Rounded Rectangle 5"/>
          <p:cNvSpPr/>
          <p:nvPr/>
        </p:nvSpPr>
        <p:spPr>
          <a:xfrm>
            <a:off x="3383280" y="1645920"/>
            <a:ext cx="246888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2C55E"/>
                </a:solidFill>
              </a:defRPr>
            </a:pPr>
            <a:r>
              <a:t>STEP 2</a:t>
            </a:r>
          </a:p>
          <a:p>
            <a:pPr>
              <a:defRPr sz="1500" b="1">
                <a:solidFill>
                  <a:srgbClr val="FFFFFF"/>
                </a:solidFill>
              </a:defRPr>
            </a:pPr>
            <a:r>
              <a:t>Machine Monitoring</a:t>
            </a:r>
          </a:p>
          <a:p>
            <a:pPr>
              <a:defRPr sz="1100">
                <a:solidFill>
                  <a:srgbClr val="9CA3AF"/>
                </a:solidFill>
              </a:defRPr>
            </a:pPr>
            <a:r>
              <a:t>Melihat status Motor MTR-01 berstatus Critical &amp; MTR-04 Warning pada tabel real-time.</a:t>
            </a:r>
          </a:p>
        </p:txBody>
      </p:sp>
      <p:sp>
        <p:nvSpPr>
          <p:cNvPr id="7" name="Rounded Rectangle 6"/>
          <p:cNvSpPr/>
          <p:nvPr/>
        </p:nvSpPr>
        <p:spPr>
          <a:xfrm>
            <a:off x="6035040" y="1645920"/>
            <a:ext cx="246888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2C55E"/>
                </a:solidFill>
              </a:defRPr>
            </a:pPr>
            <a:r>
              <a:t>STEP 3</a:t>
            </a:r>
          </a:p>
          <a:p>
            <a:pPr>
              <a:defRPr sz="1500" b="1">
                <a:solidFill>
                  <a:srgbClr val="FFFFFF"/>
                </a:solidFill>
              </a:defRPr>
            </a:pPr>
            <a:r>
              <a:t>Prediction &amp; Detail</a:t>
            </a:r>
          </a:p>
          <a:p>
            <a:pPr>
              <a:defRPr sz="1100">
                <a:solidFill>
                  <a:srgbClr val="9CA3AF"/>
                </a:solidFill>
              </a:defRPr>
            </a:pPr>
            <a:r>
              <a:t>Membuka drawer detail ➔ Sinyal getaran naik ➔ RUL sisa 5 hari ➔ Rekomendasi ganti bearing.</a:t>
            </a:r>
          </a:p>
        </p:txBody>
      </p:sp>
      <p:sp>
        <p:nvSpPr>
          <p:cNvPr id="8" name="Rounded Rectangle 7"/>
          <p:cNvSpPr/>
          <p:nvPr/>
        </p:nvSpPr>
        <p:spPr>
          <a:xfrm>
            <a:off x="8686800" y="1645920"/>
            <a:ext cx="2468880" cy="4114800"/>
          </a:xfrm>
          <a:prstGeom prst="roundRect">
            <a:avLst/>
          </a:prstGeom>
          <a:solidFill>
            <a:srgbClr val="111827"/>
          </a:solidFill>
          <a:ln>
            <a:solidFill>
              <a:srgbClr val="1F2937"/>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22C55E"/>
                </a:solidFill>
              </a:defRPr>
            </a:pPr>
            <a:r>
              <a:t>STEP 4</a:t>
            </a:r>
          </a:p>
          <a:p>
            <a:pPr>
              <a:defRPr sz="1500" b="1">
                <a:solidFill>
                  <a:srgbClr val="FFFFFF"/>
                </a:solidFill>
              </a:defRPr>
            </a:pPr>
            <a:r>
              <a:t>Work Order &amp; Email</a:t>
            </a:r>
          </a:p>
          <a:p>
            <a:pPr>
              <a:defRPr sz="1100">
                <a:solidFill>
                  <a:srgbClr val="9CA3AF"/>
                </a:solidFill>
              </a:defRPr>
            </a:pPr>
            <a:r>
              <a:t>Sistem mengirim email otomatis ke engineer ➔ Work Order terbuat sebelum downtime terjadi.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9"/>
          </a:solidFill>
          <a:ln>
            <a:solidFill>
              <a:srgbClr val="0B0F1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011680"/>
            <a:ext cx="10362895" cy="2743200"/>
          </a:xfrm>
          <a:prstGeom prst="rect">
            <a:avLst/>
          </a:prstGeom>
          <a:noFill/>
        </p:spPr>
        <p:txBody>
          <a:bodyPr wrap="none">
            <a:spAutoFit/>
          </a:bodyPr>
          <a:lstStyle/>
          <a:p>
            <a:pPr algn="ctr">
              <a:defRPr sz="4800" b="1">
                <a:solidFill>
                  <a:srgbClr val="FFFFFF"/>
                </a:solidFill>
              </a:defRPr>
            </a:pPr>
            <a:r>
              <a:t>Question &amp; Answer Session</a:t>
            </a:r>
          </a:p>
          <a:p>
            <a:pPr algn="ctr">
              <a:defRPr sz="2000" b="1">
                <a:solidFill>
                  <a:srgbClr val="22C55E"/>
                </a:solidFill>
              </a:defRPr>
            </a:pPr>
            <a:r>
              <a:t>MaintenX Solution Architecture &amp; AI Team</a:t>
            </a:r>
          </a:p>
          <a:p>
            <a:pPr algn="ctr">
              <a:defRPr sz="1300">
                <a:solidFill>
                  <a:srgbClr val="9CA3AF"/>
                </a:solidFill>
              </a:defRPr>
            </a:pPr>
            <a:r>
              <a:t>Terima kasih atas perhatian jajaran manajemen ASTRA Industrial Operations. Kami siap mendiskusikan integrasi sistem lebih lanjut.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