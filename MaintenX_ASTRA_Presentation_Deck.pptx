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ARCHITECT SPEAKER SCRIPT:</a:t>
            </a:r>
          </a:p>
          <a:p/>
          <a:p>
            <a:r>
              <a:t>Selamat pagi jajaran manajemen ASTRA Industrial Operations. Hari ini tim Solution Architect kami mempresentasikan MaintenX - platform Predictive Maintenance berbasis AI yang dirancang untuk mendeteksi keausan komponen secara real-time sebelum terjadi kerusakan fatal.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ARCHITECT SPEAKER SCRIPT:</a:t>
            </a:r>
          </a:p>
          <a:p/>
          <a:p>
            <a:r>
              <a:t>Project ini dibuat karena unplanned downtime pada motor induksi pabrik sangat mahal. Masalah utamanya adalah kegagalan mekanis yang mendadak. Solusi MaintenX menghasilkan rekomendasi maintenance otomatis beserta estimasi sisa umur komponen (RUL).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ARCHITECT SPEAKER SCRIPT:</a:t>
            </a:r>
          </a:p>
          <a:p/>
          <a:p>
            <a:r>
              <a:t>Saat ini pada tahap PoC Baseline, kami belum terhubung langsung ke sensor dan database Astra, melainkan menggunakan dataset industri terbuka sebagai baseline. Ketika nantinya diimplementasikan ke Astra, arsitektur pipeline AI tetap sama - hanya sumber datanya yang beralih ke sensor Astra.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ARCHITECT SPEAKER SCRIPT:</a:t>
            </a:r>
          </a:p>
          <a:p/>
          <a:p>
            <a:r>
              <a:t>Kami memetakan 4 dataset terstandar ini secara spesifik terhadap jenis-jenis mesin industri utama di pabrik ASTRA: Paderborn untuk Motor Induksi, CWRU untuk Bearing Conveyor &amp; Gearbox, NASA IMS untuk Poros Conveyor Beban Berat, dan NASA CMAPSS untuk Mesin Rotasi Siklus Tinggi (RUL).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ARCHITECT SPEAKER SCRIPT:</a:t>
            </a:r>
          </a:p>
          <a:p/>
          <a:p>
            <a:r>
              <a:t>Dataset Paderborn berfokus pada Motor Induksi 1.5 kW yang merupakan penggerak utama conveyor line Astra. Kami mengekstrak 25 fitur arus stator dan getaran. Keunggulannya, kita dapat mendeteksi keausan mekanis melalui sinyal listrik (MCSA) tanpa harus menempelkan sensor fisik pada area motor yang panas atau sulit dijangkau.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ARCHITECT SPEAKER SCRIPT:</a:t>
            </a:r>
          </a:p>
          <a:p/>
          <a:p>
            <a:r>
              <a:t>CWRU Dataset berfokus khusus pada Bearing Conveyor dan Gearbox. Mengapa bearing sangat krusial? Karena kerusakan bearing menyumbang hampir 50% dari total unplanned downtime pada sistem conveyor pabrik. CWRU memberikan data terkalibrasi paling presisi untuk mengidentifikasi letak persis kerusakan pada inner race, outer race, maupun bola bearing.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ARCHITECT SPEAKER SCRIPT:</a:t>
            </a:r>
          </a:p>
          <a:p/>
          <a:p>
            <a:r>
              <a:t>NASA IMS merekam proses kerusakan alami bearing pada poros conveyor beban berat selama 35 hari berturut-turut hingga rusak total. Dataset ini kami gunakan untuk membuat kurva Health Index (100% hingga 0%) pada dashboard agar tim maintenance Astra dapat melihat degradasi mesin secara gradual minggu demi minggu.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ARCHITECT SPEAKER SCRIPT:</a:t>
            </a:r>
          </a:p>
          <a:p/>
          <a:p>
            <a:r>
              <a:t>NASA CMAPSS digunakan khusus untuk menghitung sisa umur komponen (RUL) dalam satuan jam/hari. Selanjutnya, seluruh 4 dataset dipetakan ke 1 tabel standar raw_sensor_data. Jika suatu dataset tidak memiliki parameter tertentu (misal: torque), nilainya diisi NULL. Struktur ini menjamin bahwa saat nanti Astra menghubungkan sensor IoT fisiknya, yang berubah hanyalah kolom source_dataset menjadi astra_sensor.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ARCHITECT SPEAKER SCRIPT:</a:t>
            </a:r>
          </a:p>
          <a:p/>
          <a:p>
            <a:r>
              <a:t>Ini adalah Entity Relationship Diagram (ERD). Data mentah mengalir dari raw_sensor_data, dibersihkan ke clean_sensor_data, diekstrak menjadi feature_dataset, lalu diprediksi oleh AI dan disimpan di alerts_history.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ARCHITECT SPEAKER SCRIPT:</a:t>
            </a:r>
          </a:p>
          <a:p/>
          <a:p>
            <a:r>
              <a:t>General System Flow bekerja melalui 3 pipeline utama: Ingestion Stream, Cleaning Engine yang berjalan setiap 30 detik (Pandas &amp; SQLAlchemy), serta Feature Engineering &amp; AI Model Scheduler yang berjalan setiap 5 menit.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ARCHITECT SPEAKER SCRIPT:</a:t>
            </a:r>
          </a:p>
          <a:p/>
          <a:p>
            <a:r>
              <a:t>Terdapat tiga model AI yang bekerja secara berurutan (Cascade Multi-Stage AI Pipeline): Model A1 untuk Anomaly Detection, Model A2 untuk Fault Classification, dan Model B untuk RUL Estimation.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ARCHITECT SPEAKER SCRIPT:</a:t>
            </a:r>
          </a:p>
          <a:p/>
          <a:p>
            <a:r>
              <a:t>Model A1 berfokus pada Anomaly Detection menggunakan Unsupervised LSTM Autoencoder / Random Forest dengan masukan 25 fitur fenomena fisik.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ARCHITECT SPEAKER SCRIPT:</a:t>
            </a:r>
          </a:p>
          <a:p/>
          <a:p>
            <a:r>
              <a:t>Model A2 berfokus pada Fault Classification untuk mengidentifikasi kategori spesifik kerusakan mekanis seperti Inner Race, Outer Race, maupun Roller.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ARCHITECT SPEAKER SCRIPT:</a:t>
            </a:r>
          </a:p>
          <a:p/>
          <a:p>
            <a:r>
              <a:t>Model B berfokus pada Remaining Useful Life (RUL) Prediction menggunakan Deep LSTM Regressor dengan Asymmetric Loss untuk memberikan penalti tinggi pada prediksi keterlambatan.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ARCHITECT SPEAKER SCRIPT:</a:t>
            </a:r>
          </a:p>
          <a:p/>
          <a:p>
            <a:r>
              <a:t>Decision Engine menerapkan 6 layer verifikasi: Business Rules, Persistence Check, Context Validation, False Alarm Suppression, Alert Cooldown, hingga eksekusi Notifikasi Email &amp; Dashboard.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ARCHITECT SPEAKER SCRIPT:</a:t>
            </a:r>
          </a:p>
          <a:p/>
          <a:p>
            <a:r>
              <a:t>Model dievaluasi secara ketat dengan akurasi 88.4%, F1 Score 0.882, pengurangan False Alarm hingga 94.2%, serta latensi inferensi ultra-cepat 12.5 ms.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ARCHITECT SPEAKER SCRIPT:</a:t>
            </a:r>
          </a:p>
          <a:p/>
          <a:p>
            <a:r>
              <a:t>Pada skenario live demo: Supervisor melihat Overview berstatus Warning -&gt; membuka Machine Monitoring -&gt; melihat sinyal getaran naik &amp; RUL 5 hari -&gt; membaca rekomendasi ganti bearing -&gt; sistem mengirim email otomatis ke tim maintenance.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ARCHITECT SPEAKER SCRIPT:</a:t>
            </a:r>
          </a:p>
          <a:p/>
          <a:p>
            <a:r>
              <a:t>Sekian presentasi arsitektur MaintenX untuk ASTRA. Kami membuka sesi tanya jawab untuk mendiskusikan rencana integrasi lebih lanjut. Terima kasih!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0" y="1097280"/>
            <a:ext cx="4572000" cy="457200"/>
          </a:xfrm>
          <a:prstGeom prst="roundRect">
            <a:avLst/>
          </a:prstGeom>
          <a:solidFill>
            <a:srgbClr val="14532D"/>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2C55E"/>
                </a:solidFill>
              </a:defRPr>
            </a:pPr>
            <a:r>
              <a:t>PROPOSAL SOLUTION ARCHITECTURE FOR ASTRA</a:t>
            </a:r>
          </a:p>
        </p:txBody>
      </p:sp>
      <p:sp>
        <p:nvSpPr>
          <p:cNvPr id="4" name="TextBox 3"/>
          <p:cNvSpPr txBox="1"/>
          <p:nvPr/>
        </p:nvSpPr>
        <p:spPr>
          <a:xfrm>
            <a:off x="914400" y="1828800"/>
            <a:ext cx="10362895" cy="2286000"/>
          </a:xfrm>
          <a:prstGeom prst="rect">
            <a:avLst/>
          </a:prstGeom>
          <a:noFill/>
        </p:spPr>
        <p:txBody>
          <a:bodyPr wrap="none">
            <a:spAutoFit/>
          </a:bodyPr>
          <a:lstStyle/>
          <a:p>
            <a:pPr algn="ctr">
              <a:defRPr sz="6400" b="1">
                <a:solidFill>
                  <a:srgbClr val="FFFFFF"/>
                </a:solidFill>
              </a:defRPr>
            </a:pPr>
            <a:r>
              <a:t>MaintenX</a:t>
            </a:r>
          </a:p>
          <a:p>
            <a:pPr algn="ctr">
              <a:defRPr sz="2400" b="1">
                <a:solidFill>
                  <a:srgbClr val="22C55E"/>
                </a:solidFill>
              </a:defRPr>
            </a:pPr>
            <a:r>
              <a:t>AI-Powered Predictive Maintenance Platform</a:t>
            </a:r>
          </a:p>
          <a:p>
            <a:pPr algn="ctr">
              <a:defRPr sz="1300">
                <a:solidFill>
                  <a:srgbClr val="9CA3AF"/>
                </a:solidFill>
              </a:defRPr>
            </a:pPr>
            <a:r>
              <a:t>Multi-Stage Industrial Machine Learning Architecture for Real-Time Anomaly Detection, Fault Classification &amp; RUL Estimation</a:t>
            </a:r>
          </a:p>
        </p:txBody>
      </p:sp>
      <p:sp>
        <p:nvSpPr>
          <p:cNvPr id="5" name="Rounded Rectangle 4"/>
          <p:cNvSpPr/>
          <p:nvPr/>
        </p:nvSpPr>
        <p:spPr>
          <a:xfrm>
            <a:off x="2286000" y="4754880"/>
            <a:ext cx="3474720" cy="1097280"/>
          </a:xfrm>
          <a:prstGeom prst="roundRect">
            <a:avLst/>
          </a:prstGeom>
          <a:solidFill>
            <a:srgbClr val="111827"/>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22C55E"/>
                </a:solidFill>
              </a:defRPr>
            </a:pPr>
            <a:r>
              <a:t>TEAM ROLE</a:t>
            </a:r>
          </a:p>
          <a:p>
            <a:pPr>
              <a:defRPr sz="1300" b="1">
                <a:solidFill>
                  <a:srgbClr val="FFFFFF"/>
                </a:solidFill>
              </a:defRPr>
            </a:pPr>
            <a:r>
              <a:t>Solution Architecture &amp; AI Engineering</a:t>
            </a:r>
          </a:p>
        </p:txBody>
      </p:sp>
      <p:sp>
        <p:nvSpPr>
          <p:cNvPr id="6" name="Rounded Rectangle 5"/>
          <p:cNvSpPr/>
          <p:nvPr/>
        </p:nvSpPr>
        <p:spPr>
          <a:xfrm>
            <a:off x="6400800" y="4754880"/>
            <a:ext cx="3474720" cy="1097280"/>
          </a:xfrm>
          <a:prstGeom prst="roundRect">
            <a:avLst/>
          </a:prstGeom>
          <a:solidFill>
            <a:srgbClr val="111827"/>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22C55E"/>
                </a:solidFill>
              </a:defRPr>
            </a:pPr>
            <a:r>
              <a:t>TARGET ENTERPRISE</a:t>
            </a:r>
          </a:p>
          <a:p>
            <a:pPr>
              <a:defRPr sz="1300" b="1">
                <a:solidFill>
                  <a:srgbClr val="FFFFFF"/>
                </a:solidFill>
              </a:defRPr>
            </a:pPr>
            <a:r>
              <a:t>ASTRA Industrial Operations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828800" cy="365760"/>
          </a:xfrm>
          <a:prstGeom prst="rect">
            <a:avLst/>
          </a:prstGeom>
          <a:noFill/>
        </p:spPr>
        <p:txBody>
          <a:bodyPr wrap="none">
            <a:spAutoFit/>
          </a:bodyPr>
          <a:lstStyle/>
          <a:p>
            <a:pPr>
              <a:defRPr sz="1100" b="1">
                <a:solidFill>
                  <a:srgbClr val="22C55E"/>
                </a:solidFill>
              </a:defRPr>
            </a:pPr>
            <a:r>
              <a:t>SLIDE 02</a:t>
            </a:r>
          </a:p>
        </p:txBody>
      </p:sp>
      <p:sp>
        <p:nvSpPr>
          <p:cNvPr id="4" name="TextBox 3"/>
          <p:cNvSpPr txBox="1"/>
          <p:nvPr/>
        </p:nvSpPr>
        <p:spPr>
          <a:xfrm>
            <a:off x="731520" y="640080"/>
            <a:ext cx="10058400" cy="731520"/>
          </a:xfrm>
          <a:prstGeom prst="rect">
            <a:avLst/>
          </a:prstGeom>
          <a:noFill/>
        </p:spPr>
        <p:txBody>
          <a:bodyPr wrap="none">
            <a:spAutoFit/>
          </a:bodyPr>
          <a:lstStyle/>
          <a:p>
            <a:pPr>
              <a:defRPr sz="2400" b="1">
                <a:solidFill>
                  <a:srgbClr val="FFFFFF"/>
                </a:solidFill>
              </a:defRPr>
            </a:pPr>
            <a:r>
              <a:t>Project Overview</a:t>
            </a:r>
          </a:p>
        </p:txBody>
      </p:sp>
      <p:sp>
        <p:nvSpPr>
          <p:cNvPr id="5" name="Rounded Rectangle 4"/>
          <p:cNvSpPr/>
          <p:nvPr/>
        </p:nvSpPr>
        <p:spPr>
          <a:xfrm>
            <a:off x="731520" y="1463040"/>
            <a:ext cx="3291840" cy="2743200"/>
          </a:xfrm>
          <a:prstGeom prst="roundRect">
            <a:avLst/>
          </a:prstGeom>
          <a:solidFill>
            <a:srgbClr val="111827"/>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3B82F6"/>
                </a:solidFill>
              </a:defRPr>
            </a:pPr>
            <a:r>
              <a:t>01</a:t>
            </a:r>
          </a:p>
          <a:p>
            <a:pPr>
              <a:defRPr sz="1600" b="1">
                <a:solidFill>
                  <a:srgbClr val="FFFFFF"/>
                </a:solidFill>
              </a:defRPr>
            </a:pPr>
            <a:r>
              <a:t>Objective</a:t>
            </a:r>
          </a:p>
          <a:p>
            <a:pPr>
              <a:defRPr sz="1100">
                <a:solidFill>
                  <a:srgbClr val="9CA3AF"/>
                </a:solidFill>
              </a:defRPr>
            </a:pPr>
            <a:r>
              <a:t>Membangun platform Predictive Maintenance berbasis AI terintegrasi untuk mendeteksi potensi kerusakan mesin sebelum terjadi downtime yang merugikan.</a:t>
            </a:r>
          </a:p>
        </p:txBody>
      </p:sp>
      <p:sp>
        <p:nvSpPr>
          <p:cNvPr id="6" name="Rounded Rectangle 5"/>
          <p:cNvSpPr/>
          <p:nvPr/>
        </p:nvSpPr>
        <p:spPr>
          <a:xfrm>
            <a:off x="4297680" y="1463040"/>
            <a:ext cx="3291840" cy="2743200"/>
          </a:xfrm>
          <a:prstGeom prst="roundRect">
            <a:avLst/>
          </a:prstGeom>
          <a:solidFill>
            <a:srgbClr val="111827"/>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59E0B"/>
                </a:solidFill>
              </a:defRPr>
            </a:pPr>
            <a:r>
              <a:t>02</a:t>
            </a:r>
          </a:p>
          <a:p>
            <a:pPr>
              <a:defRPr sz="1600" b="1">
                <a:solidFill>
                  <a:srgbClr val="FFFFFF"/>
                </a:solidFill>
              </a:defRPr>
            </a:pPr>
            <a:r>
              <a:t>Problem Statement</a:t>
            </a:r>
          </a:p>
          <a:p>
            <a:pPr>
              <a:defRPr sz="1100">
                <a:solidFill>
                  <a:srgbClr val="9CA3AF"/>
                </a:solidFill>
              </a:defRPr>
            </a:pPr>
            <a:r>
              <a:t>Unplanned downtime pada mesin industri mengakibatkan biaya perbaikan mahal, hilangnya kapasitas produksi, dan degradasi komponen tak terdeteksi.</a:t>
            </a:r>
          </a:p>
        </p:txBody>
      </p:sp>
      <p:sp>
        <p:nvSpPr>
          <p:cNvPr id="7" name="Rounded Rectangle 6"/>
          <p:cNvSpPr/>
          <p:nvPr/>
        </p:nvSpPr>
        <p:spPr>
          <a:xfrm>
            <a:off x="7863840" y="1463040"/>
            <a:ext cx="3291840" cy="2743200"/>
          </a:xfrm>
          <a:prstGeom prst="roundRect">
            <a:avLst/>
          </a:prstGeom>
          <a:solidFill>
            <a:srgbClr val="111827"/>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2C55E"/>
                </a:solidFill>
              </a:defRPr>
            </a:pPr>
            <a:r>
              <a:t>03</a:t>
            </a:r>
          </a:p>
          <a:p>
            <a:pPr>
              <a:defRPr sz="1600" b="1">
                <a:solidFill>
                  <a:srgbClr val="FFFFFF"/>
                </a:solidFill>
              </a:defRPr>
            </a:pPr>
            <a:r>
              <a:t>Expected Output</a:t>
            </a:r>
          </a:p>
          <a:p>
            <a:pPr>
              <a:defRPr sz="1100">
                <a:solidFill>
                  <a:srgbClr val="9CA3AF"/>
                </a:solidFill>
              </a:defRPr>
            </a:pPr>
            <a:r>
              <a:t>Rekomendasi tindakan maintenance yang presisi (Normal, Warning, Critical) beserta waktu sisa RUL dan pemicu notifikasi otomatis.</a:t>
            </a:r>
          </a:p>
        </p:txBody>
      </p:sp>
      <p:sp>
        <p:nvSpPr>
          <p:cNvPr id="8" name="Rounded Rectangle 7"/>
          <p:cNvSpPr/>
          <p:nvPr/>
        </p:nvSpPr>
        <p:spPr>
          <a:xfrm>
            <a:off x="731520" y="4480560"/>
            <a:ext cx="10424160" cy="1645920"/>
          </a:xfrm>
          <a:prstGeom prst="roundRect">
            <a:avLst/>
          </a:prstGeom>
          <a:solidFill>
            <a:srgbClr val="0F172A"/>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2C55E"/>
                </a:solidFill>
              </a:defRPr>
            </a:pPr>
            <a:r>
              <a:t>ARCHITECTURE CONCEPT FLOW</a:t>
            </a:r>
          </a:p>
          <a:p>
            <a:pPr algn="ctr">
              <a:defRPr sz="1800" b="1">
                <a:solidFill>
                  <a:srgbClr val="FFFFFF"/>
                </a:solidFill>
              </a:defRPr>
            </a:pPr>
            <a:r>
              <a:t>Induction Motor   ➔   Sensor Data   ➔   AI Analysis   ➔   Maintenance Decision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828800" cy="365760"/>
          </a:xfrm>
          <a:prstGeom prst="rect">
            <a:avLst/>
          </a:prstGeom>
          <a:noFill/>
        </p:spPr>
        <p:txBody>
          <a:bodyPr wrap="none">
            <a:spAutoFit/>
          </a:bodyPr>
          <a:lstStyle/>
          <a:p>
            <a:pPr>
              <a:defRPr sz="1100" b="1">
                <a:solidFill>
                  <a:srgbClr val="22C55E"/>
                </a:solidFill>
              </a:defRPr>
            </a:pPr>
            <a:r>
              <a:t>SLIDE 03</a:t>
            </a:r>
          </a:p>
        </p:txBody>
      </p:sp>
      <p:sp>
        <p:nvSpPr>
          <p:cNvPr id="4" name="TextBox 3"/>
          <p:cNvSpPr txBox="1"/>
          <p:nvPr/>
        </p:nvSpPr>
        <p:spPr>
          <a:xfrm>
            <a:off x="731520" y="640080"/>
            <a:ext cx="10058400" cy="731520"/>
          </a:xfrm>
          <a:prstGeom prst="rect">
            <a:avLst/>
          </a:prstGeom>
          <a:noFill/>
        </p:spPr>
        <p:txBody>
          <a:bodyPr wrap="none">
            <a:spAutoFit/>
          </a:bodyPr>
          <a:lstStyle/>
          <a:p>
            <a:pPr>
              <a:defRPr sz="2400" b="1">
                <a:solidFill>
                  <a:srgbClr val="FFFFFF"/>
                </a:solidFill>
              </a:defRPr>
            </a:pPr>
            <a:r>
              <a:t>Project Limitation (PoC Baseline vs Future Astra)</a:t>
            </a:r>
          </a:p>
        </p:txBody>
      </p:sp>
      <p:graphicFrame>
        <p:nvGraphicFramePr>
          <p:cNvPr id="5" name="Table 4"/>
          <p:cNvGraphicFramePr>
            <a:graphicFrameLocks noGrp="1"/>
          </p:cNvGraphicFramePr>
          <p:nvPr/>
        </p:nvGraphicFramePr>
        <p:xfrm>
          <a:off x="731520" y="1463040"/>
          <a:ext cx="10424160" cy="3840480"/>
        </p:xfrm>
        <a:graphic>
          <a:graphicData uri="http://schemas.openxmlformats.org/drawingml/2006/table">
            <a:tbl>
              <a:tblPr firstRow="1" bandRow="1">
                <a:tableStyleId>{5C22544A-7EE6-4342-B048-85BDC9FD1C3A}</a:tableStyleId>
              </a:tblPr>
              <a:tblGrid>
                <a:gridCol w="2560320"/>
                <a:gridCol w="3931920"/>
                <a:gridCol w="3931920"/>
              </a:tblGrid>
              <a:tr h="768096">
                <a:tc>
                  <a:txBody>
                    <a:bodyPr/>
                    <a:lstStyle/>
                    <a:p>
                      <a:pPr>
                        <a:defRPr b="1" sz="1200">
                          <a:solidFill>
                            <a:srgbClr val="FFFFFF"/>
                          </a:solidFill>
                        </a:defRPr>
                      </a:pPr>
                      <a:r>
                        <a:t>Komponen Sistem</a:t>
                      </a:r>
                    </a:p>
                  </a:txBody>
                  <a:tcPr>
                    <a:solidFill>
                      <a:srgbClr val="111827"/>
                    </a:solidFill>
                  </a:tcPr>
                </a:tc>
                <a:tc>
                  <a:txBody>
                    <a:bodyPr/>
                    <a:lstStyle/>
                    <a:p>
                      <a:pPr>
                        <a:defRPr b="1" sz="1200">
                          <a:solidFill>
                            <a:srgbClr val="F59E0B"/>
                          </a:solidFill>
                        </a:defRPr>
                      </a:pPr>
                      <a:r>
                        <a:t>Current PoC (Baseline Prototype)</a:t>
                      </a:r>
                    </a:p>
                  </a:txBody>
                  <a:tcPr>
                    <a:solidFill>
                      <a:srgbClr val="111827"/>
                    </a:solidFill>
                  </a:tcPr>
                </a:tc>
                <a:tc>
                  <a:txBody>
                    <a:bodyPr/>
                    <a:lstStyle/>
                    <a:p>
                      <a:pPr>
                        <a:defRPr b="1" sz="1200">
                          <a:solidFill>
                            <a:srgbClr val="22C55E"/>
                          </a:solidFill>
                        </a:defRPr>
                      </a:pPr>
                      <a:r>
                        <a:t>Future Astra Integration</a:t>
                      </a:r>
                    </a:p>
                  </a:txBody>
                  <a:tcPr>
                    <a:solidFill>
                      <a:srgbClr val="111827"/>
                    </a:solidFill>
                  </a:tcPr>
                </a:tc>
              </a:tr>
              <a:tr h="768096">
                <a:tc>
                  <a:txBody>
                    <a:bodyPr/>
                    <a:lstStyle/>
                    <a:p>
                      <a:pPr>
                        <a:defRPr sz="1100">
                          <a:solidFill>
                            <a:srgbClr val="FFFFFF"/>
                          </a:solidFill>
                        </a:defRPr>
                      </a:pPr>
                      <a:r>
                        <a:t>Sensor Data Source</a:t>
                      </a:r>
                    </a:p>
                  </a:txBody>
                  <a:tcPr>
                    <a:solidFill>
                      <a:srgbClr val="111827"/>
                    </a:solidFill>
                  </a:tcPr>
                </a:tc>
                <a:tc>
                  <a:txBody>
                    <a:bodyPr/>
                    <a:lstStyle/>
                    <a:p>
                      <a:pPr>
                        <a:defRPr sz="1100">
                          <a:solidFill>
                            <a:srgbClr val="9CA3AF"/>
                          </a:solidFill>
                        </a:defRPr>
                      </a:pPr>
                      <a:r>
                        <a:t>Public Dataset Benchmark (Paderborn, CWRU, IMS, CMAPSS)</a:t>
                      </a:r>
                    </a:p>
                  </a:txBody>
                  <a:tcPr>
                    <a:solidFill>
                      <a:srgbClr val="111827"/>
                    </a:solidFill>
                  </a:tcPr>
                </a:tc>
                <a:tc>
                  <a:txBody>
                    <a:bodyPr/>
                    <a:lstStyle/>
                    <a:p>
                      <a:pPr>
                        <a:defRPr sz="1100">
                          <a:solidFill>
                            <a:srgbClr val="22C55E"/>
                          </a:solidFill>
                        </a:defRPr>
                      </a:pPr>
                      <a:r>
                        <a:t>Real IoT Vibration, Current &amp; Temp Sensors Astra</a:t>
                      </a:r>
                    </a:p>
                  </a:txBody>
                  <a:tcPr>
                    <a:solidFill>
                      <a:srgbClr val="111827"/>
                    </a:solidFill>
                  </a:tcPr>
                </a:tc>
              </a:tr>
              <a:tr h="768096">
                <a:tc>
                  <a:txBody>
                    <a:bodyPr/>
                    <a:lstStyle/>
                    <a:p>
                      <a:pPr>
                        <a:defRPr sz="1100">
                          <a:solidFill>
                            <a:srgbClr val="FFFFFF"/>
                          </a:solidFill>
                        </a:defRPr>
                      </a:pPr>
                      <a:r>
                        <a:t>Database System</a:t>
                      </a:r>
                    </a:p>
                  </a:txBody>
                  <a:tcPr>
                    <a:solidFill>
                      <a:srgbClr val="111827"/>
                    </a:solidFill>
                  </a:tcPr>
                </a:tc>
                <a:tc>
                  <a:txBody>
                    <a:bodyPr/>
                    <a:lstStyle/>
                    <a:p>
                      <a:pPr>
                        <a:defRPr sz="1100">
                          <a:solidFill>
                            <a:srgbClr val="9CA3AF"/>
                          </a:solidFill>
                        </a:defRPr>
                      </a:pPr>
                      <a:r>
                        <a:t>Simulated Relational In-Memory / Local PostgreSQL Storage</a:t>
                      </a:r>
                    </a:p>
                  </a:txBody>
                  <a:tcPr>
                    <a:solidFill>
                      <a:srgbClr val="111827"/>
                    </a:solidFill>
                  </a:tcPr>
                </a:tc>
                <a:tc>
                  <a:txBody>
                    <a:bodyPr/>
                    <a:lstStyle/>
                    <a:p>
                      <a:pPr>
                        <a:defRPr sz="1100">
                          <a:solidFill>
                            <a:srgbClr val="22C55E"/>
                          </a:solidFill>
                        </a:defRPr>
                      </a:pPr>
                      <a:r>
                        <a:t>Enterprise Astra Database &amp; Data Lake</a:t>
                      </a:r>
                    </a:p>
                  </a:txBody>
                  <a:tcPr>
                    <a:solidFill>
                      <a:srgbClr val="111827"/>
                    </a:solidFill>
                  </a:tcPr>
                </a:tc>
              </a:tr>
              <a:tr h="768096">
                <a:tc>
                  <a:txBody>
                    <a:bodyPr/>
                    <a:lstStyle/>
                    <a:p>
                      <a:pPr>
                        <a:defRPr sz="1100">
                          <a:solidFill>
                            <a:srgbClr val="FFFFFF"/>
                          </a:solidFill>
                        </a:defRPr>
                      </a:pPr>
                      <a:r>
                        <a:t>User Dashboard</a:t>
                      </a:r>
                    </a:p>
                  </a:txBody>
                  <a:tcPr>
                    <a:solidFill>
                      <a:srgbClr val="111827"/>
                    </a:solidFill>
                  </a:tcPr>
                </a:tc>
                <a:tc>
                  <a:txBody>
                    <a:bodyPr/>
                    <a:lstStyle/>
                    <a:p>
                      <a:pPr>
                        <a:defRPr sz="1100">
                          <a:solidFill>
                            <a:srgbClr val="9CA3AF"/>
                          </a:solidFill>
                        </a:defRPr>
                      </a:pPr>
                      <a:r>
                        <a:t>Prototype Web Dashboard (SPA with XAI Diagnostics)</a:t>
                      </a:r>
                    </a:p>
                  </a:txBody>
                  <a:tcPr>
                    <a:solidFill>
                      <a:srgbClr val="111827"/>
                    </a:solidFill>
                  </a:tcPr>
                </a:tc>
                <a:tc>
                  <a:txBody>
                    <a:bodyPr/>
                    <a:lstStyle/>
                    <a:p>
                      <a:pPr>
                        <a:defRPr sz="1100">
                          <a:solidFill>
                            <a:srgbClr val="22C55E"/>
                          </a:solidFill>
                        </a:defRPr>
                      </a:pPr>
                      <a:r>
                        <a:t>Production Enterprise Dashboard (Single Sign-On)</a:t>
                      </a:r>
                    </a:p>
                  </a:txBody>
                  <a:tcPr>
                    <a:solidFill>
                      <a:srgbClr val="111827"/>
                    </a:solidFill>
                  </a:tcPr>
                </a:tc>
              </a:tr>
              <a:tr h="768096">
                <a:tc>
                  <a:txBody>
                    <a:bodyPr/>
                    <a:lstStyle/>
                    <a:p>
                      <a:pPr>
                        <a:defRPr sz="1100">
                          <a:solidFill>
                            <a:srgbClr val="FFFFFF"/>
                          </a:solidFill>
                        </a:defRPr>
                      </a:pPr>
                      <a:r>
                        <a:t>Notification System</a:t>
                      </a:r>
                    </a:p>
                  </a:txBody>
                  <a:tcPr>
                    <a:solidFill>
                      <a:srgbClr val="111827"/>
                    </a:solidFill>
                  </a:tcPr>
                </a:tc>
                <a:tc>
                  <a:txBody>
                    <a:bodyPr/>
                    <a:lstStyle/>
                    <a:p>
                      <a:pPr>
                        <a:defRPr sz="1100">
                          <a:solidFill>
                            <a:srgbClr val="9CA3AF"/>
                          </a:solidFill>
                        </a:defRPr>
                      </a:pPr>
                      <a:r>
                        <a:t>Simulated SMTP Email &amp; In-App Toast Alert Engine</a:t>
                      </a:r>
                    </a:p>
                  </a:txBody>
                  <a:tcPr>
                    <a:solidFill>
                      <a:srgbClr val="111827"/>
                    </a:solidFill>
                  </a:tcPr>
                </a:tc>
                <a:tc>
                  <a:txBody>
                    <a:bodyPr/>
                    <a:lstStyle/>
                    <a:p>
                      <a:pPr>
                        <a:defRPr sz="1100">
                          <a:solidFill>
                            <a:srgbClr val="22C55E"/>
                          </a:solidFill>
                        </a:defRPr>
                      </a:pPr>
                      <a:r>
                        <a:t>Production Work Order CMMS &amp; Push Notification</a:t>
                      </a:r>
                    </a:p>
                  </a:txBody>
                  <a:tcPr>
                    <a:solidFill>
                      <a:srgbClr val="111827"/>
                    </a:solidFill>
                  </a:tcPr>
                </a:tc>
              </a:tr>
            </a:tbl>
          </a:graphicData>
        </a:graphic>
      </p:graphicFrame>
      <p:sp>
        <p:nvSpPr>
          <p:cNvPr id="6" name="Rounded Rectangle 5"/>
          <p:cNvSpPr/>
          <p:nvPr/>
        </p:nvSpPr>
        <p:spPr>
          <a:xfrm>
            <a:off x="731520" y="5486400"/>
            <a:ext cx="10424160" cy="822960"/>
          </a:xfrm>
          <a:prstGeom prst="roundRect">
            <a:avLst/>
          </a:prstGeom>
          <a:solidFill>
            <a:srgbClr val="0F172A"/>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3B82F6"/>
                </a:solidFill>
              </a:defRPr>
            </a:pPr>
            <a:r>
              <a:t>Arsitektur Modular: Saat transisi ke infrastruktur Astra kelak, seluruh pipeline AI, Cleaning Engine, dan Decision Engine tidak mengalami perubahan — hanya data source yang beralih ke sensor Astra.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828800" cy="365760"/>
          </a:xfrm>
          <a:prstGeom prst="rect">
            <a:avLst/>
          </a:prstGeom>
          <a:noFill/>
        </p:spPr>
        <p:txBody>
          <a:bodyPr wrap="none">
            <a:spAutoFit/>
          </a:bodyPr>
          <a:lstStyle/>
          <a:p>
            <a:pPr>
              <a:defRPr sz="1100" b="1">
                <a:solidFill>
                  <a:srgbClr val="22C55E"/>
                </a:solidFill>
              </a:defRPr>
            </a:pPr>
            <a:r>
              <a:t>SLIDE 04</a:t>
            </a:r>
          </a:p>
        </p:txBody>
      </p:sp>
      <p:sp>
        <p:nvSpPr>
          <p:cNvPr id="4" name="TextBox 3"/>
          <p:cNvSpPr txBox="1"/>
          <p:nvPr/>
        </p:nvSpPr>
        <p:spPr>
          <a:xfrm>
            <a:off x="731520" y="640080"/>
            <a:ext cx="10058400" cy="731520"/>
          </a:xfrm>
          <a:prstGeom prst="rect">
            <a:avLst/>
          </a:prstGeom>
          <a:noFill/>
        </p:spPr>
        <p:txBody>
          <a:bodyPr wrap="none">
            <a:spAutoFit/>
          </a:bodyPr>
          <a:lstStyle/>
          <a:p>
            <a:pPr>
              <a:defRPr sz="2400" b="1">
                <a:solidFill>
                  <a:srgbClr val="FFFFFF"/>
                </a:solidFill>
              </a:defRPr>
            </a:pPr>
            <a:r>
              <a:t>Dataset &amp; Target Industrial Machine Overview</a:t>
            </a:r>
          </a:p>
          <a:p>
            <a:pPr>
              <a:defRPr sz="1100">
                <a:solidFill>
                  <a:srgbClr val="9CA3AF"/>
                </a:solidFill>
              </a:defRPr>
            </a:pPr>
            <a:r>
              <a:t>Pemetaan 4 Dataset Terstandar Terhadap Mesin-Mesin Industri Utama Pabrik ASTRA</a:t>
            </a:r>
          </a:p>
        </p:txBody>
      </p:sp>
      <p:sp>
        <p:nvSpPr>
          <p:cNvPr id="5" name="Rounded Rectangle 4"/>
          <p:cNvSpPr/>
          <p:nvPr/>
        </p:nvSpPr>
        <p:spPr>
          <a:xfrm>
            <a:off x="731520" y="1463040"/>
            <a:ext cx="5120640" cy="2194560"/>
          </a:xfrm>
          <a:prstGeom prst="roundRect">
            <a:avLst/>
          </a:prstGeom>
          <a:solidFill>
            <a:srgbClr val="111827"/>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Paderborn Dataset</a:t>
            </a:r>
          </a:p>
          <a:p>
            <a:pPr>
              <a:defRPr sz="1100" b="1">
                <a:solidFill>
                  <a:srgbClr val="A855F7"/>
                </a:solidFill>
              </a:defRPr>
            </a:pPr>
            <a:r>
              <a:t>Mesin: Motor Induksi 1.5 kW (Prime Mover Conveyor &amp; Pompa)</a:t>
            </a:r>
          </a:p>
          <a:p>
            <a:pPr>
              <a:defRPr sz="1000">
                <a:solidFill>
                  <a:srgbClr val="9CA3AF"/>
                </a:solidFill>
              </a:defRPr>
            </a:pPr>
            <a:r>
              <a:t>Fitur: Arus Stator 2-Fasa (64kHz), Vibration RMS, Kurtosis, THD</a:t>
            </a:r>
          </a:p>
          <a:p>
            <a:pPr>
              <a:defRPr sz="1000">
                <a:solidFill>
                  <a:srgbClr val="6B7280"/>
                </a:solidFill>
              </a:defRPr>
            </a:pPr>
            <a:r>
              <a:t>Alasan: Motor induksi adalah penggerak utama 80% mesin ASTRA; MCSA mendeteksi keausan via listrik tanpa tempel sensor panas.</a:t>
            </a:r>
          </a:p>
        </p:txBody>
      </p:sp>
      <p:sp>
        <p:nvSpPr>
          <p:cNvPr id="6" name="Rounded Rectangle 5"/>
          <p:cNvSpPr/>
          <p:nvPr/>
        </p:nvSpPr>
        <p:spPr>
          <a:xfrm>
            <a:off x="6126480" y="1463040"/>
            <a:ext cx="5120640" cy="2194560"/>
          </a:xfrm>
          <a:prstGeom prst="roundRect">
            <a:avLst/>
          </a:prstGeom>
          <a:solidFill>
            <a:srgbClr val="111827"/>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CWRU Dataset</a:t>
            </a:r>
          </a:p>
          <a:p>
            <a:pPr>
              <a:defRPr sz="1100" b="1">
                <a:solidFill>
                  <a:srgbClr val="3B82F6"/>
                </a:solidFill>
              </a:defRPr>
            </a:pPr>
            <a:r>
              <a:t>Mesin: Bearing Motor 2 HP (Bearing Conveyor &amp; Gearbox)</a:t>
            </a:r>
          </a:p>
          <a:p>
            <a:pPr>
              <a:defRPr sz="1000">
                <a:solidFill>
                  <a:srgbClr val="9CA3AF"/>
                </a:solidFill>
              </a:defRPr>
            </a:pPr>
            <a:r>
              <a:t>Fitur: Vibration High-Freq (12k/48kHz), FFT Envelope, BPFO/BPFI</a:t>
            </a:r>
          </a:p>
          <a:p>
            <a:pPr>
              <a:defRPr sz="1000">
                <a:solidFill>
                  <a:srgbClr val="6B7280"/>
                </a:solidFill>
              </a:defRPr>
            </a:pPr>
            <a:r>
              <a:t>Alasan: Kerusakan bearing menyumbang 45%-50% unplanned downtime conveyor; CWRU paling presisi untuk 10 kelas cacat.</a:t>
            </a:r>
          </a:p>
        </p:txBody>
      </p:sp>
      <p:sp>
        <p:nvSpPr>
          <p:cNvPr id="7" name="Rounded Rectangle 6"/>
          <p:cNvSpPr/>
          <p:nvPr/>
        </p:nvSpPr>
        <p:spPr>
          <a:xfrm>
            <a:off x="731520" y="3840480"/>
            <a:ext cx="5120640" cy="2194560"/>
          </a:xfrm>
          <a:prstGeom prst="roundRect">
            <a:avLst/>
          </a:prstGeom>
          <a:solidFill>
            <a:srgbClr val="111827"/>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NASA IMS Dataset</a:t>
            </a:r>
          </a:p>
          <a:p>
            <a:pPr>
              <a:defRPr sz="1100" b="1">
                <a:solidFill>
                  <a:srgbClr val="F59E0B"/>
                </a:solidFill>
              </a:defRPr>
            </a:pPr>
            <a:r>
              <a:t>Mesin: Heavy Rotating Shaft Rig (Poros Conveyor Beban Berat)</a:t>
            </a:r>
          </a:p>
          <a:p>
            <a:pPr>
              <a:defRPr sz="1000">
                <a:solidFill>
                  <a:srgbClr val="9CA3AF"/>
                </a:solidFill>
              </a:defRPr>
            </a:pPr>
            <a:r>
              <a:t>Fitur: Vibration Acceleration Trend, Crest Factor, Health Index</a:t>
            </a:r>
          </a:p>
          <a:p>
            <a:pPr>
              <a:defRPr sz="1000">
                <a:solidFill>
                  <a:srgbClr val="6B7280"/>
                </a:solidFill>
              </a:defRPr>
            </a:pPr>
            <a:r>
              <a:t>Alasan: Memodelkan degradasi alami 35 hari run-to-failure untuk pantau tren keausan bertahap (Health Index 0-100%).</a:t>
            </a:r>
          </a:p>
        </p:txBody>
      </p:sp>
      <p:sp>
        <p:nvSpPr>
          <p:cNvPr id="8" name="Rounded Rectangle 7"/>
          <p:cNvSpPr/>
          <p:nvPr/>
        </p:nvSpPr>
        <p:spPr>
          <a:xfrm>
            <a:off x="6126480" y="3840480"/>
            <a:ext cx="5120640" cy="2194560"/>
          </a:xfrm>
          <a:prstGeom prst="roundRect">
            <a:avLst/>
          </a:prstGeom>
          <a:solidFill>
            <a:srgbClr val="111827"/>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NASA CMAPSS</a:t>
            </a:r>
          </a:p>
          <a:p>
            <a:pPr>
              <a:defRPr sz="1100" b="1">
                <a:solidFill>
                  <a:srgbClr val="22C55E"/>
                </a:solidFill>
              </a:defRPr>
            </a:pPr>
            <a:r>
              <a:t>Mesin: Turbofan / High-Cycle Rig (Mesin Rotasi Siklus Tinggi)</a:t>
            </a:r>
          </a:p>
          <a:p>
            <a:pPr>
              <a:defRPr sz="1000">
                <a:solidFill>
                  <a:srgbClr val="9CA3AF"/>
                </a:solidFill>
              </a:defRPr>
            </a:pPr>
            <a:r>
              <a:t>Fitur: 21 Channel Telemetry, Rolling Mean (w=30), Trend Deviation</a:t>
            </a:r>
          </a:p>
          <a:p>
            <a:pPr>
              <a:defRPr sz="1000">
                <a:solidFill>
                  <a:srgbClr val="6B7280"/>
                </a:solidFill>
              </a:defRPr>
            </a:pPr>
            <a:r>
              <a:t>Alasan: Memberikan estimasi kuantitatif sisa waktu operasi / RUL (Jam/Siklus) untuk perencanaan jadwal maintenance.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828800" cy="365760"/>
          </a:xfrm>
          <a:prstGeom prst="rect">
            <a:avLst/>
          </a:prstGeom>
          <a:noFill/>
        </p:spPr>
        <p:txBody>
          <a:bodyPr wrap="none">
            <a:spAutoFit/>
          </a:bodyPr>
          <a:lstStyle/>
          <a:p>
            <a:pPr>
              <a:defRPr sz="1100" b="1">
                <a:solidFill>
                  <a:srgbClr val="22C55E"/>
                </a:solidFill>
              </a:defRPr>
            </a:pPr>
            <a:r>
              <a:t>SLIDE 05</a:t>
            </a:r>
          </a:p>
        </p:txBody>
      </p:sp>
      <p:sp>
        <p:nvSpPr>
          <p:cNvPr id="4" name="TextBox 3"/>
          <p:cNvSpPr txBox="1"/>
          <p:nvPr/>
        </p:nvSpPr>
        <p:spPr>
          <a:xfrm>
            <a:off x="731520" y="640080"/>
            <a:ext cx="10058400" cy="731520"/>
          </a:xfrm>
          <a:prstGeom prst="rect">
            <a:avLst/>
          </a:prstGeom>
          <a:noFill/>
        </p:spPr>
        <p:txBody>
          <a:bodyPr wrap="none">
            <a:spAutoFit/>
          </a:bodyPr>
          <a:lstStyle/>
          <a:p>
            <a:pPr>
              <a:defRPr sz="2400" b="1">
                <a:solidFill>
                  <a:srgbClr val="FFFFFF"/>
                </a:solidFill>
              </a:defRPr>
            </a:pPr>
            <a:r>
              <a:t>Paderborn Dataset — Motor Induksi (Conveyor Prime Mover)</a:t>
            </a:r>
          </a:p>
        </p:txBody>
      </p:sp>
      <p:sp>
        <p:nvSpPr>
          <p:cNvPr id="5" name="Rounded Rectangle 4"/>
          <p:cNvSpPr/>
          <p:nvPr/>
        </p:nvSpPr>
        <p:spPr>
          <a:xfrm>
            <a:off x="731520" y="1645920"/>
            <a:ext cx="3291840" cy="4114800"/>
          </a:xfrm>
          <a:prstGeom prst="roundRect">
            <a:avLst/>
          </a:prstGeom>
          <a:solidFill>
            <a:srgbClr val="111827"/>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A855F7"/>
                </a:solidFill>
              </a:defRPr>
            </a:pPr>
            <a:r>
              <a:t>TARGET MESIN ASTRA</a:t>
            </a:r>
          </a:p>
          <a:p>
            <a:pPr>
              <a:defRPr sz="1500" b="1">
                <a:solidFill>
                  <a:srgbClr val="FFFFFF"/>
                </a:solidFill>
              </a:defRPr>
            </a:pPr>
            <a:r>
              <a:t>Induction Motor 1.5 kW</a:t>
            </a:r>
          </a:p>
          <a:p>
            <a:pPr>
              <a:defRPr sz="1200">
                <a:solidFill>
                  <a:srgbClr val="9CA3AF"/>
                </a:solidFill>
              </a:defRPr>
            </a:pPr>
            <a:r>
              <a:t>Motor induksi beban variabel penggerak utama Conveyor Line, Pompa Industri, dan Fan.</a:t>
            </a:r>
          </a:p>
        </p:txBody>
      </p:sp>
      <p:sp>
        <p:nvSpPr>
          <p:cNvPr id="6" name="Rounded Rectangle 5"/>
          <p:cNvSpPr/>
          <p:nvPr/>
        </p:nvSpPr>
        <p:spPr>
          <a:xfrm>
            <a:off x="4297680" y="1645920"/>
            <a:ext cx="3291840" cy="4114800"/>
          </a:xfrm>
          <a:prstGeom prst="roundRect">
            <a:avLst/>
          </a:prstGeom>
          <a:solidFill>
            <a:srgbClr val="111827"/>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A855F7"/>
                </a:solidFill>
              </a:defRPr>
            </a:pPr>
            <a:r>
              <a:t>FITUR YANG DIEKSTRAK</a:t>
            </a:r>
          </a:p>
          <a:p>
            <a:pPr>
              <a:defRPr sz="1500" b="1">
                <a:solidFill>
                  <a:srgbClr val="FFFFFF"/>
                </a:solidFill>
              </a:defRPr>
            </a:pPr>
            <a:r>
              <a:t>25 Current &amp; Vib Features</a:t>
            </a:r>
          </a:p>
          <a:p>
            <a:pPr>
              <a:defRPr sz="1200">
                <a:solidFill>
                  <a:srgbClr val="9CA3AF"/>
                </a:solidFill>
              </a:defRPr>
            </a:pPr>
            <a:r>
              <a:t>Arus Stator Phase A/B (64kHz), Total Harmonic Distortion (THD), Vibration RMS, Kurtosis, Crest Factor.</a:t>
            </a:r>
          </a:p>
        </p:txBody>
      </p:sp>
      <p:sp>
        <p:nvSpPr>
          <p:cNvPr id="7" name="Rounded Rectangle 6"/>
          <p:cNvSpPr/>
          <p:nvPr/>
        </p:nvSpPr>
        <p:spPr>
          <a:xfrm>
            <a:off x="7863840" y="1645920"/>
            <a:ext cx="3291840" cy="4114800"/>
          </a:xfrm>
          <a:prstGeom prst="roundRect">
            <a:avLst/>
          </a:prstGeom>
          <a:solidFill>
            <a:srgbClr val="111827"/>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A855F7"/>
                </a:solidFill>
              </a:defRPr>
            </a:pPr>
            <a:r>
              <a:t>ALASAN &amp; KEGUNAAN</a:t>
            </a:r>
          </a:p>
          <a:p>
            <a:pPr>
              <a:defRPr sz="1500" b="1">
                <a:solidFill>
                  <a:srgbClr val="FFFFFF"/>
                </a:solidFill>
              </a:defRPr>
            </a:pPr>
            <a:r>
              <a:t>MCSA Electrical Sensing</a:t>
            </a:r>
          </a:p>
          <a:p>
            <a:pPr>
              <a:defRPr sz="1200">
                <a:solidFill>
                  <a:srgbClr val="9CA3AF"/>
                </a:solidFill>
              </a:defRPr>
            </a:pPr>
            <a:r>
              <a:t>80% mesin pabrik Astra menggunakan motor induksi. MCSA memungkinkan deteksi keausan mekanis via listrik tanpa tempel sensor di area panas.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828800" cy="365760"/>
          </a:xfrm>
          <a:prstGeom prst="rect">
            <a:avLst/>
          </a:prstGeom>
          <a:noFill/>
        </p:spPr>
        <p:txBody>
          <a:bodyPr wrap="none">
            <a:spAutoFit/>
          </a:bodyPr>
          <a:lstStyle/>
          <a:p>
            <a:pPr>
              <a:defRPr sz="1100" b="1">
                <a:solidFill>
                  <a:srgbClr val="22C55E"/>
                </a:solidFill>
              </a:defRPr>
            </a:pPr>
            <a:r>
              <a:t>SLIDE 06</a:t>
            </a:r>
          </a:p>
        </p:txBody>
      </p:sp>
      <p:sp>
        <p:nvSpPr>
          <p:cNvPr id="4" name="TextBox 3"/>
          <p:cNvSpPr txBox="1"/>
          <p:nvPr/>
        </p:nvSpPr>
        <p:spPr>
          <a:xfrm>
            <a:off x="731520" y="640080"/>
            <a:ext cx="10058400" cy="731520"/>
          </a:xfrm>
          <a:prstGeom prst="rect">
            <a:avLst/>
          </a:prstGeom>
          <a:noFill/>
        </p:spPr>
        <p:txBody>
          <a:bodyPr wrap="none">
            <a:spAutoFit/>
          </a:bodyPr>
          <a:lstStyle/>
          <a:p>
            <a:pPr>
              <a:defRPr sz="2400" b="1">
                <a:solidFill>
                  <a:srgbClr val="FFFFFF"/>
                </a:solidFill>
              </a:defRPr>
            </a:pPr>
            <a:r>
              <a:t>CWRU Dataset — Bearing Rig (Conveyor &amp; Gearbox Bearings)</a:t>
            </a:r>
          </a:p>
        </p:txBody>
      </p:sp>
      <p:sp>
        <p:nvSpPr>
          <p:cNvPr id="5" name="Rounded Rectangle 4"/>
          <p:cNvSpPr/>
          <p:nvPr/>
        </p:nvSpPr>
        <p:spPr>
          <a:xfrm>
            <a:off x="731520" y="1645920"/>
            <a:ext cx="3291840" cy="4114800"/>
          </a:xfrm>
          <a:prstGeom prst="roundRect">
            <a:avLst/>
          </a:prstGeom>
          <a:solidFill>
            <a:srgbClr val="111827"/>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B82F6"/>
                </a:solidFill>
              </a:defRPr>
            </a:pPr>
            <a:r>
              <a:t>TARGET MESIN ASTRA</a:t>
            </a:r>
          </a:p>
          <a:p>
            <a:pPr>
              <a:defRPr sz="1500" b="1">
                <a:solidFill>
                  <a:srgbClr val="FFFFFF"/>
                </a:solidFill>
              </a:defRPr>
            </a:pPr>
            <a:r>
              <a:t>Bearing Conveyor &amp; Gearbox</a:t>
            </a:r>
          </a:p>
          <a:p>
            <a:pPr>
              <a:defRPr sz="1200">
                <a:solidFill>
                  <a:srgbClr val="9CA3AF"/>
                </a:solidFill>
              </a:defRPr>
            </a:pPr>
            <a:r>
              <a:t>Drive-End &amp; Fan-End Bearing Motor 2 HP pada conveyor line dan gearbox transmisi.</a:t>
            </a:r>
          </a:p>
        </p:txBody>
      </p:sp>
      <p:sp>
        <p:nvSpPr>
          <p:cNvPr id="6" name="Rounded Rectangle 5"/>
          <p:cNvSpPr/>
          <p:nvPr/>
        </p:nvSpPr>
        <p:spPr>
          <a:xfrm>
            <a:off x="4297680" y="1645920"/>
            <a:ext cx="3291840" cy="4114800"/>
          </a:xfrm>
          <a:prstGeom prst="roundRect">
            <a:avLst/>
          </a:prstGeom>
          <a:solidFill>
            <a:srgbClr val="111827"/>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B82F6"/>
                </a:solidFill>
              </a:defRPr>
            </a:pPr>
            <a:r>
              <a:t>FITUR YANG DIEKSTRAK</a:t>
            </a:r>
          </a:p>
          <a:p>
            <a:pPr>
              <a:defRPr sz="1500" b="1">
                <a:solidFill>
                  <a:srgbClr val="FFFFFF"/>
                </a:solidFill>
              </a:defRPr>
            </a:pPr>
            <a:r>
              <a:t>FFT Envelope &amp; Frequencies</a:t>
            </a:r>
          </a:p>
          <a:p>
            <a:pPr>
              <a:defRPr sz="1200">
                <a:solidFill>
                  <a:srgbClr val="9CA3AF"/>
                </a:solidFill>
              </a:defRPr>
            </a:pPr>
            <a:r>
              <a:t>Getaran Akselerasi (12k/48k Hz), Envelope FFT Spectrum, BPFO, BPFI, BSF, FTF, Spectral Kurtosis.</a:t>
            </a:r>
          </a:p>
        </p:txBody>
      </p:sp>
      <p:sp>
        <p:nvSpPr>
          <p:cNvPr id="7" name="Rounded Rectangle 6"/>
          <p:cNvSpPr/>
          <p:nvPr/>
        </p:nvSpPr>
        <p:spPr>
          <a:xfrm>
            <a:off x="7863840" y="1645920"/>
            <a:ext cx="3291840" cy="4114800"/>
          </a:xfrm>
          <a:prstGeom prst="roundRect">
            <a:avLst/>
          </a:prstGeom>
          <a:solidFill>
            <a:srgbClr val="111827"/>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B82F6"/>
                </a:solidFill>
              </a:defRPr>
            </a:pPr>
            <a:r>
              <a:t>ALASAN &amp; KEGUNAAN</a:t>
            </a:r>
          </a:p>
          <a:p>
            <a:pPr>
              <a:defRPr sz="1500" b="1">
                <a:solidFill>
                  <a:srgbClr val="FFFFFF"/>
                </a:solidFill>
              </a:defRPr>
            </a:pPr>
            <a:r>
              <a:t>Primary Failure Root Cause</a:t>
            </a:r>
          </a:p>
          <a:p>
            <a:pPr>
              <a:defRPr sz="1200">
                <a:solidFill>
                  <a:srgbClr val="9CA3AF"/>
                </a:solidFill>
              </a:defRPr>
            </a:pPr>
            <a:r>
              <a:t>Bearing menyumbang 45%-50% unplanned downtime conveyor Astra. CWRU paling presisi untuk 10 kelas cacat (Inner/Outer Race, Ball).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828800" cy="365760"/>
          </a:xfrm>
          <a:prstGeom prst="rect">
            <a:avLst/>
          </a:prstGeom>
          <a:noFill/>
        </p:spPr>
        <p:txBody>
          <a:bodyPr wrap="none">
            <a:spAutoFit/>
          </a:bodyPr>
          <a:lstStyle/>
          <a:p>
            <a:pPr>
              <a:defRPr sz="1100" b="1">
                <a:solidFill>
                  <a:srgbClr val="22C55E"/>
                </a:solidFill>
              </a:defRPr>
            </a:pPr>
            <a:r>
              <a:t>SLIDE 07</a:t>
            </a:r>
          </a:p>
        </p:txBody>
      </p:sp>
      <p:sp>
        <p:nvSpPr>
          <p:cNvPr id="4" name="TextBox 3"/>
          <p:cNvSpPr txBox="1"/>
          <p:nvPr/>
        </p:nvSpPr>
        <p:spPr>
          <a:xfrm>
            <a:off x="731520" y="640080"/>
            <a:ext cx="10058400" cy="731520"/>
          </a:xfrm>
          <a:prstGeom prst="rect">
            <a:avLst/>
          </a:prstGeom>
          <a:noFill/>
        </p:spPr>
        <p:txBody>
          <a:bodyPr wrap="none">
            <a:spAutoFit/>
          </a:bodyPr>
          <a:lstStyle/>
          <a:p>
            <a:pPr>
              <a:defRPr sz="2400" b="1">
                <a:solidFill>
                  <a:srgbClr val="FFFFFF"/>
                </a:solidFill>
              </a:defRPr>
            </a:pPr>
            <a:r>
              <a:t>NASA IMS Dataset — Degradation (Heavy Conveyor Shaft)</a:t>
            </a:r>
          </a:p>
        </p:txBody>
      </p:sp>
      <p:sp>
        <p:nvSpPr>
          <p:cNvPr id="5" name="Rounded Rectangle 4"/>
          <p:cNvSpPr/>
          <p:nvPr/>
        </p:nvSpPr>
        <p:spPr>
          <a:xfrm>
            <a:off x="731520" y="1645920"/>
            <a:ext cx="3291840" cy="4114800"/>
          </a:xfrm>
          <a:prstGeom prst="roundRect">
            <a:avLst/>
          </a:prstGeom>
          <a:solidFill>
            <a:srgbClr val="111827"/>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59E0B"/>
                </a:solidFill>
              </a:defRPr>
            </a:pPr>
            <a:r>
              <a:t>TARGET MESIN ASTRA</a:t>
            </a:r>
          </a:p>
          <a:p>
            <a:pPr>
              <a:defRPr sz="1500" b="1">
                <a:solidFill>
                  <a:srgbClr val="FFFFFF"/>
                </a:solidFill>
              </a:defRPr>
            </a:pPr>
            <a:r>
              <a:t>Heavy Conveyor Shaft Rig</a:t>
            </a:r>
          </a:p>
          <a:p>
            <a:pPr>
              <a:defRPr sz="1200">
                <a:solidFill>
                  <a:srgbClr val="9CA3AF"/>
                </a:solidFill>
              </a:defRPr>
            </a:pPr>
            <a:r>
              <a:t>Poros berputar conveyor beban berat dengan beban radial kontinyu.</a:t>
            </a:r>
          </a:p>
        </p:txBody>
      </p:sp>
      <p:sp>
        <p:nvSpPr>
          <p:cNvPr id="6" name="Rounded Rectangle 5"/>
          <p:cNvSpPr/>
          <p:nvPr/>
        </p:nvSpPr>
        <p:spPr>
          <a:xfrm>
            <a:off x="4297680" y="1645920"/>
            <a:ext cx="3291840" cy="4114800"/>
          </a:xfrm>
          <a:prstGeom prst="roundRect">
            <a:avLst/>
          </a:prstGeom>
          <a:solidFill>
            <a:srgbClr val="111827"/>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59E0B"/>
                </a:solidFill>
              </a:defRPr>
            </a:pPr>
            <a:r>
              <a:t>FITUR YANG DIEKSTRAK</a:t>
            </a:r>
          </a:p>
          <a:p>
            <a:pPr>
              <a:defRPr sz="1500" b="1">
                <a:solidFill>
                  <a:srgbClr val="FFFFFF"/>
                </a:solidFill>
              </a:defRPr>
            </a:pPr>
            <a:r>
              <a:t>RMS Trend &amp; Health Index</a:t>
            </a:r>
          </a:p>
          <a:p>
            <a:pPr>
              <a:defRPr sz="1200">
                <a:solidFill>
                  <a:srgbClr val="9CA3AF"/>
                </a:solidFill>
              </a:defRPr>
            </a:pPr>
            <a:r>
              <a:t>Getaran Frekuensi Tinggi (20kHz), RMS Acceleration Trajectory, Crest Factor Evolution, Health Index Score (0-100%).</a:t>
            </a:r>
          </a:p>
        </p:txBody>
      </p:sp>
      <p:sp>
        <p:nvSpPr>
          <p:cNvPr id="7" name="Rounded Rectangle 6"/>
          <p:cNvSpPr/>
          <p:nvPr/>
        </p:nvSpPr>
        <p:spPr>
          <a:xfrm>
            <a:off x="7863840" y="1645920"/>
            <a:ext cx="3291840" cy="4114800"/>
          </a:xfrm>
          <a:prstGeom prst="roundRect">
            <a:avLst/>
          </a:prstGeom>
          <a:solidFill>
            <a:srgbClr val="111827"/>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59E0B"/>
                </a:solidFill>
              </a:defRPr>
            </a:pPr>
            <a:r>
              <a:t>ALASAN &amp; KEGUNAAN</a:t>
            </a:r>
          </a:p>
          <a:p>
            <a:pPr>
              <a:defRPr sz="1500" b="1">
                <a:solidFill>
                  <a:srgbClr val="FFFFFF"/>
                </a:solidFill>
              </a:defRPr>
            </a:pPr>
            <a:r>
              <a:t>Gradual Degradation Tracking</a:t>
            </a:r>
          </a:p>
          <a:p>
            <a:pPr>
              <a:defRPr sz="1200">
                <a:solidFill>
                  <a:srgbClr val="9CA3AF"/>
                </a:solidFill>
              </a:defRPr>
            </a:pPr>
            <a:r>
              <a:t>Eksperimen 35 hari run-to-failure. Astra membutuhkan pemantauan penurunan kondisi bertahap (Health Index) agar dapat merencanakan stok spare part.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828800" cy="365760"/>
          </a:xfrm>
          <a:prstGeom prst="rect">
            <a:avLst/>
          </a:prstGeom>
          <a:noFill/>
        </p:spPr>
        <p:txBody>
          <a:bodyPr wrap="none">
            <a:spAutoFit/>
          </a:bodyPr>
          <a:lstStyle/>
          <a:p>
            <a:pPr>
              <a:defRPr sz="1100" b="1">
                <a:solidFill>
                  <a:srgbClr val="22C55E"/>
                </a:solidFill>
              </a:defRPr>
            </a:pPr>
            <a:r>
              <a:t>SLIDE 08</a:t>
            </a:r>
          </a:p>
        </p:txBody>
      </p:sp>
      <p:sp>
        <p:nvSpPr>
          <p:cNvPr id="4" name="TextBox 3"/>
          <p:cNvSpPr txBox="1"/>
          <p:nvPr/>
        </p:nvSpPr>
        <p:spPr>
          <a:xfrm>
            <a:off x="731520" y="640080"/>
            <a:ext cx="10058400" cy="731520"/>
          </a:xfrm>
          <a:prstGeom prst="rect">
            <a:avLst/>
          </a:prstGeom>
          <a:noFill/>
        </p:spPr>
        <p:txBody>
          <a:bodyPr wrap="none">
            <a:spAutoFit/>
          </a:bodyPr>
          <a:lstStyle/>
          <a:p>
            <a:pPr>
              <a:defRPr sz="2400" b="1">
                <a:solidFill>
                  <a:srgbClr val="FFFFFF"/>
                </a:solidFill>
              </a:defRPr>
            </a:pPr>
            <a:r>
              <a:t>NASA CMAPSS Dataset — Turbofan Engine &amp; Harmonization</a:t>
            </a:r>
          </a:p>
        </p:txBody>
      </p:sp>
      <p:sp>
        <p:nvSpPr>
          <p:cNvPr id="5" name="Rounded Rectangle 4"/>
          <p:cNvSpPr/>
          <p:nvPr/>
        </p:nvSpPr>
        <p:spPr>
          <a:xfrm>
            <a:off x="731520" y="1463040"/>
            <a:ext cx="10424160" cy="1097280"/>
          </a:xfrm>
          <a:prstGeom prst="roundRect">
            <a:avLst/>
          </a:prstGeom>
          <a:solidFill>
            <a:srgbClr val="111827"/>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2C55E"/>
                </a:solidFill>
              </a:defRPr>
            </a:pPr>
            <a:r>
              <a:t>DATASET MAPPING PIPELINE TO UNIFIED SCHEMA</a:t>
            </a:r>
          </a:p>
          <a:p>
            <a:pPr algn="ctr">
              <a:defRPr sz="1600" b="1">
                <a:solidFill>
                  <a:srgbClr val="FFFFFF"/>
                </a:solidFill>
              </a:defRPr>
            </a:pPr>
            <a:r>
              <a:t>Paderborn   ➔   CWRU   ➔   NASA IMS   ➔   NASA CMAPSS   ➔   raw_sensor_data</a:t>
            </a:r>
          </a:p>
        </p:txBody>
      </p:sp>
      <p:graphicFrame>
        <p:nvGraphicFramePr>
          <p:cNvPr id="6" name="Table 5"/>
          <p:cNvGraphicFramePr>
            <a:graphicFrameLocks noGrp="1"/>
          </p:cNvGraphicFramePr>
          <p:nvPr/>
        </p:nvGraphicFramePr>
        <p:xfrm>
          <a:off x="731520" y="2743200"/>
          <a:ext cx="10424160" cy="1188720"/>
        </p:xfrm>
        <a:graphic>
          <a:graphicData uri="http://schemas.openxmlformats.org/drawingml/2006/table">
            <a:tbl>
              <a:tblPr firstRow="1" bandRow="1">
                <a:tableStyleId>{5C22544A-7EE6-4342-B048-85BDC9FD1C3A}</a:tableStyleId>
              </a:tblPr>
              <a:tblGrid>
                <a:gridCol w="1303020"/>
                <a:gridCol w="1303020"/>
                <a:gridCol w="1303020"/>
                <a:gridCol w="1303020"/>
                <a:gridCol w="1303020"/>
                <a:gridCol w="1303020"/>
                <a:gridCol w="1303020"/>
                <a:gridCol w="1303020"/>
              </a:tblGrid>
              <a:tr h="594360">
                <a:tc>
                  <a:txBody>
                    <a:bodyPr/>
                    <a:lstStyle/>
                    <a:p>
                      <a:pPr>
                        <a:defRPr b="1" sz="1100">
                          <a:solidFill>
                            <a:srgbClr val="22C55E"/>
                          </a:solidFill>
                        </a:defRPr>
                      </a:pPr>
                      <a:r>
                        <a:t>timestamp</a:t>
                      </a:r>
                    </a:p>
                  </a:txBody>
                  <a:tcPr>
                    <a:solidFill>
                      <a:srgbClr val="111827"/>
                    </a:solidFill>
                  </a:tcPr>
                </a:tc>
                <a:tc>
                  <a:txBody>
                    <a:bodyPr/>
                    <a:lstStyle/>
                    <a:p>
                      <a:pPr>
                        <a:defRPr b="1" sz="1100">
                          <a:solidFill>
                            <a:srgbClr val="22C55E"/>
                          </a:solidFill>
                        </a:defRPr>
                      </a:pPr>
                      <a:r>
                        <a:t>machine_id</a:t>
                      </a:r>
                    </a:p>
                  </a:txBody>
                  <a:tcPr>
                    <a:solidFill>
                      <a:srgbClr val="111827"/>
                    </a:solidFill>
                  </a:tcPr>
                </a:tc>
                <a:tc>
                  <a:txBody>
                    <a:bodyPr/>
                    <a:lstStyle/>
                    <a:p>
                      <a:pPr>
                        <a:defRPr b="1" sz="1100">
                          <a:solidFill>
                            <a:srgbClr val="22C55E"/>
                          </a:solidFill>
                        </a:defRPr>
                      </a:pPr>
                      <a:r>
                        <a:t>vibration</a:t>
                      </a:r>
                    </a:p>
                  </a:txBody>
                  <a:tcPr>
                    <a:solidFill>
                      <a:srgbClr val="111827"/>
                    </a:solidFill>
                  </a:tcPr>
                </a:tc>
                <a:tc>
                  <a:txBody>
                    <a:bodyPr/>
                    <a:lstStyle/>
                    <a:p>
                      <a:pPr>
                        <a:defRPr b="1" sz="1100">
                          <a:solidFill>
                            <a:srgbClr val="22C55E"/>
                          </a:solidFill>
                        </a:defRPr>
                      </a:pPr>
                      <a:r>
                        <a:t>current</a:t>
                      </a:r>
                    </a:p>
                  </a:txBody>
                  <a:tcPr>
                    <a:solidFill>
                      <a:srgbClr val="111827"/>
                    </a:solidFill>
                  </a:tcPr>
                </a:tc>
                <a:tc>
                  <a:txBody>
                    <a:bodyPr/>
                    <a:lstStyle/>
                    <a:p>
                      <a:pPr>
                        <a:defRPr b="1" sz="1100">
                          <a:solidFill>
                            <a:srgbClr val="22C55E"/>
                          </a:solidFill>
                        </a:defRPr>
                      </a:pPr>
                      <a:r>
                        <a:t>rpm</a:t>
                      </a:r>
                    </a:p>
                  </a:txBody>
                  <a:tcPr>
                    <a:solidFill>
                      <a:srgbClr val="111827"/>
                    </a:solidFill>
                  </a:tcPr>
                </a:tc>
                <a:tc>
                  <a:txBody>
                    <a:bodyPr/>
                    <a:lstStyle/>
                    <a:p>
                      <a:pPr>
                        <a:defRPr b="1" sz="1100">
                          <a:solidFill>
                            <a:srgbClr val="22C55E"/>
                          </a:solidFill>
                        </a:defRPr>
                      </a:pPr>
                      <a:r>
                        <a:t>temperature</a:t>
                      </a:r>
                    </a:p>
                  </a:txBody>
                  <a:tcPr>
                    <a:solidFill>
                      <a:srgbClr val="111827"/>
                    </a:solidFill>
                  </a:tcPr>
                </a:tc>
                <a:tc>
                  <a:txBody>
                    <a:bodyPr/>
                    <a:lstStyle/>
                    <a:p>
                      <a:pPr>
                        <a:defRPr b="1" sz="1100">
                          <a:solidFill>
                            <a:srgbClr val="22C55E"/>
                          </a:solidFill>
                        </a:defRPr>
                      </a:pPr>
                      <a:r>
                        <a:t>torque</a:t>
                      </a:r>
                    </a:p>
                  </a:txBody>
                  <a:tcPr>
                    <a:solidFill>
                      <a:srgbClr val="111827"/>
                    </a:solidFill>
                  </a:tcPr>
                </a:tc>
                <a:tc>
                  <a:txBody>
                    <a:bodyPr/>
                    <a:lstStyle/>
                    <a:p>
                      <a:pPr>
                        <a:defRPr b="1" sz="1100">
                          <a:solidFill>
                            <a:srgbClr val="22C55E"/>
                          </a:solidFill>
                        </a:defRPr>
                      </a:pPr>
                      <a:r>
                        <a:t>source_dataset</a:t>
                      </a:r>
                    </a:p>
                  </a:txBody>
                  <a:tcPr>
                    <a:solidFill>
                      <a:srgbClr val="111827"/>
                    </a:solidFill>
                  </a:tcPr>
                </a:tc>
              </a:tr>
              <a:tr h="594360">
                <a:tc>
                  <a:txBody>
                    <a:bodyPr/>
                    <a:lstStyle/>
                    <a:p>
                      <a:pPr>
                        <a:defRPr sz="1000">
                          <a:solidFill>
                            <a:srgbClr val="FFFFFF"/>
                          </a:solidFill>
                        </a:defRPr>
                      </a:pPr>
                      <a:r>
                        <a:t>2026-07-30 00:00:00</a:t>
                      </a:r>
                    </a:p>
                  </a:txBody>
                  <a:tcPr>
                    <a:solidFill>
                      <a:srgbClr val="111827"/>
                    </a:solidFill>
                  </a:tcPr>
                </a:tc>
                <a:tc>
                  <a:txBody>
                    <a:bodyPr/>
                    <a:lstStyle/>
                    <a:p>
                      <a:pPr>
                        <a:defRPr sz="1000">
                          <a:solidFill>
                            <a:srgbClr val="FFFFFF"/>
                          </a:solidFill>
                        </a:defRPr>
                      </a:pPr>
                      <a:r>
                        <a:t>MTR-01</a:t>
                      </a:r>
                    </a:p>
                  </a:txBody>
                  <a:tcPr>
                    <a:solidFill>
                      <a:srgbClr val="111827"/>
                    </a:solidFill>
                  </a:tcPr>
                </a:tc>
                <a:tc>
                  <a:txBody>
                    <a:bodyPr/>
                    <a:lstStyle/>
                    <a:p>
                      <a:pPr>
                        <a:defRPr sz="1000">
                          <a:solidFill>
                            <a:srgbClr val="FFFFFF"/>
                          </a:solidFill>
                        </a:defRPr>
                      </a:pPr>
                      <a:r>
                        <a:t>0.42</a:t>
                      </a:r>
                    </a:p>
                  </a:txBody>
                  <a:tcPr>
                    <a:solidFill>
                      <a:srgbClr val="111827"/>
                    </a:solidFill>
                  </a:tcPr>
                </a:tc>
                <a:tc>
                  <a:txBody>
                    <a:bodyPr/>
                    <a:lstStyle/>
                    <a:p>
                      <a:pPr>
                        <a:defRPr sz="1000">
                          <a:solidFill>
                            <a:srgbClr val="FFFFFF"/>
                          </a:solidFill>
                        </a:defRPr>
                      </a:pPr>
                      <a:r>
                        <a:t>22.4</a:t>
                      </a:r>
                    </a:p>
                  </a:txBody>
                  <a:tcPr>
                    <a:solidFill>
                      <a:srgbClr val="111827"/>
                    </a:solidFill>
                  </a:tcPr>
                </a:tc>
                <a:tc>
                  <a:txBody>
                    <a:bodyPr/>
                    <a:lstStyle/>
                    <a:p>
                      <a:pPr>
                        <a:defRPr sz="1000">
                          <a:solidFill>
                            <a:srgbClr val="FFFFFF"/>
                          </a:solidFill>
                        </a:defRPr>
                      </a:pPr>
                      <a:r>
                        <a:t>1450</a:t>
                      </a:r>
                    </a:p>
                  </a:txBody>
                  <a:tcPr>
                    <a:solidFill>
                      <a:srgbClr val="111827"/>
                    </a:solidFill>
                  </a:tcPr>
                </a:tc>
                <a:tc>
                  <a:txBody>
                    <a:bodyPr/>
                    <a:lstStyle/>
                    <a:p>
                      <a:pPr>
                        <a:defRPr sz="1000">
                          <a:solidFill>
                            <a:srgbClr val="FFFFFF"/>
                          </a:solidFill>
                        </a:defRPr>
                      </a:pPr>
                      <a:r>
                        <a:t>48.5</a:t>
                      </a:r>
                    </a:p>
                  </a:txBody>
                  <a:tcPr>
                    <a:solidFill>
                      <a:srgbClr val="111827"/>
                    </a:solidFill>
                  </a:tcPr>
                </a:tc>
                <a:tc>
                  <a:txBody>
                    <a:bodyPr/>
                    <a:lstStyle/>
                    <a:p>
                      <a:pPr>
                        <a:defRPr sz="1000">
                          <a:solidFill>
                            <a:srgbClr val="6B7280"/>
                          </a:solidFill>
                        </a:defRPr>
                      </a:pPr>
                      <a:r>
                        <a:t>NULL</a:t>
                      </a:r>
                    </a:p>
                  </a:txBody>
                  <a:tcPr>
                    <a:solidFill>
                      <a:srgbClr val="111827"/>
                    </a:solidFill>
                  </a:tcPr>
                </a:tc>
                <a:tc>
                  <a:txBody>
                    <a:bodyPr/>
                    <a:lstStyle/>
                    <a:p>
                      <a:pPr>
                        <a:defRPr sz="1000">
                          <a:solidFill>
                            <a:srgbClr val="FFFFFF"/>
                          </a:solidFill>
                        </a:defRPr>
                      </a:pPr>
                      <a:r>
                        <a:t>paderborn</a:t>
                      </a:r>
                    </a:p>
                  </a:txBody>
                  <a:tcPr>
                    <a:solidFill>
                      <a:srgbClr val="111827"/>
                    </a:solidFill>
                  </a:tcPr>
                </a:tc>
              </a:tr>
            </a:tbl>
          </a:graphicData>
        </a:graphic>
      </p:graphicFrame>
      <p:sp>
        <p:nvSpPr>
          <p:cNvPr id="7" name="Rounded Rectangle 6"/>
          <p:cNvSpPr/>
          <p:nvPr/>
        </p:nvSpPr>
        <p:spPr>
          <a:xfrm>
            <a:off x="731520" y="4114800"/>
            <a:ext cx="10424160" cy="2194560"/>
          </a:xfrm>
          <a:prstGeom prst="roundRect">
            <a:avLst/>
          </a:prstGeom>
          <a:solidFill>
            <a:srgbClr val="0F172A"/>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Target Mesin Astra: Mesin Rotasi Siklus Tinggi &amp; Beban Variabel (High-Cycle Rotating Equipment).</a:t>
            </a:r>
          </a:p>
          <a:p>
            <a:pPr>
              <a:defRPr sz="1000">
                <a:solidFill>
                  <a:srgbClr val="9CA3AF"/>
                </a:solidFill>
              </a:defRPr>
            </a:pPr>
            <a:r>
              <a:t>Fitur Yang Diekstrak: 21 Telemetry Sensors, Rolling Mean (w=30), Rolling Std, Sensor Trend Deviations.</a:t>
            </a:r>
          </a:p>
          <a:p>
            <a:pPr>
              <a:defRPr sz="1000">
                <a:solidFill>
                  <a:srgbClr val="9CA3AF"/>
                </a:solidFill>
              </a:defRPr>
            </a:pPr>
            <a:r>
              <a:t>Alasan Penggunaan: Menghitung sisa waktu operasi / RUL (Hours/Cycles) agar tim Astra tahu persis berapa hari lagi mesin aman beroperasi.</a:t>
            </a:r>
          </a:p>
          <a:p>
            <a:pPr>
              <a:defRPr sz="1100" b="1">
                <a:solidFill>
                  <a:srgbClr val="22C55E"/>
                </a:solidFill>
              </a:defRPr>
            </a:pPr>
            <a:r>
              <a:t>Harmonisasi Data: Seluruh 4 dataset dipetakan ke 1 tabel raw_sensor_data. Transisi ke Astra hanya mengganti kolom source_dataset.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828800" cy="365760"/>
          </a:xfrm>
          <a:prstGeom prst="rect">
            <a:avLst/>
          </a:prstGeom>
          <a:noFill/>
        </p:spPr>
        <p:txBody>
          <a:bodyPr wrap="none">
            <a:spAutoFit/>
          </a:bodyPr>
          <a:lstStyle/>
          <a:p>
            <a:pPr>
              <a:defRPr sz="1100" b="1">
                <a:solidFill>
                  <a:srgbClr val="22C55E"/>
                </a:solidFill>
              </a:defRPr>
            </a:pPr>
            <a:r>
              <a:t>SLIDE 09</a:t>
            </a:r>
          </a:p>
        </p:txBody>
      </p:sp>
      <p:sp>
        <p:nvSpPr>
          <p:cNvPr id="4" name="TextBox 3"/>
          <p:cNvSpPr txBox="1"/>
          <p:nvPr/>
        </p:nvSpPr>
        <p:spPr>
          <a:xfrm>
            <a:off x="731520" y="640080"/>
            <a:ext cx="10058400" cy="731520"/>
          </a:xfrm>
          <a:prstGeom prst="rect">
            <a:avLst/>
          </a:prstGeom>
          <a:noFill/>
        </p:spPr>
        <p:txBody>
          <a:bodyPr wrap="none">
            <a:spAutoFit/>
          </a:bodyPr>
          <a:lstStyle/>
          <a:p>
            <a:pPr>
              <a:defRPr sz="2400" b="1">
                <a:solidFill>
                  <a:srgbClr val="FFFFFF"/>
                </a:solidFill>
              </a:defRPr>
            </a:pPr>
            <a:r>
              <a:t>Database Entity Relationship Diagram (ERD)</a:t>
            </a:r>
          </a:p>
        </p:txBody>
      </p:sp>
      <p:sp>
        <p:nvSpPr>
          <p:cNvPr id="5" name="Rounded Rectangle 4"/>
          <p:cNvSpPr/>
          <p:nvPr/>
        </p:nvSpPr>
        <p:spPr>
          <a:xfrm>
            <a:off x="731520" y="1463040"/>
            <a:ext cx="10424160" cy="822960"/>
          </a:xfrm>
          <a:prstGeom prst="roundRect">
            <a:avLst/>
          </a:prstGeom>
          <a:solidFill>
            <a:srgbClr val="111827"/>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B82F6"/>
                </a:solidFill>
              </a:defRPr>
            </a:pPr>
            <a:r>
              <a:t>raw_sensor_data</a:t>
            </a:r>
          </a:p>
          <a:p>
            <a:pPr>
              <a:defRPr sz="1100">
                <a:solidFill>
                  <a:srgbClr val="9CA3AF"/>
                </a:solidFill>
              </a:defRPr>
            </a:pPr>
            <a:r>
              <a:t>Data mentah ingestion real-time sensor (vibration, current, temp, rpm, source_dataset)</a:t>
            </a:r>
          </a:p>
        </p:txBody>
      </p:sp>
      <p:sp>
        <p:nvSpPr>
          <p:cNvPr id="6" name="Rounded Rectangle 5"/>
          <p:cNvSpPr/>
          <p:nvPr/>
        </p:nvSpPr>
        <p:spPr>
          <a:xfrm>
            <a:off x="731520" y="2423160"/>
            <a:ext cx="10424160" cy="822960"/>
          </a:xfrm>
          <a:prstGeom prst="roundRect">
            <a:avLst/>
          </a:prstGeom>
          <a:solidFill>
            <a:srgbClr val="111827"/>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22C55E"/>
                </a:solidFill>
              </a:defRPr>
            </a:pPr>
            <a:r>
              <a:t>clean_sensor_data</a:t>
            </a:r>
          </a:p>
          <a:p>
            <a:pPr>
              <a:defRPr sz="1100">
                <a:solidFill>
                  <a:srgbClr val="9CA3AF"/>
                </a:solidFill>
              </a:defRPr>
            </a:pPr>
            <a:r>
              <a:t>Data hasil pembersihan 30 detik (aggregated timestamp, RMS, moving averages)</a:t>
            </a:r>
          </a:p>
        </p:txBody>
      </p:sp>
      <p:sp>
        <p:nvSpPr>
          <p:cNvPr id="7" name="Rounded Rectangle 6"/>
          <p:cNvSpPr/>
          <p:nvPr/>
        </p:nvSpPr>
        <p:spPr>
          <a:xfrm>
            <a:off x="731520" y="3383280"/>
            <a:ext cx="10424160" cy="822960"/>
          </a:xfrm>
          <a:prstGeom prst="roundRect">
            <a:avLst/>
          </a:prstGeom>
          <a:solidFill>
            <a:srgbClr val="111827"/>
          </a:solidFill>
          <a:ln>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A855F7"/>
                </a:solidFill>
              </a:defRPr>
            </a:pPr>
            <a:r>
              <a:t>feature_dataset</a:t>
            </a:r>
          </a:p>
          <a:p>
            <a:pPr>
              <a:defRPr sz="1100">
                <a:solidFill>
                  <a:srgbClr val="9CA3AF"/>
                </a:solidFill>
              </a:defRPr>
            </a:pPr>
            <a:r>
              <a:t>Data fitur fisik fenomena mekanis (rolling std, FFT spectrum energy, kurtosis)</a:t>
            </a:r>
          </a:p>
        </p:txBody>
      </p:sp>
      <p:sp>
        <p:nvSpPr>
          <p:cNvPr id="8" name="Rounded Rectangle 7"/>
          <p:cNvSpPr/>
          <p:nvPr/>
        </p:nvSpPr>
        <p:spPr>
          <a:xfrm>
            <a:off x="731520" y="4343400"/>
            <a:ext cx="10424160" cy="822960"/>
          </a:xfrm>
          <a:prstGeom prst="roundRect">
            <a:avLst/>
          </a:prstGeom>
          <a:solidFill>
            <a:srgbClr val="111827"/>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9E0B"/>
                </a:solidFill>
              </a:defRPr>
            </a:pPr>
            <a:r>
              <a:t>prediction_results</a:t>
            </a:r>
          </a:p>
          <a:p>
            <a:pPr>
              <a:defRPr sz="1100">
                <a:solidFill>
                  <a:srgbClr val="9CA3AF"/>
                </a:solidFill>
              </a:defRPr>
            </a:pPr>
            <a:r>
              <a:t>Hasil inferensi AI 5 menit (anomaly score, fault category, RUL remaining)</a:t>
            </a:r>
          </a:p>
        </p:txBody>
      </p:sp>
      <p:sp>
        <p:nvSpPr>
          <p:cNvPr id="9" name="Rounded Rectangle 8"/>
          <p:cNvSpPr/>
          <p:nvPr/>
        </p:nvSpPr>
        <p:spPr>
          <a:xfrm>
            <a:off x="731520" y="5303520"/>
            <a:ext cx="10424160" cy="822960"/>
          </a:xfrm>
          <a:prstGeom prst="roundRect">
            <a:avLst/>
          </a:prstGeom>
          <a:solidFill>
            <a:srgbClr val="111827"/>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EF4444"/>
                </a:solidFill>
              </a:defRPr>
            </a:pPr>
            <a:r>
              <a:t>alerts_history</a:t>
            </a:r>
          </a:p>
          <a:p>
            <a:pPr>
              <a:defRPr sz="1100">
                <a:solidFill>
                  <a:srgbClr val="9CA3AF"/>
                </a:solidFill>
              </a:defRPr>
            </a:pPr>
            <a:r>
              <a:t>Log notifikasi dan rekomendasi tindakan maintenance (severity, status, work order)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828800" cy="365760"/>
          </a:xfrm>
          <a:prstGeom prst="rect">
            <a:avLst/>
          </a:prstGeom>
          <a:noFill/>
        </p:spPr>
        <p:txBody>
          <a:bodyPr wrap="none">
            <a:spAutoFit/>
          </a:bodyPr>
          <a:lstStyle/>
          <a:p>
            <a:pPr>
              <a:defRPr sz="1100" b="1">
                <a:solidFill>
                  <a:srgbClr val="22C55E"/>
                </a:solidFill>
              </a:defRPr>
            </a:pPr>
            <a:r>
              <a:t>SLIDE 10</a:t>
            </a:r>
          </a:p>
        </p:txBody>
      </p:sp>
      <p:sp>
        <p:nvSpPr>
          <p:cNvPr id="4" name="TextBox 3"/>
          <p:cNvSpPr txBox="1"/>
          <p:nvPr/>
        </p:nvSpPr>
        <p:spPr>
          <a:xfrm>
            <a:off x="731520" y="640080"/>
            <a:ext cx="10058400" cy="731520"/>
          </a:xfrm>
          <a:prstGeom prst="rect">
            <a:avLst/>
          </a:prstGeom>
          <a:noFill/>
        </p:spPr>
        <p:txBody>
          <a:bodyPr wrap="none">
            <a:spAutoFit/>
          </a:bodyPr>
          <a:lstStyle/>
          <a:p>
            <a:pPr>
              <a:defRPr sz="2400" b="1">
                <a:solidFill>
                  <a:srgbClr val="FFFFFF"/>
                </a:solidFill>
              </a:defRPr>
            </a:pPr>
            <a:r>
              <a:t>General System Flow &amp; Execution Pipelines</a:t>
            </a:r>
          </a:p>
        </p:txBody>
      </p:sp>
      <p:sp>
        <p:nvSpPr>
          <p:cNvPr id="5" name="Rounded Rectangle 4"/>
          <p:cNvSpPr/>
          <p:nvPr/>
        </p:nvSpPr>
        <p:spPr>
          <a:xfrm>
            <a:off x="731520" y="1645920"/>
            <a:ext cx="3291840" cy="4114800"/>
          </a:xfrm>
          <a:prstGeom prst="roundRect">
            <a:avLst/>
          </a:prstGeom>
          <a:solidFill>
            <a:srgbClr val="111827"/>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B82F6"/>
                </a:solidFill>
              </a:defRPr>
            </a:pPr>
            <a:r>
              <a:t>PIPELINE 01</a:t>
            </a:r>
          </a:p>
          <a:p>
            <a:pPr>
              <a:defRPr sz="1600" b="1">
                <a:solidFill>
                  <a:srgbClr val="FFFFFF"/>
                </a:solidFill>
              </a:defRPr>
            </a:pPr>
            <a:r>
              <a:t>Ingestion Stream</a:t>
            </a:r>
          </a:p>
          <a:p>
            <a:pPr>
              <a:defRPr sz="1200">
                <a:solidFill>
                  <a:srgbClr val="9CA3AF"/>
                </a:solidFill>
              </a:defRPr>
            </a:pPr>
            <a:r>
              <a:t>Sensor (Temp, Vib, Current, RPM) ➔ PLC ➔ IoT Gateway ➔ raw_sensor_data</a:t>
            </a:r>
          </a:p>
        </p:txBody>
      </p:sp>
      <p:sp>
        <p:nvSpPr>
          <p:cNvPr id="6" name="Rounded Rectangle 5"/>
          <p:cNvSpPr/>
          <p:nvPr/>
        </p:nvSpPr>
        <p:spPr>
          <a:xfrm>
            <a:off x="4297680" y="1645920"/>
            <a:ext cx="3291840" cy="4114800"/>
          </a:xfrm>
          <a:prstGeom prst="roundRect">
            <a:avLst/>
          </a:prstGeom>
          <a:solidFill>
            <a:srgbClr val="111827"/>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2C55E"/>
                </a:solidFill>
              </a:defRPr>
            </a:pPr>
            <a:r>
              <a:t>PIPELINE 02 (30s)</a:t>
            </a:r>
          </a:p>
          <a:p>
            <a:pPr>
              <a:defRPr sz="1600" b="1">
                <a:solidFill>
                  <a:srgbClr val="FFFFFF"/>
                </a:solidFill>
              </a:defRPr>
            </a:pPr>
            <a:r>
              <a:t>Cleaning Engine</a:t>
            </a:r>
          </a:p>
          <a:p>
            <a:pPr>
              <a:defRPr sz="1200">
                <a:solidFill>
                  <a:srgbClr val="9CA3AF"/>
                </a:solidFill>
              </a:defRPr>
            </a:pPr>
            <a:r>
              <a:t>Pandas Data Validation &amp; 30s timestamp aggregation (Avg, RMS) ➔ clean_sensor_data</a:t>
            </a:r>
          </a:p>
        </p:txBody>
      </p:sp>
      <p:sp>
        <p:nvSpPr>
          <p:cNvPr id="7" name="Rounded Rectangle 6"/>
          <p:cNvSpPr/>
          <p:nvPr/>
        </p:nvSpPr>
        <p:spPr>
          <a:xfrm>
            <a:off x="7863840" y="1645920"/>
            <a:ext cx="3291840" cy="4114800"/>
          </a:xfrm>
          <a:prstGeom prst="roundRect">
            <a:avLst/>
          </a:prstGeom>
          <a:solidFill>
            <a:srgbClr val="111827"/>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A855F7"/>
                </a:solidFill>
              </a:defRPr>
            </a:pPr>
            <a:r>
              <a:t>PIPELINE 03 (5m)</a:t>
            </a:r>
          </a:p>
          <a:p>
            <a:pPr>
              <a:defRPr sz="1600" b="1">
                <a:solidFill>
                  <a:srgbClr val="FFFFFF"/>
                </a:solidFill>
              </a:defRPr>
            </a:pPr>
            <a:r>
              <a:t>Feature &amp; Model Inference</a:t>
            </a:r>
          </a:p>
          <a:p>
            <a:pPr>
              <a:defRPr sz="1200">
                <a:solidFill>
                  <a:srgbClr val="9CA3AF"/>
                </a:solidFill>
              </a:defRPr>
            </a:pPr>
            <a:r>
              <a:t>Feature Extraction (FFT, Kurtosis) ➔ AI Cascade ➔ Decision Engine ➔ Dashboard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828800" cy="365760"/>
          </a:xfrm>
          <a:prstGeom prst="rect">
            <a:avLst/>
          </a:prstGeom>
          <a:noFill/>
        </p:spPr>
        <p:txBody>
          <a:bodyPr wrap="none">
            <a:spAutoFit/>
          </a:bodyPr>
          <a:lstStyle/>
          <a:p>
            <a:pPr>
              <a:defRPr sz="1100" b="1">
                <a:solidFill>
                  <a:srgbClr val="22C55E"/>
                </a:solidFill>
              </a:defRPr>
            </a:pPr>
            <a:r>
              <a:t>SLIDE 11</a:t>
            </a:r>
          </a:p>
        </p:txBody>
      </p:sp>
      <p:sp>
        <p:nvSpPr>
          <p:cNvPr id="4" name="TextBox 3"/>
          <p:cNvSpPr txBox="1"/>
          <p:nvPr/>
        </p:nvSpPr>
        <p:spPr>
          <a:xfrm>
            <a:off x="731520" y="640080"/>
            <a:ext cx="10058400" cy="731520"/>
          </a:xfrm>
          <a:prstGeom prst="rect">
            <a:avLst/>
          </a:prstGeom>
          <a:noFill/>
        </p:spPr>
        <p:txBody>
          <a:bodyPr wrap="none">
            <a:spAutoFit/>
          </a:bodyPr>
          <a:lstStyle/>
          <a:p>
            <a:pPr>
              <a:defRPr sz="2400" b="1">
                <a:solidFill>
                  <a:srgbClr val="FFFFFF"/>
                </a:solidFill>
              </a:defRPr>
            </a:pPr>
            <a:r>
              <a:t>AI Models Cascade Architecture</a:t>
            </a:r>
          </a:p>
        </p:txBody>
      </p:sp>
      <p:sp>
        <p:nvSpPr>
          <p:cNvPr id="5" name="Rounded Rectangle 4"/>
          <p:cNvSpPr/>
          <p:nvPr/>
        </p:nvSpPr>
        <p:spPr>
          <a:xfrm>
            <a:off x="731520" y="2011680"/>
            <a:ext cx="10424160" cy="2926080"/>
          </a:xfrm>
          <a:prstGeom prst="roundRect">
            <a:avLst/>
          </a:prstGeom>
          <a:solidFill>
            <a:srgbClr val="111827"/>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22C55E"/>
                </a:solidFill>
              </a:defRPr>
            </a:pPr>
            <a:r>
              <a:t>MULTI-STAGE AI CASCADE PIPELINE</a:t>
            </a:r>
          </a:p>
          <a:p>
            <a:pPr algn="ctr">
              <a:defRPr sz="1800" b="1">
                <a:solidFill>
                  <a:srgbClr val="FFFFFF"/>
                </a:solidFill>
              </a:defRPr>
            </a:pPr>
            <a:r>
              <a:t>feature_dataset   ➔   Model A1 (Anomaly)   ➔   Model A2 (Fault Class)   ➔   Model B (RUL)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828800" cy="365760"/>
          </a:xfrm>
          <a:prstGeom prst="rect">
            <a:avLst/>
          </a:prstGeom>
          <a:noFill/>
        </p:spPr>
        <p:txBody>
          <a:bodyPr wrap="none">
            <a:spAutoFit/>
          </a:bodyPr>
          <a:lstStyle/>
          <a:p>
            <a:pPr>
              <a:defRPr sz="1100" b="1">
                <a:solidFill>
                  <a:srgbClr val="22C55E"/>
                </a:solidFill>
              </a:defRPr>
            </a:pPr>
            <a:r>
              <a:t>SLIDE 12</a:t>
            </a:r>
          </a:p>
        </p:txBody>
      </p:sp>
      <p:sp>
        <p:nvSpPr>
          <p:cNvPr id="4" name="TextBox 3"/>
          <p:cNvSpPr txBox="1"/>
          <p:nvPr/>
        </p:nvSpPr>
        <p:spPr>
          <a:xfrm>
            <a:off x="731520" y="640080"/>
            <a:ext cx="10058400" cy="731520"/>
          </a:xfrm>
          <a:prstGeom prst="rect">
            <a:avLst/>
          </a:prstGeom>
          <a:noFill/>
        </p:spPr>
        <p:txBody>
          <a:bodyPr wrap="none">
            <a:spAutoFit/>
          </a:bodyPr>
          <a:lstStyle/>
          <a:p>
            <a:pPr>
              <a:defRPr sz="2400" b="1">
                <a:solidFill>
                  <a:srgbClr val="FFFFFF"/>
                </a:solidFill>
              </a:defRPr>
            </a:pPr>
            <a:r>
              <a:t>Model A1 — Anomaly Detection</a:t>
            </a:r>
          </a:p>
        </p:txBody>
      </p:sp>
      <p:sp>
        <p:nvSpPr>
          <p:cNvPr id="5" name="Rounded Rectangle 4"/>
          <p:cNvSpPr/>
          <p:nvPr/>
        </p:nvSpPr>
        <p:spPr>
          <a:xfrm>
            <a:off x="731520" y="1645920"/>
            <a:ext cx="5120640" cy="4114800"/>
          </a:xfrm>
          <a:prstGeom prst="roundRect">
            <a:avLst/>
          </a:prstGeom>
          <a:solidFill>
            <a:srgbClr val="111827"/>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3B82F6"/>
                </a:solidFill>
              </a:defRPr>
            </a:pPr>
            <a:r>
              <a:t>TECHNICAL SPECS</a:t>
            </a:r>
          </a:p>
          <a:p>
            <a:pPr>
              <a:defRPr sz="1200">
                <a:solidFill>
                  <a:srgbClr val="FFFFFF"/>
                </a:solidFill>
              </a:defRPr>
            </a:pPr>
            <a:r>
              <a:t>Dataset: SKAB &amp; Paderborn</a:t>
            </a:r>
            <a:br/>
            <a:r>
              <a:t>Algorithm: Unsupervised LSTM Autoencoder / Random Forest</a:t>
            </a:r>
            <a:br/>
            <a:r>
              <a:t>Input: 25 Rolling Features</a:t>
            </a:r>
            <a:br/>
            <a:r>
              <a:t>Output: Anomaly Score &amp; Binary Flag (0/1)</a:t>
            </a:r>
          </a:p>
        </p:txBody>
      </p:sp>
      <p:sp>
        <p:nvSpPr>
          <p:cNvPr id="6" name="Rounded Rectangle 5"/>
          <p:cNvSpPr/>
          <p:nvPr/>
        </p:nvSpPr>
        <p:spPr>
          <a:xfrm>
            <a:off x="6126480" y="1645920"/>
            <a:ext cx="5120640" cy="4114800"/>
          </a:xfrm>
          <a:prstGeom prst="roundRect">
            <a:avLst/>
          </a:prstGeom>
          <a:solidFill>
            <a:srgbClr val="111827"/>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3B82F6"/>
                </a:solidFill>
              </a:defRPr>
            </a:pPr>
            <a:r>
              <a:t>WORKFLOW EXECUTION</a:t>
            </a:r>
          </a:p>
          <a:p>
            <a:pPr>
              <a:defRPr sz="1200">
                <a:solidFill>
                  <a:srgbClr val="FFFFFF"/>
                </a:solidFill>
              </a:defRPr>
            </a:pPr>
            <a:r>
              <a:t>Model A1 merekonstruksi sinyal sensor normal. Jika selisih reconstruction loss melebihi threshold (1.005), sistem memicu indikasi awal deviasi kondisi mesin.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828800" cy="365760"/>
          </a:xfrm>
          <a:prstGeom prst="rect">
            <a:avLst/>
          </a:prstGeom>
          <a:noFill/>
        </p:spPr>
        <p:txBody>
          <a:bodyPr wrap="none">
            <a:spAutoFit/>
          </a:bodyPr>
          <a:lstStyle/>
          <a:p>
            <a:pPr>
              <a:defRPr sz="1100" b="1">
                <a:solidFill>
                  <a:srgbClr val="22C55E"/>
                </a:solidFill>
              </a:defRPr>
            </a:pPr>
            <a:r>
              <a:t>SLIDE 13</a:t>
            </a:r>
          </a:p>
        </p:txBody>
      </p:sp>
      <p:sp>
        <p:nvSpPr>
          <p:cNvPr id="4" name="TextBox 3"/>
          <p:cNvSpPr txBox="1"/>
          <p:nvPr/>
        </p:nvSpPr>
        <p:spPr>
          <a:xfrm>
            <a:off x="731520" y="640080"/>
            <a:ext cx="10058400" cy="731520"/>
          </a:xfrm>
          <a:prstGeom prst="rect">
            <a:avLst/>
          </a:prstGeom>
          <a:noFill/>
        </p:spPr>
        <p:txBody>
          <a:bodyPr wrap="none">
            <a:spAutoFit/>
          </a:bodyPr>
          <a:lstStyle/>
          <a:p>
            <a:pPr>
              <a:defRPr sz="2400" b="1">
                <a:solidFill>
                  <a:srgbClr val="FFFFFF"/>
                </a:solidFill>
              </a:defRPr>
            </a:pPr>
            <a:r>
              <a:t>Model A2 — Fault Classification</a:t>
            </a:r>
          </a:p>
        </p:txBody>
      </p:sp>
      <p:sp>
        <p:nvSpPr>
          <p:cNvPr id="5" name="Rounded Rectangle 4"/>
          <p:cNvSpPr/>
          <p:nvPr/>
        </p:nvSpPr>
        <p:spPr>
          <a:xfrm>
            <a:off x="731520" y="1645920"/>
            <a:ext cx="5120640" cy="4114800"/>
          </a:xfrm>
          <a:prstGeom prst="roundRect">
            <a:avLst/>
          </a:prstGeom>
          <a:solidFill>
            <a:srgbClr val="111827"/>
          </a:solidFill>
          <a:ln>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A855F7"/>
                </a:solidFill>
              </a:defRPr>
            </a:pPr>
            <a:r>
              <a:t>TECHNICAL SPECS</a:t>
            </a:r>
          </a:p>
          <a:p>
            <a:pPr>
              <a:defRPr sz="1200">
                <a:solidFill>
                  <a:srgbClr val="FFFFFF"/>
                </a:solidFill>
              </a:defRPr>
            </a:pPr>
            <a:r>
              <a:t>Dataset: CWRU Bearing &amp; Paderborn</a:t>
            </a:r>
            <a:br/>
            <a:r>
              <a:t>Algorithm: Supervised Gradient Boosting / MLP Classifier</a:t>
            </a:r>
            <a:br/>
            <a:r>
              <a:t>Input: Vibration FFT Spectrum &amp; Stator Current</a:t>
            </a:r>
            <a:br/>
            <a:r>
              <a:t>Output: Fault Category (Healthy, Inner Race, Outer Race, Roller)</a:t>
            </a:r>
          </a:p>
        </p:txBody>
      </p:sp>
      <p:sp>
        <p:nvSpPr>
          <p:cNvPr id="6" name="Rounded Rectangle 5"/>
          <p:cNvSpPr/>
          <p:nvPr/>
        </p:nvSpPr>
        <p:spPr>
          <a:xfrm>
            <a:off x="6126480" y="1645920"/>
            <a:ext cx="5120640" cy="4114800"/>
          </a:xfrm>
          <a:prstGeom prst="roundRect">
            <a:avLst/>
          </a:prstGeom>
          <a:solidFill>
            <a:srgbClr val="111827"/>
          </a:solidFill>
          <a:ln>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A855F7"/>
                </a:solidFill>
              </a:defRPr>
            </a:pPr>
            <a:r>
              <a:t>DIAGNOSTIC CAPABILITY</a:t>
            </a:r>
          </a:p>
          <a:p>
            <a:pPr>
              <a:defRPr sz="1200">
                <a:solidFill>
                  <a:srgbClr val="FFFFFF"/>
                </a:solidFill>
              </a:defRPr>
            </a:pPr>
            <a:r>
              <a:t>Mengkategorikan lokasi pasti titik kerusakan mekanis dengan akurasi teruji 88.4% pada pengujian multi-kelas industri.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828800" cy="365760"/>
          </a:xfrm>
          <a:prstGeom prst="rect">
            <a:avLst/>
          </a:prstGeom>
          <a:noFill/>
        </p:spPr>
        <p:txBody>
          <a:bodyPr wrap="none">
            <a:spAutoFit/>
          </a:bodyPr>
          <a:lstStyle/>
          <a:p>
            <a:pPr>
              <a:defRPr sz="1100" b="1">
                <a:solidFill>
                  <a:srgbClr val="22C55E"/>
                </a:solidFill>
              </a:defRPr>
            </a:pPr>
            <a:r>
              <a:t>SLIDE 14</a:t>
            </a:r>
          </a:p>
        </p:txBody>
      </p:sp>
      <p:sp>
        <p:nvSpPr>
          <p:cNvPr id="4" name="TextBox 3"/>
          <p:cNvSpPr txBox="1"/>
          <p:nvPr/>
        </p:nvSpPr>
        <p:spPr>
          <a:xfrm>
            <a:off x="731520" y="640080"/>
            <a:ext cx="10058400" cy="731520"/>
          </a:xfrm>
          <a:prstGeom prst="rect">
            <a:avLst/>
          </a:prstGeom>
          <a:noFill/>
        </p:spPr>
        <p:txBody>
          <a:bodyPr wrap="none">
            <a:spAutoFit/>
          </a:bodyPr>
          <a:lstStyle/>
          <a:p>
            <a:pPr>
              <a:defRPr sz="2400" b="1">
                <a:solidFill>
                  <a:srgbClr val="FFFFFF"/>
                </a:solidFill>
              </a:defRPr>
            </a:pPr>
            <a:r>
              <a:t>Model B — Remaining Useful Life (RUL) Prediction</a:t>
            </a:r>
          </a:p>
        </p:txBody>
      </p:sp>
      <p:sp>
        <p:nvSpPr>
          <p:cNvPr id="5" name="Rounded Rectangle 4"/>
          <p:cNvSpPr/>
          <p:nvPr/>
        </p:nvSpPr>
        <p:spPr>
          <a:xfrm>
            <a:off x="731520" y="1645920"/>
            <a:ext cx="5120640" cy="4114800"/>
          </a:xfrm>
          <a:prstGeom prst="roundRect">
            <a:avLst/>
          </a:prstGeom>
          <a:solidFill>
            <a:srgbClr val="111827"/>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59E0B"/>
                </a:solidFill>
              </a:defRPr>
            </a:pPr>
            <a:r>
              <a:t>TECHNICAL SPECS</a:t>
            </a:r>
          </a:p>
          <a:p>
            <a:pPr>
              <a:defRPr sz="1200">
                <a:solidFill>
                  <a:srgbClr val="FFFFFF"/>
                </a:solidFill>
              </a:defRPr>
            </a:pPr>
            <a:r>
              <a:t>Dataset: NASA CMAPSS Turbofan FD001</a:t>
            </a:r>
            <a:br/>
            <a:r>
              <a:t>Algorithm: Deep LSTM Regressor dengan Asymmetric Loss</a:t>
            </a:r>
            <a:br/>
            <a:r>
              <a:t>Input: 30-Step Sequential Multi-Sensor Time-Series</a:t>
            </a:r>
            <a:br/>
            <a:r>
              <a:t>Output: RUL Remaining Hours / Cycles</a:t>
            </a:r>
          </a:p>
        </p:txBody>
      </p:sp>
      <p:sp>
        <p:nvSpPr>
          <p:cNvPr id="6" name="Rounded Rectangle 5"/>
          <p:cNvSpPr/>
          <p:nvPr/>
        </p:nvSpPr>
        <p:spPr>
          <a:xfrm>
            <a:off x="6126480" y="1645920"/>
            <a:ext cx="5120640" cy="4114800"/>
          </a:xfrm>
          <a:prstGeom prst="roundRect">
            <a:avLst/>
          </a:prstGeom>
          <a:solidFill>
            <a:srgbClr val="111827"/>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59E0B"/>
                </a:solidFill>
              </a:defRPr>
            </a:pPr>
            <a:r>
              <a:t>ASYMMETRIC LOSS OPTIMIZATION</a:t>
            </a:r>
          </a:p>
          <a:p>
            <a:pPr>
              <a:defRPr sz="1200">
                <a:solidFill>
                  <a:srgbClr val="FFFFFF"/>
                </a:solidFill>
              </a:defRPr>
            </a:pPr>
            <a:r>
              <a:t>Menggunakan penalti asimetris NASA (penalti keterlambatan prediksi jauh lebih besar daripada prediksi lebih awal) untuk menjamin keselamatan operasional pabrik.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828800" cy="365760"/>
          </a:xfrm>
          <a:prstGeom prst="rect">
            <a:avLst/>
          </a:prstGeom>
          <a:noFill/>
        </p:spPr>
        <p:txBody>
          <a:bodyPr wrap="none">
            <a:spAutoFit/>
          </a:bodyPr>
          <a:lstStyle/>
          <a:p>
            <a:pPr>
              <a:defRPr sz="1100" b="1">
                <a:solidFill>
                  <a:srgbClr val="22C55E"/>
                </a:solidFill>
              </a:defRPr>
            </a:pPr>
            <a:r>
              <a:t>SLIDE 15</a:t>
            </a:r>
          </a:p>
        </p:txBody>
      </p:sp>
      <p:sp>
        <p:nvSpPr>
          <p:cNvPr id="4" name="TextBox 3"/>
          <p:cNvSpPr txBox="1"/>
          <p:nvPr/>
        </p:nvSpPr>
        <p:spPr>
          <a:xfrm>
            <a:off x="731520" y="640080"/>
            <a:ext cx="10058400" cy="731520"/>
          </a:xfrm>
          <a:prstGeom prst="rect">
            <a:avLst/>
          </a:prstGeom>
          <a:noFill/>
        </p:spPr>
        <p:txBody>
          <a:bodyPr wrap="none">
            <a:spAutoFit/>
          </a:bodyPr>
          <a:lstStyle/>
          <a:p>
            <a:pPr>
              <a:defRPr sz="2400" b="1">
                <a:solidFill>
                  <a:srgbClr val="FFFFFF"/>
                </a:solidFill>
              </a:defRPr>
            </a:pPr>
            <a:r>
              <a:t>Decision Engine &amp; False Alarm Suppression</a:t>
            </a:r>
          </a:p>
        </p:txBody>
      </p:sp>
      <p:sp>
        <p:nvSpPr>
          <p:cNvPr id="5" name="Rounded Rectangle 4"/>
          <p:cNvSpPr/>
          <p:nvPr/>
        </p:nvSpPr>
        <p:spPr>
          <a:xfrm>
            <a:off x="731520" y="1645920"/>
            <a:ext cx="10424160" cy="1371600"/>
          </a:xfrm>
          <a:prstGeom prst="roundRect">
            <a:avLst/>
          </a:prstGeom>
          <a:solidFill>
            <a:srgbClr val="111827"/>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2C55E"/>
                </a:solidFill>
              </a:defRPr>
            </a:pPr>
            <a:r>
              <a:t>DECISION ENGINE LAYERED FLOW</a:t>
            </a:r>
          </a:p>
          <a:p>
            <a:pPr algn="ctr">
              <a:defRPr sz="1100" b="1">
                <a:solidFill>
                  <a:srgbClr val="FFFFFF"/>
                </a:solidFill>
              </a:defRPr>
            </a:pPr>
            <a:r>
              <a:t>Prediction ➔ Business Rules ➔ Persistence Check ➔ Context Validation ➔ False Alarm Suppression ➔ Alert Cooldown ➔ Recommendation &amp; Email</a:t>
            </a:r>
          </a:p>
        </p:txBody>
      </p:sp>
      <p:sp>
        <p:nvSpPr>
          <p:cNvPr id="6" name="Rounded Rectangle 5"/>
          <p:cNvSpPr/>
          <p:nvPr/>
        </p:nvSpPr>
        <p:spPr>
          <a:xfrm>
            <a:off x="731520" y="3291840"/>
            <a:ext cx="3291840" cy="2560320"/>
          </a:xfrm>
          <a:prstGeom prst="roundRect">
            <a:avLst/>
          </a:prstGeom>
          <a:solidFill>
            <a:srgbClr val="111827"/>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22C55E"/>
                </a:solidFill>
              </a:defRPr>
            </a:pPr>
            <a:r>
              <a:t>1. Business Rules &amp; Context</a:t>
            </a:r>
          </a:p>
          <a:p>
            <a:pPr>
              <a:defRPr sz="1100">
                <a:solidFill>
                  <a:srgbClr val="9CA3AF"/>
                </a:solidFill>
              </a:defRPr>
            </a:pPr>
            <a:r>
              <a:t>Aturan batas daya/rpm sesuai tipe mesin &amp; konteks status operasi steady state.</a:t>
            </a:r>
          </a:p>
        </p:txBody>
      </p:sp>
      <p:sp>
        <p:nvSpPr>
          <p:cNvPr id="7" name="Rounded Rectangle 6"/>
          <p:cNvSpPr/>
          <p:nvPr/>
        </p:nvSpPr>
        <p:spPr>
          <a:xfrm>
            <a:off x="4297680" y="3291840"/>
            <a:ext cx="3291840" cy="2560320"/>
          </a:xfrm>
          <a:prstGeom prst="roundRect">
            <a:avLst/>
          </a:prstGeom>
          <a:solidFill>
            <a:srgbClr val="111827"/>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22C55E"/>
                </a:solidFill>
              </a:defRPr>
            </a:pPr>
            <a:r>
              <a:t>2. Multi-Model Support Check</a:t>
            </a:r>
          </a:p>
          <a:p>
            <a:pPr>
              <a:defRPr sz="1100">
                <a:solidFill>
                  <a:srgbClr val="9CA3AF"/>
                </a:solidFill>
              </a:defRPr>
            </a:pPr>
            <a:r>
              <a:t>Notifikasi hanya dikirim jika Model A1, A2, dan B saling mengonfirmasi.</a:t>
            </a:r>
          </a:p>
        </p:txBody>
      </p:sp>
      <p:sp>
        <p:nvSpPr>
          <p:cNvPr id="8" name="Rounded Rectangle 7"/>
          <p:cNvSpPr/>
          <p:nvPr/>
        </p:nvSpPr>
        <p:spPr>
          <a:xfrm>
            <a:off x="7863840" y="3291840"/>
            <a:ext cx="3291840" cy="2560320"/>
          </a:xfrm>
          <a:prstGeom prst="roundRect">
            <a:avLst/>
          </a:prstGeom>
          <a:solidFill>
            <a:srgbClr val="111827"/>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22C55E"/>
                </a:solidFill>
              </a:defRPr>
            </a:pPr>
            <a:r>
              <a:t>3. Cooldown &amp; Escalation</a:t>
            </a:r>
          </a:p>
          <a:p>
            <a:pPr>
              <a:defRPr sz="1100">
                <a:solidFill>
                  <a:srgbClr val="9CA3AF"/>
                </a:solidFill>
              </a:defRPr>
            </a:pPr>
            <a:r>
              <a:t>Mencegah spam email dengan cooldown period &amp; eskalasi otomatis ke tim maintenance.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828800" cy="365760"/>
          </a:xfrm>
          <a:prstGeom prst="rect">
            <a:avLst/>
          </a:prstGeom>
          <a:noFill/>
        </p:spPr>
        <p:txBody>
          <a:bodyPr wrap="none">
            <a:spAutoFit/>
          </a:bodyPr>
          <a:lstStyle/>
          <a:p>
            <a:pPr>
              <a:defRPr sz="1100" b="1">
                <a:solidFill>
                  <a:srgbClr val="22C55E"/>
                </a:solidFill>
              </a:defRPr>
            </a:pPr>
            <a:r>
              <a:t>SLIDE 16</a:t>
            </a:r>
          </a:p>
        </p:txBody>
      </p:sp>
      <p:sp>
        <p:nvSpPr>
          <p:cNvPr id="4" name="TextBox 3"/>
          <p:cNvSpPr txBox="1"/>
          <p:nvPr/>
        </p:nvSpPr>
        <p:spPr>
          <a:xfrm>
            <a:off x="731520" y="640080"/>
            <a:ext cx="10058400" cy="731520"/>
          </a:xfrm>
          <a:prstGeom prst="rect">
            <a:avLst/>
          </a:prstGeom>
          <a:noFill/>
        </p:spPr>
        <p:txBody>
          <a:bodyPr wrap="none">
            <a:spAutoFit/>
          </a:bodyPr>
          <a:lstStyle/>
          <a:p>
            <a:pPr>
              <a:defRPr sz="2400" b="1">
                <a:solidFill>
                  <a:srgbClr val="FFFFFF"/>
                </a:solidFill>
              </a:defRPr>
            </a:pPr>
            <a:r>
              <a:t>System Model Performance &amp; Metrics</a:t>
            </a:r>
          </a:p>
        </p:txBody>
      </p:sp>
      <p:graphicFrame>
        <p:nvGraphicFramePr>
          <p:cNvPr id="5" name="Table 4"/>
          <p:cNvGraphicFramePr>
            <a:graphicFrameLocks noGrp="1"/>
          </p:cNvGraphicFramePr>
          <p:nvPr/>
        </p:nvGraphicFramePr>
        <p:xfrm>
          <a:off x="731520" y="1645920"/>
          <a:ext cx="10424160" cy="4114800"/>
        </p:xfrm>
        <a:graphic>
          <a:graphicData uri="http://schemas.openxmlformats.org/drawingml/2006/table">
            <a:tbl>
              <a:tblPr firstRow="1" bandRow="1">
                <a:tableStyleId>{5C22544A-7EE6-4342-B048-85BDC9FD1C3A}</a:tableStyleId>
              </a:tblPr>
              <a:tblGrid>
                <a:gridCol w="2926080"/>
                <a:gridCol w="2926080"/>
                <a:gridCol w="4572000"/>
              </a:tblGrid>
              <a:tr h="514350">
                <a:tc>
                  <a:txBody>
                    <a:bodyPr/>
                    <a:lstStyle/>
                    <a:p>
                      <a:pPr>
                        <a:defRPr b="1" sz="1200">
                          <a:solidFill>
                            <a:srgbClr val="22C55E"/>
                          </a:solidFill>
                        </a:defRPr>
                      </a:pPr>
                      <a:r>
                        <a:t>Evaluation Metric</a:t>
                      </a:r>
                    </a:p>
                  </a:txBody>
                  <a:tcPr>
                    <a:solidFill>
                      <a:srgbClr val="111827"/>
                    </a:solidFill>
                  </a:tcPr>
                </a:tc>
                <a:tc>
                  <a:txBody>
                    <a:bodyPr/>
                    <a:lstStyle/>
                    <a:p>
                      <a:pPr>
                        <a:defRPr b="1" sz="1200">
                          <a:solidFill>
                            <a:srgbClr val="22C55E"/>
                          </a:solidFill>
                        </a:defRPr>
                      </a:pPr>
                      <a:r>
                        <a:t>Industrial Benchmark Value</a:t>
                      </a:r>
                    </a:p>
                  </a:txBody>
                  <a:tcPr>
                    <a:solidFill>
                      <a:srgbClr val="111827"/>
                    </a:solidFill>
                  </a:tcPr>
                </a:tc>
                <a:tc>
                  <a:txBody>
                    <a:bodyPr/>
                    <a:lstStyle/>
                    <a:p>
                      <a:pPr>
                        <a:defRPr b="1" sz="1200">
                          <a:solidFill>
                            <a:srgbClr val="22C55E"/>
                          </a:solidFill>
                        </a:defRPr>
                      </a:pPr>
                      <a:r>
                        <a:t>Evaluation Note</a:t>
                      </a:r>
                    </a:p>
                  </a:txBody>
                  <a:tcPr>
                    <a:solidFill>
                      <a:srgbClr val="111827"/>
                    </a:solidFill>
                  </a:tcPr>
                </a:tc>
              </a:tr>
              <a:tr h="514350">
                <a:tc>
                  <a:txBody>
                    <a:bodyPr/>
                    <a:lstStyle/>
                    <a:p>
                      <a:pPr>
                        <a:defRPr sz="1100">
                          <a:solidFill>
                            <a:srgbClr val="FFFFFF"/>
                          </a:solidFill>
                        </a:defRPr>
                      </a:pPr>
                      <a:r>
                        <a:t>Overall Test Accuracy</a:t>
                      </a:r>
                    </a:p>
                  </a:txBody>
                  <a:tcPr>
                    <a:solidFill>
                      <a:srgbClr val="111827"/>
                    </a:solidFill>
                  </a:tcPr>
                </a:tc>
                <a:tc>
                  <a:txBody>
                    <a:bodyPr/>
                    <a:lstStyle/>
                    <a:p>
                      <a:pPr>
                        <a:defRPr sz="1100">
                          <a:solidFill>
                            <a:srgbClr val="22C55E"/>
                          </a:solidFill>
                        </a:defRPr>
                      </a:pPr>
                      <a:r>
                        <a:t>88.4%</a:t>
                      </a:r>
                    </a:p>
                  </a:txBody>
                  <a:tcPr>
                    <a:solidFill>
                      <a:srgbClr val="111827"/>
                    </a:solidFill>
                  </a:tcPr>
                </a:tc>
                <a:tc>
                  <a:txBody>
                    <a:bodyPr/>
                    <a:lstStyle/>
                    <a:p>
                      <a:pPr>
                        <a:defRPr sz="1100">
                          <a:solidFill>
                            <a:srgbClr val="9CA3AF"/>
                          </a:solidFill>
                        </a:defRPr>
                      </a:pPr>
                      <a:r>
                        <a:t>Trained &amp; tested on 10-class bearing &amp; motor fault datasets</a:t>
                      </a:r>
                    </a:p>
                  </a:txBody>
                  <a:tcPr>
                    <a:solidFill>
                      <a:srgbClr val="111827"/>
                    </a:solidFill>
                  </a:tcPr>
                </a:tc>
              </a:tr>
              <a:tr h="514350">
                <a:tc>
                  <a:txBody>
                    <a:bodyPr/>
                    <a:lstStyle/>
                    <a:p>
                      <a:pPr>
                        <a:defRPr sz="1100">
                          <a:solidFill>
                            <a:srgbClr val="FFFFFF"/>
                          </a:solidFill>
                        </a:defRPr>
                      </a:pPr>
                      <a:r>
                        <a:t>Precision Rate</a:t>
                      </a:r>
                    </a:p>
                  </a:txBody>
                  <a:tcPr>
                    <a:solidFill>
                      <a:srgbClr val="111827"/>
                    </a:solidFill>
                  </a:tcPr>
                </a:tc>
                <a:tc>
                  <a:txBody>
                    <a:bodyPr/>
                    <a:lstStyle/>
                    <a:p>
                      <a:pPr>
                        <a:defRPr sz="1100">
                          <a:solidFill>
                            <a:srgbClr val="22C55E"/>
                          </a:solidFill>
                        </a:defRPr>
                      </a:pPr>
                      <a:r>
                        <a:t>92.4%</a:t>
                      </a:r>
                    </a:p>
                  </a:txBody>
                  <a:tcPr>
                    <a:solidFill>
                      <a:srgbClr val="111827"/>
                    </a:solidFill>
                  </a:tcPr>
                </a:tc>
                <a:tc>
                  <a:txBody>
                    <a:bodyPr/>
                    <a:lstStyle/>
                    <a:p>
                      <a:pPr>
                        <a:defRPr sz="1100">
                          <a:solidFill>
                            <a:srgbClr val="9CA3AF"/>
                          </a:solidFill>
                        </a:defRPr>
                      </a:pPr>
                      <a:r>
                        <a:t>High precision to prevent unnecessary component replacement</a:t>
                      </a:r>
                    </a:p>
                  </a:txBody>
                  <a:tcPr>
                    <a:solidFill>
                      <a:srgbClr val="111827"/>
                    </a:solidFill>
                  </a:tcPr>
                </a:tc>
              </a:tr>
              <a:tr h="514350">
                <a:tc>
                  <a:txBody>
                    <a:bodyPr/>
                    <a:lstStyle/>
                    <a:p>
                      <a:pPr>
                        <a:defRPr sz="1100">
                          <a:solidFill>
                            <a:srgbClr val="FFFFFF"/>
                          </a:solidFill>
                        </a:defRPr>
                      </a:pPr>
                      <a:r>
                        <a:t>Recall Rate</a:t>
                      </a:r>
                    </a:p>
                  </a:txBody>
                  <a:tcPr>
                    <a:solidFill>
                      <a:srgbClr val="111827"/>
                    </a:solidFill>
                  </a:tcPr>
                </a:tc>
                <a:tc>
                  <a:txBody>
                    <a:bodyPr/>
                    <a:lstStyle/>
                    <a:p>
                      <a:pPr>
                        <a:defRPr sz="1100">
                          <a:solidFill>
                            <a:srgbClr val="22C55E"/>
                          </a:solidFill>
                        </a:defRPr>
                      </a:pPr>
                      <a:r>
                        <a:t>88.6%</a:t>
                      </a:r>
                    </a:p>
                  </a:txBody>
                  <a:tcPr>
                    <a:solidFill>
                      <a:srgbClr val="111827"/>
                    </a:solidFill>
                  </a:tcPr>
                </a:tc>
                <a:tc>
                  <a:txBody>
                    <a:bodyPr/>
                    <a:lstStyle/>
                    <a:p>
                      <a:pPr>
                        <a:defRPr sz="1100">
                          <a:solidFill>
                            <a:srgbClr val="9CA3AF"/>
                          </a:solidFill>
                        </a:defRPr>
                      </a:pPr>
                      <a:r>
                        <a:t>High sensitivity for early micro-fault detection</a:t>
                      </a:r>
                    </a:p>
                  </a:txBody>
                  <a:tcPr>
                    <a:solidFill>
                      <a:srgbClr val="111827"/>
                    </a:solidFill>
                  </a:tcPr>
                </a:tc>
              </a:tr>
              <a:tr h="514350">
                <a:tc>
                  <a:txBody>
                    <a:bodyPr/>
                    <a:lstStyle/>
                    <a:p>
                      <a:pPr>
                        <a:defRPr sz="1100">
                          <a:solidFill>
                            <a:srgbClr val="FFFFFF"/>
                          </a:solidFill>
                        </a:defRPr>
                      </a:pPr>
                      <a:r>
                        <a:t>Weighted F1 Score</a:t>
                      </a:r>
                    </a:p>
                  </a:txBody>
                  <a:tcPr>
                    <a:solidFill>
                      <a:srgbClr val="111827"/>
                    </a:solidFill>
                  </a:tcPr>
                </a:tc>
                <a:tc>
                  <a:txBody>
                    <a:bodyPr/>
                    <a:lstStyle/>
                    <a:p>
                      <a:pPr>
                        <a:defRPr sz="1100">
                          <a:solidFill>
                            <a:srgbClr val="22C55E"/>
                          </a:solidFill>
                        </a:defRPr>
                      </a:pPr>
                      <a:r>
                        <a:t>0.882</a:t>
                      </a:r>
                    </a:p>
                  </a:txBody>
                  <a:tcPr>
                    <a:solidFill>
                      <a:srgbClr val="111827"/>
                    </a:solidFill>
                  </a:tcPr>
                </a:tc>
                <a:tc>
                  <a:txBody>
                    <a:bodyPr/>
                    <a:lstStyle/>
                    <a:p>
                      <a:pPr>
                        <a:defRPr sz="1100">
                          <a:solidFill>
                            <a:srgbClr val="9CA3AF"/>
                          </a:solidFill>
                        </a:defRPr>
                      </a:pPr>
                      <a:r>
                        <a:t>Harmonic mean across balanced and imbalanced fault classes</a:t>
                      </a:r>
                    </a:p>
                  </a:txBody>
                  <a:tcPr>
                    <a:solidFill>
                      <a:srgbClr val="111827"/>
                    </a:solidFill>
                  </a:tcPr>
                </a:tc>
              </a:tr>
              <a:tr h="514350">
                <a:tc>
                  <a:txBody>
                    <a:bodyPr/>
                    <a:lstStyle/>
                    <a:p>
                      <a:pPr>
                        <a:defRPr sz="1100">
                          <a:solidFill>
                            <a:srgbClr val="FFFFFF"/>
                          </a:solidFill>
                        </a:defRPr>
                      </a:pPr>
                      <a:r>
                        <a:t>RUL Prediction MAE</a:t>
                      </a:r>
                    </a:p>
                  </a:txBody>
                  <a:tcPr>
                    <a:solidFill>
                      <a:srgbClr val="111827"/>
                    </a:solidFill>
                  </a:tcPr>
                </a:tc>
                <a:tc>
                  <a:txBody>
                    <a:bodyPr/>
                    <a:lstStyle/>
                    <a:p>
                      <a:pPr>
                        <a:defRPr sz="1100">
                          <a:solidFill>
                            <a:srgbClr val="22C55E"/>
                          </a:solidFill>
                        </a:defRPr>
                      </a:pPr>
                      <a:r>
                        <a:t>10.24 cycles</a:t>
                      </a:r>
                    </a:p>
                  </a:txBody>
                  <a:tcPr>
                    <a:solidFill>
                      <a:srgbClr val="111827"/>
                    </a:solidFill>
                  </a:tcPr>
                </a:tc>
                <a:tc>
                  <a:txBody>
                    <a:bodyPr/>
                    <a:lstStyle/>
                    <a:p>
                      <a:pPr>
                        <a:defRPr sz="1100">
                          <a:solidFill>
                            <a:srgbClr val="9CA3AF"/>
                          </a:solidFill>
                        </a:defRPr>
                      </a:pPr>
                      <a:r>
                        <a:t>CMAPSS FD001 benchmark evaluation error margin</a:t>
                      </a:r>
                    </a:p>
                  </a:txBody>
                  <a:tcPr>
                    <a:solidFill>
                      <a:srgbClr val="111827"/>
                    </a:solidFill>
                  </a:tcPr>
                </a:tc>
              </a:tr>
              <a:tr h="514350">
                <a:tc>
                  <a:txBody>
                    <a:bodyPr/>
                    <a:lstStyle/>
                    <a:p>
                      <a:pPr>
                        <a:defRPr sz="1100">
                          <a:solidFill>
                            <a:srgbClr val="FFFFFF"/>
                          </a:solidFill>
                        </a:defRPr>
                      </a:pPr>
                      <a:r>
                        <a:t>False Alarm Reduction</a:t>
                      </a:r>
                    </a:p>
                  </a:txBody>
                  <a:tcPr>
                    <a:solidFill>
                      <a:srgbClr val="111827"/>
                    </a:solidFill>
                  </a:tcPr>
                </a:tc>
                <a:tc>
                  <a:txBody>
                    <a:bodyPr/>
                    <a:lstStyle/>
                    <a:p>
                      <a:pPr>
                        <a:defRPr sz="1100">
                          <a:solidFill>
                            <a:srgbClr val="22C55E"/>
                          </a:solidFill>
                        </a:defRPr>
                      </a:pPr>
                      <a:r>
                        <a:t>94.2%</a:t>
                      </a:r>
                    </a:p>
                  </a:txBody>
                  <a:tcPr>
                    <a:solidFill>
                      <a:srgbClr val="111827"/>
                    </a:solidFill>
                  </a:tcPr>
                </a:tc>
                <a:tc>
                  <a:txBody>
                    <a:bodyPr/>
                    <a:lstStyle/>
                    <a:p>
                      <a:pPr>
                        <a:defRPr sz="1100">
                          <a:solidFill>
                            <a:srgbClr val="9CA3AF"/>
                          </a:solidFill>
                        </a:defRPr>
                      </a:pPr>
                      <a:r>
                        <a:t>Achieved via Decision Engine multi-layer consensus rules</a:t>
                      </a:r>
                    </a:p>
                  </a:txBody>
                  <a:tcPr>
                    <a:solidFill>
                      <a:srgbClr val="111827"/>
                    </a:solidFill>
                  </a:tcPr>
                </a:tc>
              </a:tr>
              <a:tr h="514350">
                <a:tc>
                  <a:txBody>
                    <a:bodyPr/>
                    <a:lstStyle/>
                    <a:p>
                      <a:pPr>
                        <a:defRPr sz="1100">
                          <a:solidFill>
                            <a:srgbClr val="FFFFFF"/>
                          </a:solidFill>
                        </a:defRPr>
                      </a:pPr>
                      <a:r>
                        <a:t>Inference Latency</a:t>
                      </a:r>
                    </a:p>
                  </a:txBody>
                  <a:tcPr>
                    <a:solidFill>
                      <a:srgbClr val="111827"/>
                    </a:solidFill>
                  </a:tcPr>
                </a:tc>
                <a:tc>
                  <a:txBody>
                    <a:bodyPr/>
                    <a:lstStyle/>
                    <a:p>
                      <a:pPr>
                        <a:defRPr sz="1100">
                          <a:solidFill>
                            <a:srgbClr val="22C55E"/>
                          </a:solidFill>
                        </a:defRPr>
                      </a:pPr>
                      <a:r>
                        <a:t>12.5 ms</a:t>
                      </a:r>
                    </a:p>
                  </a:txBody>
                  <a:tcPr>
                    <a:solidFill>
                      <a:srgbClr val="111827"/>
                    </a:solidFill>
                  </a:tcPr>
                </a:tc>
                <a:tc>
                  <a:txBody>
                    <a:bodyPr/>
                    <a:lstStyle/>
                    <a:p>
                      <a:pPr>
                        <a:defRPr sz="1100">
                          <a:solidFill>
                            <a:srgbClr val="9CA3AF"/>
                          </a:solidFill>
                        </a:defRPr>
                      </a:pPr>
                      <a:r>
                        <a:t>Ultra-fast inference latency for real-time streaming ingestion</a:t>
                      </a:r>
                    </a:p>
                  </a:txBody>
                  <a:tcPr>
                    <a:solidFill>
                      <a:srgbClr val="111827"/>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828800" cy="365760"/>
          </a:xfrm>
          <a:prstGeom prst="rect">
            <a:avLst/>
          </a:prstGeom>
          <a:noFill/>
        </p:spPr>
        <p:txBody>
          <a:bodyPr wrap="none">
            <a:spAutoFit/>
          </a:bodyPr>
          <a:lstStyle/>
          <a:p>
            <a:pPr>
              <a:defRPr sz="1100" b="1">
                <a:solidFill>
                  <a:srgbClr val="22C55E"/>
                </a:solidFill>
              </a:defRPr>
            </a:pPr>
            <a:r>
              <a:t>SLIDE 17</a:t>
            </a:r>
          </a:p>
        </p:txBody>
      </p:sp>
      <p:sp>
        <p:nvSpPr>
          <p:cNvPr id="4" name="TextBox 3"/>
          <p:cNvSpPr txBox="1"/>
          <p:nvPr/>
        </p:nvSpPr>
        <p:spPr>
          <a:xfrm>
            <a:off x="731520" y="640080"/>
            <a:ext cx="10058400" cy="731520"/>
          </a:xfrm>
          <a:prstGeom prst="rect">
            <a:avLst/>
          </a:prstGeom>
          <a:noFill/>
        </p:spPr>
        <p:txBody>
          <a:bodyPr wrap="none">
            <a:spAutoFit/>
          </a:bodyPr>
          <a:lstStyle/>
          <a:p>
            <a:pPr>
              <a:defRPr sz="2400" b="1">
                <a:solidFill>
                  <a:srgbClr val="FFFFFF"/>
                </a:solidFill>
              </a:defRPr>
            </a:pPr>
            <a:r>
              <a:t>Dashboard Live Demo &amp; Operational Walkthrough</a:t>
            </a:r>
          </a:p>
        </p:txBody>
      </p:sp>
      <p:sp>
        <p:nvSpPr>
          <p:cNvPr id="5" name="Rounded Rectangle 4"/>
          <p:cNvSpPr/>
          <p:nvPr/>
        </p:nvSpPr>
        <p:spPr>
          <a:xfrm>
            <a:off x="731520" y="1645920"/>
            <a:ext cx="2468880" cy="4114800"/>
          </a:xfrm>
          <a:prstGeom prst="roundRect">
            <a:avLst/>
          </a:prstGeom>
          <a:solidFill>
            <a:srgbClr val="111827"/>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2C55E"/>
                </a:solidFill>
              </a:defRPr>
            </a:pPr>
            <a:r>
              <a:t>STEP 1</a:t>
            </a:r>
          </a:p>
          <a:p>
            <a:pPr>
              <a:defRPr sz="1500" b="1">
                <a:solidFill>
                  <a:srgbClr val="FFFFFF"/>
                </a:solidFill>
              </a:defRPr>
            </a:pPr>
            <a:r>
              <a:t>Overview</a:t>
            </a:r>
          </a:p>
          <a:p>
            <a:pPr>
              <a:defRPr sz="1100">
                <a:solidFill>
                  <a:srgbClr val="9CA3AF"/>
                </a:solidFill>
              </a:defRPr>
            </a:pPr>
            <a:r>
              <a:t>Supervisor membuka dashboard &amp; memantau KPI Overall Health (46%) dan kartu CCP At Risk.</a:t>
            </a:r>
          </a:p>
        </p:txBody>
      </p:sp>
      <p:sp>
        <p:nvSpPr>
          <p:cNvPr id="6" name="Rounded Rectangle 5"/>
          <p:cNvSpPr/>
          <p:nvPr/>
        </p:nvSpPr>
        <p:spPr>
          <a:xfrm>
            <a:off x="3383280" y="1645920"/>
            <a:ext cx="2468880" cy="4114800"/>
          </a:xfrm>
          <a:prstGeom prst="roundRect">
            <a:avLst/>
          </a:prstGeom>
          <a:solidFill>
            <a:srgbClr val="111827"/>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2C55E"/>
                </a:solidFill>
              </a:defRPr>
            </a:pPr>
            <a:r>
              <a:t>STEP 2</a:t>
            </a:r>
          </a:p>
          <a:p>
            <a:pPr>
              <a:defRPr sz="1500" b="1">
                <a:solidFill>
                  <a:srgbClr val="FFFFFF"/>
                </a:solidFill>
              </a:defRPr>
            </a:pPr>
            <a:r>
              <a:t>Machine Monitoring</a:t>
            </a:r>
          </a:p>
          <a:p>
            <a:pPr>
              <a:defRPr sz="1100">
                <a:solidFill>
                  <a:srgbClr val="9CA3AF"/>
                </a:solidFill>
              </a:defRPr>
            </a:pPr>
            <a:r>
              <a:t>Melihat status Motor MTR-01 berstatus Critical &amp; MTR-04 Warning pada tabel real-time.</a:t>
            </a:r>
          </a:p>
        </p:txBody>
      </p:sp>
      <p:sp>
        <p:nvSpPr>
          <p:cNvPr id="7" name="Rounded Rectangle 6"/>
          <p:cNvSpPr/>
          <p:nvPr/>
        </p:nvSpPr>
        <p:spPr>
          <a:xfrm>
            <a:off x="6035040" y="1645920"/>
            <a:ext cx="2468880" cy="4114800"/>
          </a:xfrm>
          <a:prstGeom prst="roundRect">
            <a:avLst/>
          </a:prstGeom>
          <a:solidFill>
            <a:srgbClr val="111827"/>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2C55E"/>
                </a:solidFill>
              </a:defRPr>
            </a:pPr>
            <a:r>
              <a:t>STEP 3</a:t>
            </a:r>
          </a:p>
          <a:p>
            <a:pPr>
              <a:defRPr sz="1500" b="1">
                <a:solidFill>
                  <a:srgbClr val="FFFFFF"/>
                </a:solidFill>
              </a:defRPr>
            </a:pPr>
            <a:r>
              <a:t>Prediction &amp; Detail</a:t>
            </a:r>
          </a:p>
          <a:p>
            <a:pPr>
              <a:defRPr sz="1100">
                <a:solidFill>
                  <a:srgbClr val="9CA3AF"/>
                </a:solidFill>
              </a:defRPr>
            </a:pPr>
            <a:r>
              <a:t>Membuka drawer detail ➔ Sinyal getaran naik ➔ RUL sisa 5 hari ➔ Rekomendasi ganti bearing.</a:t>
            </a:r>
          </a:p>
        </p:txBody>
      </p:sp>
      <p:sp>
        <p:nvSpPr>
          <p:cNvPr id="8" name="Rounded Rectangle 7"/>
          <p:cNvSpPr/>
          <p:nvPr/>
        </p:nvSpPr>
        <p:spPr>
          <a:xfrm>
            <a:off x="8686800" y="1645920"/>
            <a:ext cx="2468880" cy="4114800"/>
          </a:xfrm>
          <a:prstGeom prst="roundRect">
            <a:avLst/>
          </a:prstGeom>
          <a:solidFill>
            <a:srgbClr val="111827"/>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2C55E"/>
                </a:solidFill>
              </a:defRPr>
            </a:pPr>
            <a:r>
              <a:t>STEP 4</a:t>
            </a:r>
          </a:p>
          <a:p>
            <a:pPr>
              <a:defRPr sz="1500" b="1">
                <a:solidFill>
                  <a:srgbClr val="FFFFFF"/>
                </a:solidFill>
              </a:defRPr>
            </a:pPr>
            <a:r>
              <a:t>Work Order &amp; Email</a:t>
            </a:r>
          </a:p>
          <a:p>
            <a:pPr>
              <a:defRPr sz="1100">
                <a:solidFill>
                  <a:srgbClr val="9CA3AF"/>
                </a:solidFill>
              </a:defRPr>
            </a:pPr>
            <a:r>
              <a:t>Sistem mengirim email otomatis ke engineer ➔ Work Order terbuat sebelum downtime terjadi.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62895" cy="2743200"/>
          </a:xfrm>
          <a:prstGeom prst="rect">
            <a:avLst/>
          </a:prstGeom>
          <a:noFill/>
        </p:spPr>
        <p:txBody>
          <a:bodyPr wrap="none">
            <a:spAutoFit/>
          </a:bodyPr>
          <a:lstStyle/>
          <a:p>
            <a:pPr algn="ctr">
              <a:defRPr sz="4800" b="1">
                <a:solidFill>
                  <a:srgbClr val="FFFFFF"/>
                </a:solidFill>
              </a:defRPr>
            </a:pPr>
            <a:r>
              <a:t>Question &amp; Answer Session</a:t>
            </a:r>
          </a:p>
          <a:p>
            <a:pPr algn="ctr">
              <a:defRPr sz="2000" b="1">
                <a:solidFill>
                  <a:srgbClr val="22C55E"/>
                </a:solidFill>
              </a:defRPr>
            </a:pPr>
            <a:r>
              <a:t>MaintenX Solution Architecture &amp; AI Team</a:t>
            </a:r>
          </a:p>
          <a:p>
            <a:pPr algn="ctr">
              <a:defRPr sz="1300">
                <a:solidFill>
                  <a:srgbClr val="9CA3AF"/>
                </a:solidFill>
              </a:defRPr>
            </a:pPr>
            <a:r>
              <a:t>Terima kasih atas perhatian jajaran manajemen ASTRA Industrial Operations. Kami siap mendiskusikan integrasi sistem lebih lanjut.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